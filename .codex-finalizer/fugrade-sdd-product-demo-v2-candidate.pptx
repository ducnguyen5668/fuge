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svg" ContentType="image/svg+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320abe38edb40df" /><Relationship Type="http://schemas.openxmlformats.org/officeDocument/2006/relationships/extended-properties" Target="/docProps/app.xml" Id="R01767b9dc01648cf" /><Relationship Type="http://schemas.openxmlformats.org/officeDocument/2006/relationships/officeDocument" Target="/ppt/presentation.xml" Id="Rf0164984868f4998"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e67fcc52ce3c447e"/>
  </p:sldMasterIdLst>
  <p:notesMasterIdLst>
    <p:notesMasterId xmlns:r="http://schemas.openxmlformats.org/officeDocument/2006/relationships" r:id="Rb5d07d0986af42d1"/>
  </p:notesMasterIdLst>
  <p:sldIdLst>
    <p:sldId xmlns:r="http://schemas.openxmlformats.org/officeDocument/2006/relationships" id="256" r:id="R4955cbec7f48493b"/>
    <p:sldId xmlns:r="http://schemas.openxmlformats.org/officeDocument/2006/relationships" id="257" r:id="R806a52be2af74f93"/>
    <p:sldId xmlns:r="http://schemas.openxmlformats.org/officeDocument/2006/relationships" id="258" r:id="R162b8f7a8e924b0d"/>
    <p:sldId xmlns:r="http://schemas.openxmlformats.org/officeDocument/2006/relationships" id="259" r:id="Re1067fb7e36e46af"/>
    <p:sldId xmlns:r="http://schemas.openxmlformats.org/officeDocument/2006/relationships" id="260" r:id="Ra15195c625d248f5"/>
    <p:sldId xmlns:r="http://schemas.openxmlformats.org/officeDocument/2006/relationships" id="261" r:id="R57713ee382984f03"/>
    <p:sldId xmlns:r="http://schemas.openxmlformats.org/officeDocument/2006/relationships" id="262" r:id="R2abefaf01ee649fe"/>
    <p:sldId xmlns:r="http://schemas.openxmlformats.org/officeDocument/2006/relationships" id="263" r:id="R9009af54122f4c8c"/>
    <p:sldId xmlns:r="http://schemas.openxmlformats.org/officeDocument/2006/relationships" id="264" r:id="Ra2f1133daa6a4a5c"/>
    <p:sldId xmlns:r="http://schemas.openxmlformats.org/officeDocument/2006/relationships" id="265" r:id="Rf9dfc5c6cca14f86"/>
    <p:sldId xmlns:r="http://schemas.openxmlformats.org/officeDocument/2006/relationships" id="266" r:id="R333da84668ca47ad"/>
    <p:sldId xmlns:r="http://schemas.openxmlformats.org/officeDocument/2006/relationships" id="267" r:id="R41c34f973b814cb4"/>
    <p:sldId xmlns:r="http://schemas.openxmlformats.org/officeDocument/2006/relationships" id="268" r:id="R106c6a6598714d40"/>
    <p:sldId xmlns:r="http://schemas.openxmlformats.org/officeDocument/2006/relationships" id="269" r:id="R0e742bada90a4b28"/>
    <p:sldId xmlns:r="http://schemas.openxmlformats.org/officeDocument/2006/relationships" id="270" r:id="Rd83e7209099f427e"/>
    <p:sldId xmlns:r="http://schemas.openxmlformats.org/officeDocument/2006/relationships" id="271" r:id="R9c30caedd7ce40bf"/>
    <p:sldId xmlns:r="http://schemas.openxmlformats.org/officeDocument/2006/relationships" id="272" r:id="R39a4b7b008b64a33"/>
  </p:sldIdLst>
  <p:sldSz cx="12191365" cy="6858000"/>
  <p:notesSz cx="6858000" cy="9144000"/>
  <p:embeddedFontLst>
    <p:embeddedFont>
      <p:font typeface="Raleway"/>
      <p:regular xmlns:r="http://schemas.openxmlformats.org/officeDocument/2006/relationships" r:id="R49f50b94c6744f4e"/>
    </p:embeddedFont>
    <p:embeddedFont>
      <p:font typeface="Raleway"/>
      <p:regular xmlns:r="http://schemas.openxmlformats.org/officeDocument/2006/relationships" r:id="R63bc0dc350c04fe4"/>
    </p:embeddedFont>
    <p:embeddedFont>
      <p:font typeface="Raleway"/>
      <p:regular xmlns:r="http://schemas.openxmlformats.org/officeDocument/2006/relationships" r:id="Rfc333cb974d847a9"/>
    </p:embeddedFont>
    <p:embeddedFont>
      <p:font typeface="Roboto"/>
      <p:regular xmlns:r="http://schemas.openxmlformats.org/officeDocument/2006/relationships" r:id="R84b6edd889984f0d"/>
    </p:embeddedFont>
    <p:embeddedFont>
      <p:font typeface="Roboto"/>
      <p:regular xmlns:r="http://schemas.openxmlformats.org/officeDocument/2006/relationships" r:id="R20feb7f84cdb4e12"/>
    </p:embeddedFont>
    <p:embeddedFont>
      <p:font typeface="Roboto"/>
      <p:regular xmlns:r="http://schemas.openxmlformats.org/officeDocument/2006/relationships" r:id="R4d1308d5be8b4aca"/>
    </p:embeddedFont>
    <p:embeddedFont>
      <p:font typeface="Roboto Bold"/>
      <p:bold xmlns:r="http://schemas.openxmlformats.org/officeDocument/2006/relationships" r:id="R3a928b7153fd4e6b"/>
    </p:embeddedFont>
    <p:embeddedFont>
      <p:font typeface="Roboto Bold"/>
      <p:bold xmlns:r="http://schemas.openxmlformats.org/officeDocument/2006/relationships" r:id="R45bf8efffaf44115"/>
    </p:embeddedFont>
    <p:embeddedFont>
      <p:font typeface="Roboto Bold"/>
      <p:bold xmlns:r="http://schemas.openxmlformats.org/officeDocument/2006/relationships" r:id="R5e25aa83515e45a0"/>
    </p:embeddedFont>
    <p:embeddedFont>
      <p:font typeface="Consolas"/>
      <p:regular xmlns:r="http://schemas.openxmlformats.org/officeDocument/2006/relationships" r:id="Rbe5160338af74234"/>
      <p:bold xmlns:r="http://schemas.openxmlformats.org/officeDocument/2006/relationships" r:id="Ra8d61afb5e70436c"/>
      <p:italic xmlns:r="http://schemas.openxmlformats.org/officeDocument/2006/relationships" r:id="R2e8fb7f93e2d4e6f"/>
      <p:boldItalic xmlns:r="http://schemas.openxmlformats.org/officeDocument/2006/relationships" r:id="Re6cfa1782fcf4ce7"/>
    </p:embeddedFont>
    <p:embeddedFont>
      <p:font typeface="Consolas"/>
      <p:regular xmlns:r="http://schemas.openxmlformats.org/officeDocument/2006/relationships" r:id="R65cb219672894814"/>
      <p:bold xmlns:r="http://schemas.openxmlformats.org/officeDocument/2006/relationships" r:id="Rb5035d620be74c0a"/>
      <p:italic xmlns:r="http://schemas.openxmlformats.org/officeDocument/2006/relationships" r:id="R58eae7968e2141ec"/>
      <p:boldItalic xmlns:r="http://schemas.openxmlformats.org/officeDocument/2006/relationships" r:id="R267ca530625e4235"/>
    </p:embeddedFont>
    <p:embeddedFont>
      <p:font typeface="Consolas"/>
      <p:regular xmlns:r="http://schemas.openxmlformats.org/officeDocument/2006/relationships" r:id="Rea2daec84c9d4134"/>
      <p:bold xmlns:r="http://schemas.openxmlformats.org/officeDocument/2006/relationships" r:id="R8987b70071144778"/>
      <p:italic xmlns:r="http://schemas.openxmlformats.org/officeDocument/2006/relationships" r:id="Rf82166c3950d4a87"/>
      <p:boldItalic xmlns:r="http://schemas.openxmlformats.org/officeDocument/2006/relationships" r:id="R3ac574e589aa42fe"/>
    </p:embeddedFont>
    <p:embeddedFont>
      <p:font typeface="Calibri"/>
      <p:regular xmlns:r="http://schemas.openxmlformats.org/officeDocument/2006/relationships" r:id="Rb9f81f531f054b8d"/>
      <p:bold xmlns:r="http://schemas.openxmlformats.org/officeDocument/2006/relationships" r:id="R41a6d79847724654"/>
      <p:italic xmlns:r="http://schemas.openxmlformats.org/officeDocument/2006/relationships" r:id="Rfbbfe7e0e7e5456c"/>
      <p:boldItalic xmlns:r="http://schemas.openxmlformats.org/officeDocument/2006/relationships" r:id="Rbc4379bfe9c34d29"/>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9d681dddd9448d8" /><Relationship Type="http://schemas.openxmlformats.org/officeDocument/2006/relationships/slideMaster" Target="/ppt/slideMasters/slideMaster1.xml" Id="Re67fcc52ce3c447e" /><Relationship Type="http://schemas.openxmlformats.org/officeDocument/2006/relationships/notesMaster" Target="/ppt/notesMasters/notesMaster1.xml" Id="Rb5d07d0986af42d1" /><Relationship Type="http://schemas.openxmlformats.org/officeDocument/2006/relationships/presProps" Target="/ppt/presProps.xml" Id="R64644bef5ccb4aea" /><Relationship Type="http://schemas.openxmlformats.org/officeDocument/2006/relationships/viewProps" Target="/ppt/viewProps.xml" Id="Re436250becd246cc" /><Relationship Type="http://schemas.openxmlformats.org/officeDocument/2006/relationships/tableStyles" Target="/ppt/tableStyles.xml" Id="R28ed552019ec4d8f" /><Relationship Type="http://schemas.openxmlformats.org/officeDocument/2006/relationships/font" Target="/ppt/fonts/font.dat" Id="R49f50b94c6744f4e" /><Relationship Type="http://schemas.openxmlformats.org/officeDocument/2006/relationships/font" Target="/ppt/fonts/font2.dat" Id="R63bc0dc350c04fe4" /><Relationship Type="http://schemas.openxmlformats.org/officeDocument/2006/relationships/font" Target="/ppt/fonts/font3.dat" Id="Rfc333cb974d847a9" /><Relationship Type="http://schemas.openxmlformats.org/officeDocument/2006/relationships/font" Target="/ppt/fonts/font4.dat" Id="R84b6edd889984f0d" /><Relationship Type="http://schemas.openxmlformats.org/officeDocument/2006/relationships/font" Target="/ppt/fonts/font5.dat" Id="R20feb7f84cdb4e12" /><Relationship Type="http://schemas.openxmlformats.org/officeDocument/2006/relationships/font" Target="/ppt/fonts/font6.dat" Id="R4d1308d5be8b4aca" /><Relationship Type="http://schemas.openxmlformats.org/officeDocument/2006/relationships/font" Target="/ppt/fonts/font7.dat" Id="R3a928b7153fd4e6b" /><Relationship Type="http://schemas.openxmlformats.org/officeDocument/2006/relationships/font" Target="/ppt/fonts/font8.dat" Id="R45bf8efffaf44115" /><Relationship Type="http://schemas.openxmlformats.org/officeDocument/2006/relationships/font" Target="/ppt/fonts/font9.dat" Id="R5e25aa83515e45a0" /><Relationship Type="http://schemas.openxmlformats.org/officeDocument/2006/relationships/font" Target="/ppt/fonts/font10.dat" Id="Rbe5160338af74234" /><Relationship Type="http://schemas.openxmlformats.org/officeDocument/2006/relationships/font" Target="/ppt/fonts/font11.dat" Id="Ra8d61afb5e70436c" /><Relationship Type="http://schemas.openxmlformats.org/officeDocument/2006/relationships/font" Target="/ppt/fonts/font12.dat" Id="R2e8fb7f93e2d4e6f" /><Relationship Type="http://schemas.openxmlformats.org/officeDocument/2006/relationships/font" Target="/ppt/fonts/font13.dat" Id="Re6cfa1782fcf4ce7" /><Relationship Type="http://schemas.openxmlformats.org/officeDocument/2006/relationships/font" Target="/ppt/fonts/font14.dat" Id="R65cb219672894814" /><Relationship Type="http://schemas.openxmlformats.org/officeDocument/2006/relationships/font" Target="/ppt/fonts/font15.dat" Id="Rb5035d620be74c0a" /><Relationship Type="http://schemas.openxmlformats.org/officeDocument/2006/relationships/font" Target="/ppt/fonts/font16.dat" Id="R58eae7968e2141ec" /><Relationship Type="http://schemas.openxmlformats.org/officeDocument/2006/relationships/font" Target="/ppt/fonts/font17.dat" Id="R267ca530625e4235" /><Relationship Type="http://schemas.openxmlformats.org/officeDocument/2006/relationships/font" Target="/ppt/fonts/font18.dat" Id="Rea2daec84c9d4134" /><Relationship Type="http://schemas.openxmlformats.org/officeDocument/2006/relationships/font" Target="/ppt/fonts/font19.dat" Id="R8987b70071144778" /><Relationship Type="http://schemas.openxmlformats.org/officeDocument/2006/relationships/font" Target="/ppt/fonts/font20.dat" Id="Rf82166c3950d4a87" /><Relationship Type="http://schemas.openxmlformats.org/officeDocument/2006/relationships/font" Target="/ppt/fonts/font21.dat" Id="R3ac574e589aa42fe" /><Relationship Type="http://schemas.openxmlformats.org/officeDocument/2006/relationships/font" Target="/ppt/fonts/font22.dat" Id="Rb9f81f531f054b8d" /><Relationship Type="http://schemas.openxmlformats.org/officeDocument/2006/relationships/font" Target="/ppt/fonts/font23.dat" Id="R41a6d79847724654" /><Relationship Type="http://schemas.openxmlformats.org/officeDocument/2006/relationships/font" Target="/ppt/fonts/font24.dat" Id="Rfbbfe7e0e7e5456c" /><Relationship Type="http://schemas.openxmlformats.org/officeDocument/2006/relationships/font" Target="/ppt/fonts/font25.dat" Id="Rbc4379bfe9c34d29" /><Relationship Type="http://schemas.openxmlformats.org/officeDocument/2006/relationships/slide" Target="/ppt/slides/slide1.xml" Id="R4955cbec7f48493b" /><Relationship Type="http://schemas.openxmlformats.org/officeDocument/2006/relationships/slide" Target="/ppt/slides/slide2.xml" Id="R806a52be2af74f93" /><Relationship Type="http://schemas.openxmlformats.org/officeDocument/2006/relationships/slide" Target="/ppt/slides/slide3.xml" Id="R162b8f7a8e924b0d" /><Relationship Type="http://schemas.openxmlformats.org/officeDocument/2006/relationships/slide" Target="/ppt/slides/slide4.xml" Id="Re1067fb7e36e46af" /><Relationship Type="http://schemas.openxmlformats.org/officeDocument/2006/relationships/slide" Target="/ppt/slides/slide5.xml" Id="Ra15195c625d248f5" /><Relationship Type="http://schemas.openxmlformats.org/officeDocument/2006/relationships/slide" Target="/ppt/slides/slide6.xml" Id="R57713ee382984f03" /><Relationship Type="http://schemas.openxmlformats.org/officeDocument/2006/relationships/slide" Target="/ppt/slides/slide7.xml" Id="R2abefaf01ee649fe" /><Relationship Type="http://schemas.openxmlformats.org/officeDocument/2006/relationships/slide" Target="/ppt/slides/slide8.xml" Id="R9009af54122f4c8c" /><Relationship Type="http://schemas.openxmlformats.org/officeDocument/2006/relationships/slide" Target="/ppt/slides/slide9.xml" Id="Ra2f1133daa6a4a5c" /><Relationship Type="http://schemas.openxmlformats.org/officeDocument/2006/relationships/slide" Target="/ppt/slides/slide10.xml" Id="Rf9dfc5c6cca14f86" /><Relationship Type="http://schemas.openxmlformats.org/officeDocument/2006/relationships/slide" Target="/ppt/slides/slide11.xml" Id="R333da84668ca47ad" /><Relationship Type="http://schemas.openxmlformats.org/officeDocument/2006/relationships/slide" Target="/ppt/slides/slide12.xml" Id="R41c34f973b814cb4" /><Relationship Type="http://schemas.openxmlformats.org/officeDocument/2006/relationships/slide" Target="/ppt/slides/slide13.xml" Id="R106c6a6598714d40" /><Relationship Type="http://schemas.openxmlformats.org/officeDocument/2006/relationships/slide" Target="/ppt/slides/slide14.xml" Id="R0e742bada90a4b28" /><Relationship Type="http://schemas.openxmlformats.org/officeDocument/2006/relationships/slide" Target="/ppt/slides/slide15.xml" Id="Rd83e7209099f427e" /><Relationship Type="http://schemas.openxmlformats.org/officeDocument/2006/relationships/slide" Target="/ppt/slides/slide16.xml" Id="R9c30caedd7ce40bf" /><Relationship Type="http://schemas.openxmlformats.org/officeDocument/2006/relationships/slide" Target="/ppt/slides/slide17.xml" Id="R39a4b7b008b64a3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29d617993c6424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52b93d381c34667" /><Relationship Type="http://schemas.openxmlformats.org/officeDocument/2006/relationships/notesMaster" Target="/ppt/notesMasters/notesMaster1.xml" Id="Rf160104d93cf4441" /></Relationships>
</file>

<file path=ppt/notesSlides/_rels/notesSlide2.xml.rels>&#65279;<?xml version="1.0" encoding="utf-8"?><Relationships xmlns="http://schemas.openxmlformats.org/package/2006/relationships"><Relationship Type="http://schemas.openxmlformats.org/officeDocument/2006/relationships/slide" Target="/ppt/slides/slide2.xml" Id="Rdc255a2a612a4a9e" /><Relationship Type="http://schemas.openxmlformats.org/officeDocument/2006/relationships/notesMaster" Target="/ppt/notesMasters/notesMaster1.xml" Id="R8cafc7fb8832431a" /></Relationships>
</file>

<file path=ppt/notesSlides/_rels/notesSlide3.xml.rels>&#65279;<?xml version="1.0" encoding="utf-8"?><Relationships xmlns="http://schemas.openxmlformats.org/package/2006/relationships"><Relationship Type="http://schemas.openxmlformats.org/officeDocument/2006/relationships/slide" Target="/ppt/slides/slide3.xml" Id="R4df7b753c5d04f75" /><Relationship Type="http://schemas.openxmlformats.org/officeDocument/2006/relationships/notesMaster" Target="/ppt/notesMasters/notesMaster1.xml" Id="Raa0ef9a47c574a3c" /></Relationships>
</file>

<file path=ppt/notesSlides/_rels/notesSlide4.xml.rels>&#65279;<?xml version="1.0" encoding="utf-8"?><Relationships xmlns="http://schemas.openxmlformats.org/package/2006/relationships"><Relationship Type="http://schemas.openxmlformats.org/officeDocument/2006/relationships/slide" Target="/ppt/slides/slide4.xml" Id="R80be0de17cba4f06" /><Relationship Type="http://schemas.openxmlformats.org/officeDocument/2006/relationships/notesMaster" Target="/ppt/notesMasters/notesMaster1.xml" Id="R6ffc5f2725e248e7" /></Relationships>
</file>

<file path=ppt/notesSlides/_rels/notesSlide5.xml.rels>&#65279;<?xml version="1.0" encoding="utf-8"?><Relationships xmlns="http://schemas.openxmlformats.org/package/2006/relationships"><Relationship Type="http://schemas.openxmlformats.org/officeDocument/2006/relationships/slide" Target="/ppt/slides/slide5.xml" Id="R5f2de17b4d3844c1" /><Relationship Type="http://schemas.openxmlformats.org/officeDocument/2006/relationships/notesMaster" Target="/ppt/notesMasters/notesMaster1.xml" Id="R99ccdea022d8499a" /></Relationships>
</file>

<file path=ppt/notesSlides/_rels/notesSlide6.xml.rels>&#65279;<?xml version="1.0" encoding="utf-8"?><Relationships xmlns="http://schemas.openxmlformats.org/package/2006/relationships"><Relationship Type="http://schemas.openxmlformats.org/officeDocument/2006/relationships/slide" Target="/ppt/slides/slide6.xml" Id="R0eb663080ad542b0" /><Relationship Type="http://schemas.openxmlformats.org/officeDocument/2006/relationships/notesMaster" Target="/ppt/notesMasters/notesMaster1.xml" Id="Ra96898b2bf6a46d3" /></Relationships>
</file>

<file path=ppt/notesSlides/_rels/notesSlide7.xml.rels>&#65279;<?xml version="1.0" encoding="utf-8"?><Relationships xmlns="http://schemas.openxmlformats.org/package/2006/relationships"><Relationship Type="http://schemas.openxmlformats.org/officeDocument/2006/relationships/slide" Target="/ppt/slides/slide7.xml" Id="R1ccb6a45008b4f01" /><Relationship Type="http://schemas.openxmlformats.org/officeDocument/2006/relationships/notesMaster" Target="/ppt/notesMasters/notesMaster1.xml" Id="R174d409d233b4ae2" /></Relationships>
</file>

<file path=ppt/notesSlides/_rels/notesSlide8.xml.rels>&#65279;<?xml version="1.0" encoding="utf-8"?><Relationships xmlns="http://schemas.openxmlformats.org/package/2006/relationships"><Relationship Type="http://schemas.openxmlformats.org/officeDocument/2006/relationships/slide" Target="/ppt/slides/slide8.xml" Id="R34c8d0d50eb84275" /><Relationship Type="http://schemas.openxmlformats.org/officeDocument/2006/relationships/notesMaster" Target="/ppt/notesMasters/notesMaster1.xml" Id="R178eae4fd9034484" /></Relationships>
</file>

<file path=ppt/notesSlides/_rels/notesSlide9.xml.rels>&#65279;<?xml version="1.0" encoding="utf-8"?><Relationships xmlns="http://schemas.openxmlformats.org/package/2006/relationships"><Relationship Type="http://schemas.openxmlformats.org/officeDocument/2006/relationships/slide" Target="/ppt/slides/slide9.xml" Id="R149c82d7010d41fa" /><Relationship Type="http://schemas.openxmlformats.org/officeDocument/2006/relationships/notesMaster" Target="/ppt/notesMasters/notesMaster1.xml" Id="R0d87ab3066a44f9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305f1f2e8e14983" /><Relationship Type="http://schemas.openxmlformats.org/officeDocument/2006/relationships/notesMaster" Target="/ppt/notesMasters/notesMaster1.xml" Id="Rb6200461525340c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688483f6b084caa" /><Relationship Type="http://schemas.openxmlformats.org/officeDocument/2006/relationships/notesMaster" Target="/ppt/notesMasters/notesMaster1.xml" Id="R3af8f7384a024fa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e57b7e34a3c4d4e" /><Relationship Type="http://schemas.openxmlformats.org/officeDocument/2006/relationships/notesMaster" Target="/ppt/notesMasters/notesMaster1.xml" Id="R606e216af6404b5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52e3e4bebb043c8" /><Relationship Type="http://schemas.openxmlformats.org/officeDocument/2006/relationships/notesMaster" Target="/ppt/notesMasters/notesMaster1.xml" Id="Rba2dfd786ce7418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05428e81f1f4e1a" /><Relationship Type="http://schemas.openxmlformats.org/officeDocument/2006/relationships/notesMaster" Target="/ppt/notesMasters/notesMaster1.xml" Id="R4ef92d734d51434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6df498ec8ce409b" /><Relationship Type="http://schemas.openxmlformats.org/officeDocument/2006/relationships/notesMaster" Target="/ppt/notesMasters/notesMaster1.xml" Id="Rd32e512f915a4c0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988b0489b3143a6" /><Relationship Type="http://schemas.openxmlformats.org/officeDocument/2006/relationships/notesMaster" Target="/ppt/notesMasters/notesMaster1.xml" Id="R1458f69f0089478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bfbdbe278f94b7a" /><Relationship Type="http://schemas.openxmlformats.org/officeDocument/2006/relationships/notesMaster" Target="/ppt/notesMasters/notesMaster1.xml" Id="Rfb7c4aba4dfd413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bằng câu hỏi: làm thế nào để AI hỗ trợ chuyển một sản phẩm legacy lên web mà không làm sai nghiệp vụ? FuGrade là case study thực tế của bài trình bày này.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Nhấn mạnh ba nguồn sự thật: source hiện tại, hành vi chạy được và artifact đã được con người duyệt. Slide không dùng tài liệu lý thuyết như bằng chứng sản phẩm.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rằng mỗi pha trả lời một câu hỏi khác nhau. Context xác định vấn đề. Spec khóa hành vi. Plan và Tasks giới hạn cách sửa. Implement chỉ bắt đầu sau review phù hợp.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Liên hệ với FuGrade: actors phải tách guest editor và authenticated editor. Compatibility của .fg và ownership của snapshot phải xuất hiện rõ trong Spec.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Đối chiếu trực tiếp app/page.tsx: saveSnapshot giữ workspace trong sessionStorage khi API trả 401, sau đó chuyển người dùng đến trang đăng nhập.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Chuyển từ phần khái niệm sang case study. Từ slide sau, mọi claim đều gắn với source hoặc ảnh chụp sản phẩm.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Phân biệt bằng chứng runtime với bằng chứng nghiệp vụ. Ảnh và source xác nhận luồng guest. Lint và build là kiểm tra kỹ thuật, không tự chứng minh toàn bộ nghiệp vụ đúng.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slide quan trọng nhất để giữ claim chính xác. Context bonus đã được duyệt, nhưng Spec và Architecture Profile vẫn pending nên không demo bonus như tính năng hoàn thành.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demo bằng trang này. Nêu rõ guest mode là quyết định sản phẩm hiện tại, không phải lỗi thiếu authentication. Nút Lưu là ranh giới chuyển sang authenticated flow.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Nhấn mạnh mục tiêu compatibility với FuGrade desktop. Cơ chế legacy chỉ phục vụ trao đổi file, không thay thế authentication hiện đại.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nhanh ba thao tác: lọc sinh viên, chọn cột hiển thị và nhấp đúp một ô điểm. Dữ liệu trên slide là dữ liệu tổng hợp, không lấy từ database người dùng.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demo, dán bốn dòng như ảnh. Hai dòng hợp lệ, một MSSV không tồn tại và một điểm vượt 10. Không cần bấm Áp dụng nếu chỉ muốn minh họa validation.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nhập mật khẩu thật trong buổi thuyết trình. Dùng dữ liệu demo. Nói rõ mã hóa legacy phục vụ compatibility chứ không phải mô hình bảo mật cho dữ liệu lưu trữ hiện đại.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giải CAPTCHA trong phần trình bày. Chỉ giới thiệu ranh giới: guest cho thao tác cục bộ, authenticated editor cho snapshot persistence.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Nêu rõ lint và build là baseline đã có evidence. Với feature mới, Definition of Done còn cần checklist nghiệp vụ, compatibility và authorization tương ứng.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biến các rủi ro này thành claim đã sửa. Đây là backlog cần Spec và review riêng. Ưu tiên ownership trước production vì liên quan dữ liệu giữa người dùng.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Nếu thời gian ít, bỏ bước chỉnh ô và giữ bốn mốc: mở file, workspace, import, lưu. Không giải CAPTCHA hoặc lưu dữ liệu thật trong buổi demo.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8f439a56de4485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cb6079d78504644" /><Relationship Type="http://schemas.openxmlformats.org/officeDocument/2006/relationships/image" Target="/ppt/media/image.png" Id="R6c64169bb5e5415f"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Slide master 1">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CF73401-D919-432C-8AD9-76CBE414FBC6}"/>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ECECF3"/>
          </a:solidFill>
        </p:spPr>
      </p:sp>
      <p:sp>
        <p:nvSpPr>
          <p:cNvPr id="3" name="Shape 1">
            <a:extLst xmlns:a="http://schemas.openxmlformats.org/drawingml/2006/main">
              <a:ext uri="{FF2B5EF4-FFF2-40B4-BE49-F238E27FC236}">
                <a16:creationId xmlns:a16="http://schemas.microsoft.com/office/drawing/2014/main" id="{1450B548-7103-4689-A2FB-23C85283F2C2}"/>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alpha val="95000"/>
            </a:srgbClr>
          </a:solidFill>
        </p:spPr>
      </p:sp>
      <p:pic>
        <p:nvPicPr>
          <p:cNvPr id="7" name="Image 0"/>
          <p:cNvPicPr>
            <a:picLocks xmlns:a="http://schemas.openxmlformats.org/drawingml/2006/main" noChangeAspect="1"/>
          </p:cNvPicPr>
          <p:nvPr/>
        </p:nvPicPr>
        <p:blipFill>
          <a:blip xmlns:r="http://schemas.openxmlformats.org/officeDocument/2006/relationships" xmlns:a="http://schemas.openxmlformats.org/drawingml/2006/main" r:embed="R6c64169bb5e5415f"/>
          <a:stretch xmlns:a="http://schemas.openxmlformats.org/drawingml/2006/main">
            <a:fillRect l="0" t="0" r="0" b="0"/>
          </a:stretch>
        </p:blipFill>
        <p:spPr>
          <a:xfrm xmlns:a="http://schemas.openxmlformats.org/drawingml/2006/main">
            <a:off x="11076875" y="6558991"/>
            <a:ext cx="1071843" cy="256032"/>
          </a:xfrm>
          <a:prstGeom xmlns:a="http://schemas.openxmlformats.org/drawingml/2006/main" prst="rect">
            <a:avLst/>
          </a:prstGeom>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897aa40ad254976" /><Relationship Type="http://schemas.openxmlformats.org/officeDocument/2006/relationships/slideLayout" Target="/ppt/slideLayouts/slideLayout1.xml" Id="Rffb18f4f791c4576" /><Relationship Type="http://schemas.openxmlformats.org/officeDocument/2006/relationships/slideLayout" Target="/ppt/slideLayouts/slideLayout2.xml" Id="Ra9c353ed00604f7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b18f4f791c4576"/>
    <p:sldLayoutId xmlns:r="http://schemas.openxmlformats.org/officeDocument/2006/relationships" id="2147483650" r:id="Ra9c353ed00604f72"/>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930cefe830974f88" /><Relationship Type="http://schemas.openxmlformats.org/officeDocument/2006/relationships/image" Target="/ppt/media/image2.png" Id="Ra3cd4c5b5b6e4da1" /><Relationship Type="http://schemas.openxmlformats.org/officeDocument/2006/relationships/notesSlide" Target="/ppt/notesSlides/notesSlide1.xml" Id="Re5a327c9fba04944"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d5309c2527b34b92" /><Relationship Type="http://schemas.openxmlformats.org/officeDocument/2006/relationships/image" Target="/ppt/media/image3.png" Id="Rc58c2fcbd02349b9" /><Relationship Type="http://schemas.openxmlformats.org/officeDocument/2006/relationships/image" Target="/ppt/media/image4.png" Id="R8d85c2659ffb48a7" /><Relationship Type="http://schemas.openxmlformats.org/officeDocument/2006/relationships/image" Target="/ppt/media/image.svg" Id="R305e942aeb6546b8" /><Relationship Type="http://schemas.openxmlformats.org/officeDocument/2006/relationships/image" Target="/ppt/media/image5.png" Id="Rdbc58ceb7dae4131" /><Relationship Type="http://schemas.openxmlformats.org/officeDocument/2006/relationships/image" Target="/ppt/media/image2.svg" Id="R4ede1715e7bb4bf3" /><Relationship Type="http://schemas.openxmlformats.org/officeDocument/2006/relationships/notesSlide" Target="/ppt/notesSlides/notesSlide2.xml" Id="R089e3ecd667c4edf"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43261baa6b8d4984" /><Relationship Type="http://schemas.openxmlformats.org/officeDocument/2006/relationships/image" Target="/ppt/media/image6.png" Id="R1f30a935b5c64b15" /><Relationship Type="http://schemas.openxmlformats.org/officeDocument/2006/relationships/image" Target="/ppt/media/image7.png" Id="R8ab14745a74a48f7" /><Relationship Type="http://schemas.openxmlformats.org/officeDocument/2006/relationships/image" Target="/ppt/media/image8.png" Id="R0b650230207f48f9" /><Relationship Type="http://schemas.openxmlformats.org/officeDocument/2006/relationships/image" Target="/ppt/media/image9.png" Id="R8e8950771f31471c" /><Relationship Type="http://schemas.openxmlformats.org/officeDocument/2006/relationships/image" Target="/ppt/media/image10.png" Id="R434dfc7d790d4b74" /><Relationship Type="http://schemas.openxmlformats.org/officeDocument/2006/relationships/image" Target="/ppt/media/image11.png" Id="R0b84a41aef204d90" /><Relationship Type="http://schemas.openxmlformats.org/officeDocument/2006/relationships/image" Target="/ppt/media/image12.png" Id="Rf1e8781abf374741" /><Relationship Type="http://schemas.openxmlformats.org/officeDocument/2006/relationships/notesSlide" Target="/ppt/notesSlides/notesSlide3.xml" Id="Rfd936896f90a4bb5"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8e3885cae2044d82" /><Relationship Type="http://schemas.openxmlformats.org/officeDocument/2006/relationships/image" Target="/ppt/media/image13.png" Id="Rce6c805ffbc4452e" /><Relationship Type="http://schemas.openxmlformats.org/officeDocument/2006/relationships/image" Target="/ppt/media/image3.svg" Id="R3ce07137e7ed48ea" /><Relationship Type="http://schemas.openxmlformats.org/officeDocument/2006/relationships/image" Target="/ppt/media/image14.png" Id="Rd928a482e3b949b3" /><Relationship Type="http://schemas.openxmlformats.org/officeDocument/2006/relationships/image" Target="/ppt/media/image4.svg" Id="Rb4c7c65435e24d59" /><Relationship Type="http://schemas.openxmlformats.org/officeDocument/2006/relationships/image" Target="/ppt/media/image15.png" Id="R90b2e15c2b1546b8" /><Relationship Type="http://schemas.openxmlformats.org/officeDocument/2006/relationships/image" Target="/ppt/media/image5.svg" Id="R5ebb38bb85c943fc" /><Relationship Type="http://schemas.openxmlformats.org/officeDocument/2006/relationships/image" Target="/ppt/media/image16.png" Id="R31f975018cbf4a84" /><Relationship Type="http://schemas.openxmlformats.org/officeDocument/2006/relationships/image" Target="/ppt/media/image6.svg" Id="R04656dcd34df4846" /><Relationship Type="http://schemas.openxmlformats.org/officeDocument/2006/relationships/image" Target="/ppt/media/image17.png" Id="Re8afa192bf0441c5" /><Relationship Type="http://schemas.openxmlformats.org/officeDocument/2006/relationships/image" Target="/ppt/media/image7.svg" Id="R9d0f7f44205d4074" /><Relationship Type="http://schemas.openxmlformats.org/officeDocument/2006/relationships/image" Target="/ppt/media/image18.png" Id="R1ebfb45aed9f4bfe" /><Relationship Type="http://schemas.openxmlformats.org/officeDocument/2006/relationships/image" Target="/ppt/media/image8.svg" Id="Rbb701b0bd91c41b6" /><Relationship Type="http://schemas.openxmlformats.org/officeDocument/2006/relationships/image" Target="/ppt/media/image19.png" Id="R3891d64e5b3f4277" /><Relationship Type="http://schemas.openxmlformats.org/officeDocument/2006/relationships/image" Target="/ppt/media/image9.svg" Id="Ra695ab5543aa4012" /><Relationship Type="http://schemas.openxmlformats.org/officeDocument/2006/relationships/image" Target="/ppt/media/image20.png" Id="R76fcd90efeca4fda" /><Relationship Type="http://schemas.openxmlformats.org/officeDocument/2006/relationships/image" Target="/ppt/media/image10.svg" Id="R6429b4559ea7426e" /><Relationship Type="http://schemas.openxmlformats.org/officeDocument/2006/relationships/notesSlide" Target="/ppt/notesSlides/notesSlide4.xml" Id="Rc6137842b1834dd0"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4af699c90301478e" /><Relationship Type="http://schemas.openxmlformats.org/officeDocument/2006/relationships/notesSlide" Target="/ppt/notesSlides/notesSlide5.xml" Id="Rf6a705bcfa7e47c0"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ba3d826f73d84125" /><Relationship Type="http://schemas.openxmlformats.org/officeDocument/2006/relationships/image" Target="/ppt/media/image21.png" Id="Ref04ec86f08c4f29" /><Relationship Type="http://schemas.openxmlformats.org/officeDocument/2006/relationships/notesSlide" Target="/ppt/notesSlides/notesSlide6.xml" Id="R6734702244524beb"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4abc1aa20fa544a6" /><Relationship Type="http://schemas.openxmlformats.org/officeDocument/2006/relationships/image" Target="/ppt/media/image22.png" Id="Rfcbeec7d7cdf42f6" /><Relationship Type="http://schemas.openxmlformats.org/officeDocument/2006/relationships/image" Target="/ppt/media/image23.png" Id="R4f42bf91a8ce4691" /><Relationship Type="http://schemas.openxmlformats.org/officeDocument/2006/relationships/image" Target="/ppt/media/image11.svg" Id="R894f6da803bb4823" /><Relationship Type="http://schemas.openxmlformats.org/officeDocument/2006/relationships/notesSlide" Target="/ppt/notesSlides/notesSlide7.xml" Id="R1021bd16366747da"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d9d6300e10ac455d" /><Relationship Type="http://schemas.openxmlformats.org/officeDocument/2006/relationships/notesSlide" Target="/ppt/notesSlides/notesSlide8.xml" Id="Rca73cde7d383454a"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6426d49e179346b5" /><Relationship Type="http://schemas.openxmlformats.org/officeDocument/2006/relationships/image" Target="/ppt/media/image.jpeg" Id="R8d4aacefe53f4158" /><Relationship Type="http://schemas.openxmlformats.org/officeDocument/2006/relationships/notesSlide" Target="/ppt/notesSlides/notesSlide9.xml" Id="Rb039d20ce84041a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745b845114774960" /><Relationship Type="http://schemas.openxmlformats.org/officeDocument/2006/relationships/image" Target="/ppt/media/image2.jpeg" Id="R7945c5aba0104b73" /><Relationship Type="http://schemas.openxmlformats.org/officeDocument/2006/relationships/notesSlide" Target="/ppt/notesSlides/notesSlide10.xml" Id="R4760a3f63d154d3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11e47eae961f4eed" /><Relationship Type="http://schemas.openxmlformats.org/officeDocument/2006/relationships/image" Target="/ppt/media/image3.jpeg" Id="R929f77b1e9a3467b" /><Relationship Type="http://schemas.openxmlformats.org/officeDocument/2006/relationships/notesSlide" Target="/ppt/notesSlides/notesSlide11.xml" Id="R1b5f86383f5848b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8648fdcc620246b1" /><Relationship Type="http://schemas.openxmlformats.org/officeDocument/2006/relationships/image" Target="/ppt/media/image4.jpeg" Id="R8249bcdb68f6423d" /><Relationship Type="http://schemas.openxmlformats.org/officeDocument/2006/relationships/notesSlide" Target="/ppt/notesSlides/notesSlide12.xml" Id="Ra417c744de2549f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c7570f4bc7824730" /><Relationship Type="http://schemas.openxmlformats.org/officeDocument/2006/relationships/image" Target="/ppt/media/image5.jpeg" Id="Re0c4cf42aafb480d" /><Relationship Type="http://schemas.openxmlformats.org/officeDocument/2006/relationships/notesSlide" Target="/ppt/notesSlides/notesSlide13.xml" Id="Rb4362d0f0d3f4f1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4e2c27969aa84700" /><Relationship Type="http://schemas.openxmlformats.org/officeDocument/2006/relationships/image" Target="/ppt/media/image6.jpeg" Id="R2fa789bfb5494fc2" /><Relationship Type="http://schemas.openxmlformats.org/officeDocument/2006/relationships/notesSlide" Target="/ppt/notesSlides/notesSlide14.xml" Id="R73ef575f0053448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44e8c1681ae84560" /><Relationship Type="http://schemas.openxmlformats.org/officeDocument/2006/relationships/notesSlide" Target="/ppt/notesSlides/notesSlide15.xml" Id="Rad5bb320ecc04ea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2ff32c4b542f4ffd" /><Relationship Type="http://schemas.openxmlformats.org/officeDocument/2006/relationships/notesSlide" Target="/ppt/notesSlides/notesSlide16.xml" Id="R306adfca123244c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c2f5962ed1444fd2" /><Relationship Type="http://schemas.openxmlformats.org/officeDocument/2006/relationships/notesSlide" Target="/ppt/notesSlides/notesSlide17.xml" Id="R9830cfa00fcb47d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C333F1A-EB19-453D-86DC-65466AEB6D24}"/>
              </a:ext>
            </a:extLst>
          </p:cNvPr>
          <p:cNvSpPr>
            <a:spLocks xmlns:a="http://schemas.openxmlformats.org/drawingml/2006/main" noGrp="1"/>
          </p:cNvSpPr>
          <p:nvPr/>
        </p:nvSpPr>
        <p:spPr>
          <a:xfrm xmlns:a="http://schemas.openxmlformats.org/drawingml/2006/main">
            <a:off x="7619809" y="0"/>
            <a:ext cx="4571886" cy="6858000"/>
          </a:xfrm>
          <a:prstGeom xmlns:a="http://schemas.openxmlformats.org/drawingml/2006/main" prst="rect">
            <a:avLst/>
          </a:prstGeom>
          <a:solidFill xmlns:a="http://schemas.openxmlformats.org/drawingml/2006/main">
            <a:srgbClr val="E1E1EA"/>
          </a:solidFill>
        </p:spPr>
      </p:sp>
      <p:pic>
        <p:nvPicPr>
          <p:cNvPr id="8" name="Image 0"/>
          <p:cNvPicPr>
            <a:picLocks xmlns:a="http://schemas.openxmlformats.org/drawingml/2006/main" noChangeAspect="1"/>
          </p:cNvPicPr>
          <p:nvPr/>
        </p:nvPicPr>
        <p:blipFill>
          <a:blip xmlns:r="http://schemas.openxmlformats.org/officeDocument/2006/relationships" xmlns:a="http://schemas.openxmlformats.org/drawingml/2006/main" r:embed="Ra3cd4c5b5b6e4da1"/>
          <a:stretch xmlns:a="http://schemas.openxmlformats.org/drawingml/2006/main">
            <a:fillRect l="0" t="0" r="0" b="0"/>
          </a:stretch>
        </p:blipFill>
        <p:spPr>
          <a:xfrm xmlns:a="http://schemas.openxmlformats.org/drawingml/2006/main">
            <a:off x="7714263" y="506909"/>
            <a:ext cx="4382879" cy="584408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DF0BA813-5440-4E94-A5BF-A0071C85BFC7}"/>
              </a:ext>
            </a:extLst>
          </p:cNvPr>
          <p:cNvSpPr>
            <a:spLocks xmlns:a="http://schemas.openxmlformats.org/drawingml/2006/main" noGrp="1"/>
          </p:cNvSpPr>
          <p:nvPr/>
        </p:nvSpPr>
        <p:spPr>
          <a:xfrm xmlns:a="http://schemas.openxmlformats.org/drawingml/2006/main">
            <a:off x="661475" y="2394148"/>
            <a:ext cx="6296860" cy="118129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96088"/>
          </a:bodyPr>
          <a:lstStyle xmlns:a="http://schemas.openxmlformats.org/drawingml/2006/main"/>
          <a:p xmlns:a="http://schemas.openxmlformats.org/drawingml/2006/main">
            <a:pPr marL="0" indent="0" algn="l">
              <a:lnSpc>
                <a:spcPct val="104000"/>
              </a:lnSpc>
              <a:buNone/>
            </a:pPr>
            <a:r>
              <a:rPr sz="3700">
                <a:solidFill>
                  <a:srgbClr val="1B1B27"/>
                </a:solidFill>
                <a:latin typeface="Raleway"/>
                <a:ea typeface="Raleway"/>
                <a:cs typeface="Raleway"/>
              </a:rPr>
              <a:t>FuGrade Web: Spec-Driven Development trong sản phẩm thật</a:t>
            </a:r>
            <a:endParaRPr sz="3700"/>
          </a:p>
        </p:txBody>
      </p:sp>
      <p:sp>
        <p:nvSpPr>
          <p:cNvPr id="5" name="Text 2">
            <a:extLst xmlns:a="http://schemas.openxmlformats.org/drawingml/2006/main">
              <a:ext uri="{FF2B5EF4-FFF2-40B4-BE49-F238E27FC236}">
                <a16:creationId xmlns:a16="http://schemas.microsoft.com/office/drawing/2014/main" id="{F489540E-2ADB-4855-A23B-5973583053CD}"/>
              </a:ext>
            </a:extLst>
          </p:cNvPr>
          <p:cNvSpPr>
            <a:spLocks xmlns:a="http://schemas.openxmlformats.org/drawingml/2006/main" noGrp="1"/>
          </p:cNvSpPr>
          <p:nvPr/>
        </p:nvSpPr>
        <p:spPr>
          <a:xfrm xmlns:a="http://schemas.openxmlformats.org/drawingml/2006/main">
            <a:off x="661475" y="3858915"/>
            <a:ext cx="6296860" cy="6048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ct val="133000"/>
              </a:lnSpc>
              <a:buNone/>
            </a:pPr>
            <a:r>
              <a:rPr sz="1450">
                <a:solidFill>
                  <a:srgbClr val="3C3939"/>
                </a:solidFill>
                <a:latin typeface="Roboto"/>
                <a:ea typeface="Roboto"/>
                <a:cs typeface="Roboto"/>
              </a:rPr>
              <a:t>Từ ứng dụng desktop legacy đến workspace bảng điểm trên web, có bằng chứng và ranh giới triển khai rõ ràng.</a:t>
            </a:r>
            <a:endParaRPr sz="1450"/>
          </a:p>
        </p:txBody>
      </p:sp>
    </p:spTree>
    <p:extLst>
      <p:ext uri="{BB962C8B-B14F-4D97-AF65-F5344CB8AC3E}">
        <p14:creationId xmlns:p14="http://schemas.microsoft.com/office/powerpoint/2010/main" val="2109096819"/>
      </p:ext>
    </p:extLst>
  </p:cSld>
</p:sld>
</file>

<file path=ppt/slides/slide2.xml><?xml version="1.0" encoding="utf-8"?>
<p:sld xmlns:p="http://schemas.openxmlformats.org/presentationml/2006/main" showMasterSp="0">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6DCB9ED-1085-4123-BCCE-9906E883F3E8}"/>
              </a:ext>
            </a:extLst>
          </p:cNvPr>
          <p:cNvSpPr>
            <a:spLocks xmlns:a="http://schemas.openxmlformats.org/drawingml/2006/main" noGrp="1"/>
          </p:cNvSpPr>
          <p:nvPr/>
        </p:nvSpPr>
        <p:spPr>
          <a:xfrm xmlns:a="http://schemas.openxmlformats.org/drawingml/2006/main">
            <a:off x="0" y="0"/>
            <a:ext cx="4571886" cy="6858000"/>
          </a:xfrm>
          <a:prstGeom xmlns:a="http://schemas.openxmlformats.org/drawingml/2006/main" prst="rect">
            <a:avLst/>
          </a:prstGeom>
          <a:solidFill xmlns:a="http://schemas.openxmlformats.org/drawingml/2006/main">
            <a:srgbClr val="E1E1EA"/>
          </a:solidFill>
        </p:spPr>
      </p:sp>
      <p:pic>
        <p:nvPicPr>
          <p:cNvPr id="19" name="Image 0"/>
          <p:cNvPicPr>
            <a:picLocks xmlns:a="http://schemas.openxmlformats.org/drawingml/2006/main" noChangeAspect="1"/>
          </p:cNvPicPr>
          <p:nvPr/>
        </p:nvPicPr>
        <p:blipFill>
          <a:blip xmlns:r="http://schemas.openxmlformats.org/officeDocument/2006/relationships" xmlns:a="http://schemas.openxmlformats.org/drawingml/2006/main" r:embed="Rc58c2fcbd02349b9"/>
          <a:stretch xmlns:a="http://schemas.openxmlformats.org/drawingml/2006/main">
            <a:fillRect l="0" t="0" r="0" b="0"/>
          </a:stretch>
        </p:blipFill>
        <p:spPr>
          <a:xfrm xmlns:a="http://schemas.openxmlformats.org/drawingml/2006/main">
            <a:off x="94454" y="506909"/>
            <a:ext cx="4382879" cy="584408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10D6E70B-B340-4173-AD3D-47DCA0532E2E}"/>
              </a:ext>
            </a:extLst>
          </p:cNvPr>
          <p:cNvSpPr>
            <a:spLocks xmlns:a="http://schemas.openxmlformats.org/drawingml/2006/main" noGrp="1"/>
          </p:cNvSpPr>
          <p:nvPr/>
        </p:nvSpPr>
        <p:spPr>
          <a:xfrm xmlns:a="http://schemas.openxmlformats.org/drawingml/2006/main">
            <a:off x="5233360" y="790575"/>
            <a:ext cx="6296860" cy="59064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3700">
                <a:solidFill>
                  <a:srgbClr val="1B1B27"/>
                </a:solidFill>
                <a:latin typeface="Raleway"/>
                <a:ea typeface="Raleway"/>
                <a:cs typeface="Raleway"/>
              </a:rPr>
              <a:t>Vấn đề cốt lõi</a:t>
            </a:r>
            <a:endParaRPr sz="3700"/>
          </a:p>
        </p:txBody>
      </p:sp>
      <p:pic>
        <p:nvPicPr>
          <p:cNvPr id="21" name="Image 1"/>
          <p:cNvPicPr>
            <a:picLocks xmlns:a="http://schemas.openxmlformats.org/drawingml/2006/main" noChangeAspect="1"/>
          </p:cNvPicPr>
          <p:nvPr/>
        </p:nvPicPr>
        <p:blipFill>
          <a:blip xmlns:r="http://schemas.openxmlformats.org/officeDocument/2006/relationships" xmlns:a="http://schemas.openxmlformats.org/drawingml/2006/main" r:embed="R8d85c2659ffb48a7">
            <a:extLst>
              <a:ext uri="{96DAC541-7B7A-43D3-8B79-37D633B846F1}">
                <asvg:svgBlip xmlns:asvg="http://schemas.microsoft.com/office/drawing/2016/SVG/main" r:embed="R305e942aeb6546b8"/>
              </a:ext>
            </a:extLst>
          </a:blip>
          <a:stretch xmlns:a="http://schemas.openxmlformats.org/drawingml/2006/main">
            <a:fillRect l="0" t="0" r="0" b="0"/>
          </a:stretch>
        </p:blipFill>
        <p:spPr>
          <a:xfrm xmlns:a="http://schemas.openxmlformats.org/drawingml/2006/main">
            <a:off x="5233360" y="1664692"/>
            <a:ext cx="6296860" cy="1442343"/>
          </a:xfrm>
          <a:prstGeom xmlns:a="http://schemas.openxmlformats.org/drawingml/2006/main" prst="rect">
            <a:avLst/>
          </a:prstGeom>
        </p:spPr>
      </p:pic>
      <p:sp>
        <p:nvSpPr>
          <p:cNvPr id="6" name="Text 2">
            <a:extLst xmlns:a="http://schemas.openxmlformats.org/drawingml/2006/main">
              <a:ext uri="{FF2B5EF4-FFF2-40B4-BE49-F238E27FC236}">
                <a16:creationId xmlns:a16="http://schemas.microsoft.com/office/drawing/2014/main" id="{44CB37AA-60FB-4BEF-908F-9AD19DE30E15}"/>
              </a:ext>
            </a:extLst>
          </p:cNvPr>
          <p:cNvSpPr>
            <a:spLocks xmlns:a="http://schemas.openxmlformats.org/drawingml/2006/main" noGrp="1"/>
          </p:cNvSpPr>
          <p:nvPr/>
        </p:nvSpPr>
        <p:spPr>
          <a:xfrm xmlns:a="http://schemas.openxmlformats.org/drawingml/2006/main">
            <a:off x="5549364" y="1879104"/>
            <a:ext cx="5766449"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3C3939"/>
                </a:solidFill>
                <a:latin typeface="Raleway"/>
                <a:ea typeface="Raleway"/>
                <a:cs typeface="Raleway"/>
              </a:rPr>
              <a:t>Yêu cầu nghiệp vụ nằm rải rác</a:t>
            </a:r>
            <a:endParaRPr sz="1850"/>
          </a:p>
        </p:txBody>
      </p:sp>
      <p:sp>
        <p:nvSpPr>
          <p:cNvPr id="7" name="Text 3">
            <a:extLst xmlns:a="http://schemas.openxmlformats.org/drawingml/2006/main">
              <a:ext uri="{FF2B5EF4-FFF2-40B4-BE49-F238E27FC236}">
                <a16:creationId xmlns:a16="http://schemas.microsoft.com/office/drawing/2014/main" id="{C48BEE9F-9D83-4C3B-B139-E85CCC1E7012}"/>
              </a:ext>
            </a:extLst>
          </p:cNvPr>
          <p:cNvSpPr>
            <a:spLocks xmlns:a="http://schemas.openxmlformats.org/drawingml/2006/main" noGrp="1"/>
          </p:cNvSpPr>
          <p:nvPr/>
        </p:nvSpPr>
        <p:spPr>
          <a:xfrm xmlns:a="http://schemas.openxmlformats.org/drawingml/2006/main">
            <a:off x="5549364" y="2287786"/>
            <a:ext cx="5766449" cy="6048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ct val="133000"/>
              </a:lnSpc>
              <a:buNone/>
            </a:pPr>
            <a:r>
              <a:rPr sz="1450">
                <a:solidFill>
                  <a:srgbClr val="3C3939"/>
                </a:solidFill>
                <a:latin typeface="Roboto"/>
                <a:ea typeface="Roboto"/>
                <a:cs typeface="Roboto"/>
              </a:rPr>
              <a:t>Quy tắc .fg, chỉnh điểm, import và lưu snapshot xuất hiện ở cả desktop legacy lẫn web.</a:t>
            </a:r>
            <a:endParaRPr sz="1450"/>
          </a:p>
        </p:txBody>
      </p:sp>
      <p:pic>
        <p:nvPicPr>
          <p:cNvPr id="24" name="Image 2"/>
          <p:cNvPicPr>
            <a:picLocks xmlns:a="http://schemas.openxmlformats.org/drawingml/2006/main" noChangeAspect="1"/>
          </p:cNvPicPr>
          <p:nvPr/>
        </p:nvPicPr>
        <p:blipFill>
          <a:blip xmlns:r="http://schemas.openxmlformats.org/officeDocument/2006/relationships" xmlns:a="http://schemas.openxmlformats.org/drawingml/2006/main" r:embed="R8d85c2659ffb48a7">
            <a:extLst>
              <a:ext uri="{96DAC541-7B7A-43D3-8B79-37D633B846F1}">
                <asvg:svgBlip xmlns:asvg="http://schemas.microsoft.com/office/drawing/2016/SVG/main" r:embed="R305e942aeb6546b8"/>
              </a:ext>
            </a:extLst>
          </a:blip>
          <a:stretch xmlns:a="http://schemas.openxmlformats.org/drawingml/2006/main">
            <a:fillRect l="0" t="0" r="0" b="0"/>
          </a:stretch>
        </p:blipFill>
        <p:spPr>
          <a:xfrm xmlns:a="http://schemas.openxmlformats.org/drawingml/2006/main">
            <a:off x="5233360" y="3296047"/>
            <a:ext cx="6296860" cy="1442343"/>
          </a:xfrm>
          <a:prstGeom xmlns:a="http://schemas.openxmlformats.org/drawingml/2006/main" prst="rect">
            <a:avLst/>
          </a:prstGeom>
        </p:spPr>
      </p:pic>
      <p:sp>
        <p:nvSpPr>
          <p:cNvPr id="9" name="Text 4">
            <a:extLst xmlns:a="http://schemas.openxmlformats.org/drawingml/2006/main">
              <a:ext uri="{FF2B5EF4-FFF2-40B4-BE49-F238E27FC236}">
                <a16:creationId xmlns:a16="http://schemas.microsoft.com/office/drawing/2014/main" id="{C2DA948E-D855-4722-A752-22107A8EC918}"/>
              </a:ext>
            </a:extLst>
          </p:cNvPr>
          <p:cNvSpPr>
            <a:spLocks xmlns:a="http://schemas.openxmlformats.org/drawingml/2006/main" noGrp="1"/>
          </p:cNvSpPr>
          <p:nvPr/>
        </p:nvSpPr>
        <p:spPr>
          <a:xfrm xmlns:a="http://schemas.openxmlformats.org/drawingml/2006/main">
            <a:off x="5549364" y="3510459"/>
            <a:ext cx="5766449"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3C3939"/>
                </a:solidFill>
                <a:latin typeface="Raleway"/>
                <a:ea typeface="Raleway"/>
                <a:cs typeface="Raleway"/>
              </a:rPr>
              <a:t>AI thiếu ranh giới triển khai</a:t>
            </a:r>
            <a:endParaRPr sz="1850"/>
          </a:p>
        </p:txBody>
      </p:sp>
      <p:sp>
        <p:nvSpPr>
          <p:cNvPr id="10" name="Text 5">
            <a:extLst xmlns:a="http://schemas.openxmlformats.org/drawingml/2006/main">
              <a:ext uri="{FF2B5EF4-FFF2-40B4-BE49-F238E27FC236}">
                <a16:creationId xmlns:a16="http://schemas.microsoft.com/office/drawing/2014/main" id="{AC0747BD-FE31-4CF9-989C-6849D1C5FA28}"/>
              </a:ext>
            </a:extLst>
          </p:cNvPr>
          <p:cNvSpPr>
            <a:spLocks xmlns:a="http://schemas.openxmlformats.org/drawingml/2006/main" noGrp="1"/>
          </p:cNvSpPr>
          <p:nvPr/>
        </p:nvSpPr>
        <p:spPr>
          <a:xfrm xmlns:a="http://schemas.openxmlformats.org/drawingml/2006/main">
            <a:off x="5549364" y="3919141"/>
            <a:ext cx="5766449" cy="6048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ct val="133000"/>
              </a:lnSpc>
              <a:buNone/>
            </a:pPr>
            <a:r>
              <a:rPr sz="1450">
                <a:solidFill>
                  <a:srgbClr val="3C3939"/>
                </a:solidFill>
                <a:latin typeface="Roboto"/>
                <a:ea typeface="Roboto"/>
                <a:cs typeface="Roboto"/>
              </a:rPr>
              <a:t>Nếu không đọc source và artifact, AI dễ coi hành vi dự kiến là tính năng đã hoàn thành.</a:t>
            </a:r>
            <a:endParaRPr sz="1450"/>
          </a:p>
        </p:txBody>
      </p:sp>
      <p:pic>
        <p:nvPicPr>
          <p:cNvPr id="27" name="Image 3"/>
          <p:cNvPicPr>
            <a:picLocks xmlns:a="http://schemas.openxmlformats.org/drawingml/2006/main" noChangeAspect="1"/>
          </p:cNvPicPr>
          <p:nvPr/>
        </p:nvPicPr>
        <p:blipFill>
          <a:blip xmlns:r="http://schemas.openxmlformats.org/officeDocument/2006/relationships" xmlns:a="http://schemas.openxmlformats.org/drawingml/2006/main" r:embed="Rdbc58ceb7dae4131">
            <a:extLst>
              <a:ext uri="{96DAC541-7B7A-43D3-8B79-37D633B846F1}">
                <asvg:svgBlip xmlns:asvg="http://schemas.microsoft.com/office/drawing/2016/SVG/main" r:embed="R4ede1715e7bb4bf3"/>
              </a:ext>
            </a:extLst>
          </a:blip>
          <a:stretch xmlns:a="http://schemas.openxmlformats.org/drawingml/2006/main">
            <a:fillRect l="0" t="0" r="0" b="0"/>
          </a:stretch>
        </p:blipFill>
        <p:spPr>
          <a:xfrm xmlns:a="http://schemas.openxmlformats.org/drawingml/2006/main">
            <a:off x="5233360" y="4927402"/>
            <a:ext cx="6296860" cy="1139924"/>
          </a:xfrm>
          <a:prstGeom xmlns:a="http://schemas.openxmlformats.org/drawingml/2006/main" prst="rect">
            <a:avLst/>
          </a:prstGeom>
        </p:spPr>
      </p:pic>
      <p:sp>
        <p:nvSpPr>
          <p:cNvPr id="12" name="Text 6">
            <a:extLst xmlns:a="http://schemas.openxmlformats.org/drawingml/2006/main">
              <a:ext uri="{FF2B5EF4-FFF2-40B4-BE49-F238E27FC236}">
                <a16:creationId xmlns:a16="http://schemas.microsoft.com/office/drawing/2014/main" id="{4C23E286-C441-4F25-AAEE-7D42C42A4A4B}"/>
              </a:ext>
            </a:extLst>
          </p:cNvPr>
          <p:cNvSpPr>
            <a:spLocks xmlns:a="http://schemas.openxmlformats.org/drawingml/2006/main" noGrp="1"/>
          </p:cNvSpPr>
          <p:nvPr/>
        </p:nvSpPr>
        <p:spPr>
          <a:xfrm xmlns:a="http://schemas.openxmlformats.org/drawingml/2006/main">
            <a:off x="5549364" y="5141813"/>
            <a:ext cx="5766449"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3C3939"/>
                </a:solidFill>
                <a:latin typeface="Raleway"/>
                <a:ea typeface="Raleway"/>
                <a:cs typeface="Raleway"/>
              </a:rPr>
              <a:t>Demo dễ nói quá hiện trạng</a:t>
            </a:r>
            <a:endParaRPr sz="1850"/>
          </a:p>
        </p:txBody>
      </p:sp>
      <p:sp>
        <p:nvSpPr>
          <p:cNvPr id="13" name="Text 7">
            <a:extLst xmlns:a="http://schemas.openxmlformats.org/drawingml/2006/main">
              <a:ext uri="{FF2B5EF4-FFF2-40B4-BE49-F238E27FC236}">
                <a16:creationId xmlns:a16="http://schemas.microsoft.com/office/drawing/2014/main" id="{7A5E393E-9C95-4D8A-87CE-4CA2FF4DAFF3}"/>
              </a:ext>
            </a:extLst>
          </p:cNvPr>
          <p:cNvSpPr>
            <a:spLocks xmlns:a="http://schemas.openxmlformats.org/drawingml/2006/main" noGrp="1"/>
          </p:cNvSpPr>
          <p:nvPr/>
        </p:nvSpPr>
        <p:spPr>
          <a:xfrm xmlns:a="http://schemas.openxmlformats.org/drawingml/2006/main">
            <a:off x="5549364" y="5550495"/>
            <a:ext cx="5766449" cy="30241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33000"/>
              </a:lnSpc>
              <a:buNone/>
            </a:pPr>
            <a:r>
              <a:rPr sz="1450">
                <a:solidFill>
                  <a:srgbClr val="3C3939"/>
                </a:solidFill>
                <a:latin typeface="Roboto"/>
                <a:ea typeface="Roboto"/>
                <a:cs typeface="Roboto"/>
              </a:rPr>
              <a:t>Ảnh sản phẩm và evidence phải tách phần đã chạy khỏi phần đang chờ review.</a:t>
            </a:r>
            <a:endParaRPr sz="1450"/>
          </a:p>
        </p:txBody>
      </p:sp>
    </p:spTree>
    <p:extLst>
      <p:ext uri="{BB962C8B-B14F-4D97-AF65-F5344CB8AC3E}">
        <p14:creationId xmlns:p14="http://schemas.microsoft.com/office/powerpoint/2010/main" val="1951070613"/>
      </p:ext>
    </p:extLst>
  </p:cSld>
</p:sld>
</file>

<file path=ppt/slides/slide3.xml><?xml version="1.0" encoding="utf-8"?>
<p:sld xmlns:p="http://schemas.openxmlformats.org/presentationml/2006/main" showMasterSp="0">
  <p:cSld>
    <p:spTree>
      <p:nvGrpSpPr>
        <p:cNvPr id="1" name=""/>
        <p:cNvGrpSpPr/>
        <p:nvPr/>
      </p:nvGrpSpPr>
      <p:grpSpPr>
        <a:xfrm xmlns:a="http://schemas.openxmlformats.org/drawingml/2006/main"/>
      </p:grpSpPr>
      <p:pic>
        <p:nvPicPr>
          <p:cNvPr id="26" name="Image 0"/>
          <p:cNvPicPr>
            <a:picLocks xmlns:a="http://schemas.openxmlformats.org/drawingml/2006/main" noChangeAspect="1"/>
          </p:cNvPicPr>
          <p:nvPr/>
        </p:nvPicPr>
        <p:blipFill>
          <a:blip xmlns:r="http://schemas.openxmlformats.org/officeDocument/2006/relationships" xmlns:a="http://schemas.openxmlformats.org/drawingml/2006/main" r:embed="R1f30a935b5c64b15"/>
          <a:stretch xmlns:a="http://schemas.openxmlformats.org/drawingml/2006/main">
            <a:fillRect l="0" t="0" r="0" b="0"/>
          </a:stretch>
        </p:blipFill>
        <p:spPr>
          <a:xfrm xmlns:a="http://schemas.openxmlformats.org/drawingml/2006/main">
            <a:off x="661475" y="1646337"/>
            <a:ext cx="3565138" cy="3565227"/>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D4959AC1-8C2B-4332-96D1-1134AAA9E1CA}"/>
              </a:ext>
            </a:extLst>
          </p:cNvPr>
          <p:cNvSpPr>
            <a:spLocks xmlns:a="http://schemas.openxmlformats.org/drawingml/2006/main" noGrp="1"/>
          </p:cNvSpPr>
          <p:nvPr/>
        </p:nvSpPr>
        <p:spPr>
          <a:xfrm xmlns:a="http://schemas.openxmlformats.org/drawingml/2006/main">
            <a:off x="4600460" y="790972"/>
            <a:ext cx="6936011" cy="47059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2950">
                <a:solidFill>
                  <a:srgbClr val="1B1B27"/>
                </a:solidFill>
                <a:latin typeface="Raleway"/>
                <a:ea typeface="Raleway"/>
                <a:cs typeface="Raleway"/>
              </a:rPr>
              <a:t>Spec-Driven Development</a:t>
            </a:r>
            <a:endParaRPr sz="2950"/>
          </a:p>
        </p:txBody>
      </p:sp>
      <p:sp>
        <p:nvSpPr>
          <p:cNvPr id="4" name="Text 1">
            <a:extLst xmlns:a="http://schemas.openxmlformats.org/drawingml/2006/main">
              <a:ext uri="{FF2B5EF4-FFF2-40B4-BE49-F238E27FC236}">
                <a16:creationId xmlns:a16="http://schemas.microsoft.com/office/drawing/2014/main" id="{BBB590C9-0396-4CFD-9FB1-FE11CD3D38A2}"/>
              </a:ext>
            </a:extLst>
          </p:cNvPr>
          <p:cNvSpPr>
            <a:spLocks xmlns:a="http://schemas.openxmlformats.org/drawingml/2006/main" noGrp="1"/>
          </p:cNvSpPr>
          <p:nvPr/>
        </p:nvSpPr>
        <p:spPr>
          <a:xfrm xmlns:a="http://schemas.openxmlformats.org/drawingml/2006/main">
            <a:off x="4600460" y="1381522"/>
            <a:ext cx="7545596" cy="21649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0000"/>
              </a:lnSpc>
              <a:buNone/>
            </a:pPr>
            <a:r>
              <a:rPr sz="1150">
                <a:solidFill>
                  <a:srgbClr val="3C3939"/>
                </a:solidFill>
                <a:latin typeface="Roboto"/>
                <a:ea typeface="Roboto"/>
                <a:cs typeface="Roboto"/>
              </a:rPr>
              <a:t>Spec là hợp đồng giữa ý định của con người và phần triển khai có thể kiểm chứng.</a:t>
            </a:r>
            <a:endParaRPr sz="1150"/>
          </a:p>
        </p:txBody>
      </p:sp>
      <p:sp>
        <p:nvSpPr>
          <p:cNvPr id="5" name="Shape 2">
            <a:extLst xmlns:a="http://schemas.openxmlformats.org/drawingml/2006/main">
              <a:ext uri="{FF2B5EF4-FFF2-40B4-BE49-F238E27FC236}">
                <a16:creationId xmlns:a16="http://schemas.microsoft.com/office/drawing/2014/main" id="{66F786AF-6B7B-4ECE-923E-C06C91C4DD3D}"/>
              </a:ext>
            </a:extLst>
          </p:cNvPr>
          <p:cNvSpPr>
            <a:spLocks xmlns:a="http://schemas.openxmlformats.org/drawingml/2006/main" noGrp="1"/>
          </p:cNvSpPr>
          <p:nvPr/>
        </p:nvSpPr>
        <p:spPr>
          <a:xfrm xmlns:a="http://schemas.openxmlformats.org/drawingml/2006/main">
            <a:off x="4600460" y="1732955"/>
            <a:ext cx="6936011" cy="507603"/>
          </a:xfrm>
          <a:prstGeom xmlns:a="http://schemas.openxmlformats.org/drawingml/2006/main" prst="roundRect">
            <a:avLst>
              <a:gd name="adj" fmla="val 12463"/>
            </a:avLst>
          </a:prstGeom>
          <a:solidFill xmlns:a="http://schemas.openxmlformats.org/drawingml/2006/main">
            <a:srgbClr val="E1E1EA"/>
          </a:solidFill>
        </p:spPr>
      </p:sp>
      <p:pic>
        <p:nvPicPr>
          <p:cNvPr id="30" name="Image 1"/>
          <p:cNvPicPr>
            <a:picLocks xmlns:a="http://schemas.openxmlformats.org/drawingml/2006/main" noChangeAspect="1"/>
          </p:cNvPicPr>
          <p:nvPr/>
        </p:nvPicPr>
        <p:blipFill>
          <a:blip xmlns:r="http://schemas.openxmlformats.org/officeDocument/2006/relationships" xmlns:a="http://schemas.openxmlformats.org/drawingml/2006/main" r:embed="R8ab14745a74a48f7"/>
          <a:stretch xmlns:a="http://schemas.openxmlformats.org/drawingml/2006/main">
            <a:fillRect l="0" t="0" r="0" b="0"/>
          </a:stretch>
        </p:blipFill>
        <p:spPr>
          <a:xfrm xmlns:a="http://schemas.openxmlformats.org/drawingml/2006/main">
            <a:off x="4751070" y="1917402"/>
            <a:ext cx="188213" cy="150614"/>
          </a:xfrm>
          <a:prstGeom xmlns:a="http://schemas.openxmlformats.org/drawingml/2006/main" prst="rect">
            <a:avLst/>
          </a:prstGeom>
        </p:spPr>
      </p:pic>
      <p:sp>
        <p:nvSpPr>
          <p:cNvPr id="7" name="Text 3">
            <a:extLst xmlns:a="http://schemas.openxmlformats.org/drawingml/2006/main">
              <a:ext uri="{FF2B5EF4-FFF2-40B4-BE49-F238E27FC236}">
                <a16:creationId xmlns:a16="http://schemas.microsoft.com/office/drawing/2014/main" id="{ED7AA715-ED56-4898-8AE1-A0518E2793A9}"/>
              </a:ext>
            </a:extLst>
          </p:cNvPr>
          <p:cNvSpPr>
            <a:spLocks xmlns:a="http://schemas.openxmlformats.org/drawingml/2006/main" noGrp="1"/>
          </p:cNvSpPr>
          <p:nvPr/>
        </p:nvSpPr>
        <p:spPr>
          <a:xfrm xmlns:a="http://schemas.openxmlformats.org/drawingml/2006/main">
            <a:off x="5089894" y="1878509"/>
            <a:ext cx="6905551" cy="21649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0000"/>
              </a:lnSpc>
              <a:buNone/>
            </a:pPr>
            <a:r>
              <a:rPr sz="1150" b="1">
                <a:solidFill>
                  <a:srgbClr val="000000"/>
                </a:solidFill>
                <a:latin typeface="Roboto Bold"/>
                <a:ea typeface="Roboto Bold"/>
                <a:cs typeface="Roboto Bold"/>
              </a:rPr>
              <a:t>Một spec tốt đủ rõ để AI không phải đoán và đủ ngắn để con người review.</a:t>
            </a:r>
            <a:endParaRPr sz="1150"/>
          </a:p>
        </p:txBody>
      </p:sp>
      <p:sp>
        <p:nvSpPr>
          <p:cNvPr id="8" name="Text 4">
            <a:extLst xmlns:a="http://schemas.openxmlformats.org/drawingml/2006/main">
              <a:ext uri="{FF2B5EF4-FFF2-40B4-BE49-F238E27FC236}">
                <a16:creationId xmlns:a16="http://schemas.microsoft.com/office/drawing/2014/main" id="{5442E861-2531-447C-B791-3024315FD460}"/>
              </a:ext>
            </a:extLst>
          </p:cNvPr>
          <p:cNvSpPr>
            <a:spLocks xmlns:a="http://schemas.openxmlformats.org/drawingml/2006/main" noGrp="1"/>
          </p:cNvSpPr>
          <p:nvPr/>
        </p:nvSpPr>
        <p:spPr>
          <a:xfrm xmlns:a="http://schemas.openxmlformats.org/drawingml/2006/main">
            <a:off x="4600460" y="2375495"/>
            <a:ext cx="7545596" cy="21649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0000"/>
              </a:lnSpc>
              <a:buNone/>
            </a:pPr>
            <a:r>
              <a:rPr sz="1150" b="1">
                <a:solidFill>
                  <a:srgbClr val="3C3939"/>
                </a:solidFill>
                <a:latin typeface="Roboto Bold"/>
                <a:ea typeface="Roboto Bold"/>
                <a:cs typeface="Roboto Bold"/>
              </a:rPr>
              <a:t>Chu trình 5 pha:</a:t>
            </a:r>
            <a:endParaRPr sz="1150"/>
          </a:p>
        </p:txBody>
      </p:sp>
      <p:pic>
        <p:nvPicPr>
          <p:cNvPr id="33" name="Image 2"/>
          <p:cNvPicPr>
            <a:picLocks xmlns:a="http://schemas.openxmlformats.org/drawingml/2006/main" noChangeAspect="1"/>
          </p:cNvPicPr>
          <p:nvPr/>
        </p:nvPicPr>
        <p:blipFill>
          <a:blip xmlns:r="http://schemas.openxmlformats.org/officeDocument/2006/relationships" xmlns:a="http://schemas.openxmlformats.org/drawingml/2006/main" r:embed="R0b650230207f48f9"/>
          <a:stretch xmlns:a="http://schemas.openxmlformats.org/drawingml/2006/main">
            <a:fillRect l="0" t="0" r="0" b="0"/>
          </a:stretch>
        </p:blipFill>
        <p:spPr>
          <a:xfrm xmlns:a="http://schemas.openxmlformats.org/drawingml/2006/main">
            <a:off x="4600460" y="2726928"/>
            <a:ext cx="3468005" cy="602456"/>
          </a:xfrm>
          <a:prstGeom xmlns:a="http://schemas.openxmlformats.org/drawingml/2006/main" prst="rect">
            <a:avLst/>
          </a:prstGeom>
        </p:spPr>
      </p:pic>
      <p:sp>
        <p:nvSpPr>
          <p:cNvPr id="10" name="Text 5">
            <a:extLst xmlns:a="http://schemas.openxmlformats.org/drawingml/2006/main">
              <a:ext uri="{FF2B5EF4-FFF2-40B4-BE49-F238E27FC236}">
                <a16:creationId xmlns:a16="http://schemas.microsoft.com/office/drawing/2014/main" id="{70DD30FC-E249-4E6A-B85F-41F09995F526}"/>
              </a:ext>
            </a:extLst>
          </p:cNvPr>
          <p:cNvSpPr>
            <a:spLocks xmlns:a="http://schemas.openxmlformats.org/drawingml/2006/main" noGrp="1"/>
          </p:cNvSpPr>
          <p:nvPr/>
        </p:nvSpPr>
        <p:spPr>
          <a:xfrm xmlns:a="http://schemas.openxmlformats.org/drawingml/2006/main">
            <a:off x="4751070" y="3449340"/>
            <a:ext cx="3166785" cy="23534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450">
                <a:solidFill>
                  <a:srgbClr val="3C3939"/>
                </a:solidFill>
                <a:latin typeface="Raleway"/>
                <a:ea typeface="Raleway"/>
                <a:cs typeface="Raleway"/>
              </a:rPr>
              <a:t>Context</a:t>
            </a:r>
            <a:endParaRPr sz="1450"/>
          </a:p>
        </p:txBody>
      </p:sp>
      <p:pic>
        <p:nvPicPr>
          <p:cNvPr id="35" name="Image 3"/>
          <p:cNvPicPr>
            <a:picLocks xmlns:a="http://schemas.openxmlformats.org/drawingml/2006/main" noChangeAspect="1"/>
          </p:cNvPicPr>
          <p:nvPr/>
        </p:nvPicPr>
        <p:blipFill>
          <a:blip xmlns:r="http://schemas.openxmlformats.org/officeDocument/2006/relationships" xmlns:a="http://schemas.openxmlformats.org/drawingml/2006/main" r:embed="R8e8950771f31471c"/>
          <a:stretch xmlns:a="http://schemas.openxmlformats.org/drawingml/2006/main">
            <a:fillRect l="0" t="0" r="0" b="0"/>
          </a:stretch>
        </p:blipFill>
        <p:spPr>
          <a:xfrm xmlns:a="http://schemas.openxmlformats.org/drawingml/2006/main">
            <a:off x="8068465" y="2726928"/>
            <a:ext cx="3468005" cy="602456"/>
          </a:xfrm>
          <a:prstGeom xmlns:a="http://schemas.openxmlformats.org/drawingml/2006/main" prst="rect">
            <a:avLst/>
          </a:prstGeom>
        </p:spPr>
      </p:pic>
      <p:sp>
        <p:nvSpPr>
          <p:cNvPr id="12" name="Text 6">
            <a:extLst xmlns:a="http://schemas.openxmlformats.org/drawingml/2006/main">
              <a:ext uri="{FF2B5EF4-FFF2-40B4-BE49-F238E27FC236}">
                <a16:creationId xmlns:a16="http://schemas.microsoft.com/office/drawing/2014/main" id="{07B17632-083F-45C1-BB78-F17E94F8867F}"/>
              </a:ext>
            </a:extLst>
          </p:cNvPr>
          <p:cNvSpPr>
            <a:spLocks xmlns:a="http://schemas.openxmlformats.org/drawingml/2006/main" noGrp="1"/>
          </p:cNvSpPr>
          <p:nvPr/>
        </p:nvSpPr>
        <p:spPr>
          <a:xfrm xmlns:a="http://schemas.openxmlformats.org/drawingml/2006/main">
            <a:off x="8219076" y="3449340"/>
            <a:ext cx="3166785" cy="23534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450">
                <a:solidFill>
                  <a:srgbClr val="3C3939"/>
                </a:solidFill>
                <a:latin typeface="Raleway"/>
                <a:ea typeface="Raleway"/>
                <a:cs typeface="Raleway"/>
              </a:rPr>
              <a:t>Spec</a:t>
            </a:r>
            <a:endParaRPr sz="1450"/>
          </a:p>
        </p:txBody>
      </p:sp>
      <p:pic>
        <p:nvPicPr>
          <p:cNvPr id="37" name="Image 4"/>
          <p:cNvPicPr>
            <a:picLocks xmlns:a="http://schemas.openxmlformats.org/drawingml/2006/main" noChangeAspect="1"/>
          </p:cNvPicPr>
          <p:nvPr/>
        </p:nvPicPr>
        <p:blipFill>
          <a:blip xmlns:r="http://schemas.openxmlformats.org/officeDocument/2006/relationships" xmlns:a="http://schemas.openxmlformats.org/drawingml/2006/main" r:embed="R434dfc7d790d4b74"/>
          <a:stretch xmlns:a="http://schemas.openxmlformats.org/drawingml/2006/main">
            <a:fillRect l="0" t="0" r="0" b="0"/>
          </a:stretch>
        </p:blipFill>
        <p:spPr>
          <a:xfrm xmlns:a="http://schemas.openxmlformats.org/drawingml/2006/main">
            <a:off x="4600460" y="3835301"/>
            <a:ext cx="3468005" cy="602456"/>
          </a:xfrm>
          <a:prstGeom xmlns:a="http://schemas.openxmlformats.org/drawingml/2006/main" prst="rect">
            <a:avLst/>
          </a:prstGeom>
        </p:spPr>
      </p:pic>
      <p:sp>
        <p:nvSpPr>
          <p:cNvPr id="14" name="Text 7">
            <a:extLst xmlns:a="http://schemas.openxmlformats.org/drawingml/2006/main">
              <a:ext uri="{FF2B5EF4-FFF2-40B4-BE49-F238E27FC236}">
                <a16:creationId xmlns:a16="http://schemas.microsoft.com/office/drawing/2014/main" id="{3832EF3A-C4FF-488B-9D8B-31B8BFC4D416}"/>
              </a:ext>
            </a:extLst>
          </p:cNvPr>
          <p:cNvSpPr>
            <a:spLocks xmlns:a="http://schemas.openxmlformats.org/drawingml/2006/main" noGrp="1"/>
          </p:cNvSpPr>
          <p:nvPr/>
        </p:nvSpPr>
        <p:spPr>
          <a:xfrm xmlns:a="http://schemas.openxmlformats.org/drawingml/2006/main">
            <a:off x="4751070" y="4557713"/>
            <a:ext cx="3166785" cy="23534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450">
                <a:solidFill>
                  <a:srgbClr val="3C3939"/>
                </a:solidFill>
                <a:latin typeface="Raleway"/>
                <a:ea typeface="Raleway"/>
                <a:cs typeface="Raleway"/>
              </a:rPr>
              <a:t>Plan</a:t>
            </a:r>
            <a:endParaRPr sz="1450"/>
          </a:p>
        </p:txBody>
      </p:sp>
      <p:pic>
        <p:nvPicPr>
          <p:cNvPr id="39" name="Image 5"/>
          <p:cNvPicPr>
            <a:picLocks xmlns:a="http://schemas.openxmlformats.org/drawingml/2006/main" noChangeAspect="1"/>
          </p:cNvPicPr>
          <p:nvPr/>
        </p:nvPicPr>
        <p:blipFill>
          <a:blip xmlns:r="http://schemas.openxmlformats.org/officeDocument/2006/relationships" xmlns:a="http://schemas.openxmlformats.org/drawingml/2006/main" r:embed="R0b84a41aef204d90"/>
          <a:stretch xmlns:a="http://schemas.openxmlformats.org/drawingml/2006/main">
            <a:fillRect l="0" t="0" r="0" b="0"/>
          </a:stretch>
        </p:blipFill>
        <p:spPr>
          <a:xfrm xmlns:a="http://schemas.openxmlformats.org/drawingml/2006/main">
            <a:off x="8068465" y="3835301"/>
            <a:ext cx="3468005" cy="602456"/>
          </a:xfrm>
          <a:prstGeom xmlns:a="http://schemas.openxmlformats.org/drawingml/2006/main" prst="rect">
            <a:avLst/>
          </a:prstGeom>
        </p:spPr>
      </p:pic>
      <p:sp>
        <p:nvSpPr>
          <p:cNvPr id="16" name="Text 8">
            <a:extLst xmlns:a="http://schemas.openxmlformats.org/drawingml/2006/main">
              <a:ext uri="{FF2B5EF4-FFF2-40B4-BE49-F238E27FC236}">
                <a16:creationId xmlns:a16="http://schemas.microsoft.com/office/drawing/2014/main" id="{82976A9E-A99A-47E8-B105-9AAEAEED3FD1}"/>
              </a:ext>
            </a:extLst>
          </p:cNvPr>
          <p:cNvSpPr>
            <a:spLocks xmlns:a="http://schemas.openxmlformats.org/drawingml/2006/main" noGrp="1"/>
          </p:cNvSpPr>
          <p:nvPr/>
        </p:nvSpPr>
        <p:spPr>
          <a:xfrm xmlns:a="http://schemas.openxmlformats.org/drawingml/2006/main">
            <a:off x="8219076" y="4557713"/>
            <a:ext cx="3166785" cy="23534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450">
                <a:solidFill>
                  <a:srgbClr val="3C3939"/>
                </a:solidFill>
                <a:latin typeface="Raleway"/>
                <a:ea typeface="Raleway"/>
                <a:cs typeface="Raleway"/>
              </a:rPr>
              <a:t>Tasks</a:t>
            </a:r>
            <a:endParaRPr sz="1450"/>
          </a:p>
        </p:txBody>
      </p:sp>
      <p:pic>
        <p:nvPicPr>
          <p:cNvPr id="41" name="Image 6"/>
          <p:cNvPicPr>
            <a:picLocks xmlns:a="http://schemas.openxmlformats.org/drawingml/2006/main" noChangeAspect="1"/>
          </p:cNvPicPr>
          <p:nvPr/>
        </p:nvPicPr>
        <p:blipFill>
          <a:blip xmlns:r="http://schemas.openxmlformats.org/officeDocument/2006/relationships" xmlns:a="http://schemas.openxmlformats.org/drawingml/2006/main" r:embed="Rf1e8781abf374741"/>
          <a:stretch xmlns:a="http://schemas.openxmlformats.org/drawingml/2006/main">
            <a:fillRect l="0" t="0" r="0" b="0"/>
          </a:stretch>
        </p:blipFill>
        <p:spPr>
          <a:xfrm xmlns:a="http://schemas.openxmlformats.org/drawingml/2006/main">
            <a:off x="4600460" y="4943673"/>
            <a:ext cx="3468005" cy="602456"/>
          </a:xfrm>
          <a:prstGeom xmlns:a="http://schemas.openxmlformats.org/drawingml/2006/main" prst="rect">
            <a:avLst/>
          </a:prstGeom>
        </p:spPr>
      </p:pic>
      <p:sp>
        <p:nvSpPr>
          <p:cNvPr id="18" name="Text 9">
            <a:extLst xmlns:a="http://schemas.openxmlformats.org/drawingml/2006/main">
              <a:ext uri="{FF2B5EF4-FFF2-40B4-BE49-F238E27FC236}">
                <a16:creationId xmlns:a16="http://schemas.microsoft.com/office/drawing/2014/main" id="{E35350B3-8518-4B3E-BC63-53C8840061F6}"/>
              </a:ext>
            </a:extLst>
          </p:cNvPr>
          <p:cNvSpPr>
            <a:spLocks xmlns:a="http://schemas.openxmlformats.org/drawingml/2006/main" noGrp="1"/>
          </p:cNvSpPr>
          <p:nvPr/>
        </p:nvSpPr>
        <p:spPr>
          <a:xfrm xmlns:a="http://schemas.openxmlformats.org/drawingml/2006/main">
            <a:off x="4751070" y="5666085"/>
            <a:ext cx="3166785" cy="23534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450">
                <a:solidFill>
                  <a:srgbClr val="3C3939"/>
                </a:solidFill>
                <a:latin typeface="Raleway"/>
                <a:ea typeface="Raleway"/>
                <a:cs typeface="Raleway"/>
              </a:rPr>
              <a:t>Implement</a:t>
            </a:r>
            <a:endParaRPr sz="1450"/>
          </a:p>
        </p:txBody>
      </p:sp>
    </p:spTree>
    <p:extLst>
      <p:ext uri="{BB962C8B-B14F-4D97-AF65-F5344CB8AC3E}">
        <p14:creationId xmlns:p14="http://schemas.microsoft.com/office/powerpoint/2010/main" val="257868045"/>
      </p:ext>
    </p:extLst>
  </p:cSld>
</p:sld>
</file>

<file path=ppt/slides/slide4.xml><?xml version="1.0" encoding="utf-8"?>
<p:sld xmlns:p="http://schemas.openxmlformats.org/presentationml/2006/main" showMasterSp="0">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1411925-B7F0-46EA-9DA2-903F0D967C60}"/>
              </a:ext>
            </a:extLst>
          </p:cNvPr>
          <p:cNvSpPr>
            <a:spLocks xmlns:a="http://schemas.openxmlformats.org/drawingml/2006/main" noGrp="1"/>
          </p:cNvSpPr>
          <p:nvPr/>
        </p:nvSpPr>
        <p:spPr>
          <a:xfrm xmlns:a="http://schemas.openxmlformats.org/drawingml/2006/main">
            <a:off x="661475" y="557609"/>
            <a:ext cx="10868745" cy="41533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2600">
                <a:solidFill>
                  <a:srgbClr val="1B1B27"/>
                </a:solidFill>
                <a:latin typeface="Raleway"/>
                <a:ea typeface="Raleway"/>
                <a:cs typeface="Raleway"/>
              </a:rPr>
              <a:t>8 thành phần của một Spec có thể kiểm chứng</a:t>
            </a:r>
            <a:endParaRPr sz="2600"/>
          </a:p>
        </p:txBody>
      </p:sp>
      <p:sp>
        <p:nvSpPr>
          <p:cNvPr id="3" name="Shape 1">
            <a:extLst xmlns:a="http://schemas.openxmlformats.org/drawingml/2006/main">
              <a:ext uri="{FF2B5EF4-FFF2-40B4-BE49-F238E27FC236}">
                <a16:creationId xmlns:a16="http://schemas.microsoft.com/office/drawing/2014/main" id="{3ECA24AD-9BE9-424A-812F-386A0E048DD8}"/>
              </a:ext>
            </a:extLst>
          </p:cNvPr>
          <p:cNvSpPr>
            <a:spLocks xmlns:a="http://schemas.openxmlformats.org/drawingml/2006/main" noGrp="1"/>
          </p:cNvSpPr>
          <p:nvPr/>
        </p:nvSpPr>
        <p:spPr>
          <a:xfrm xmlns:a="http://schemas.openxmlformats.org/drawingml/2006/main">
            <a:off x="661475" y="1159768"/>
            <a:ext cx="5387642" cy="1215132"/>
          </a:xfrm>
          <a:prstGeom xmlns:a="http://schemas.openxmlformats.org/drawingml/2006/main" prst="roundRect">
            <a:avLst>
              <a:gd name="adj" fmla="val 4594"/>
            </a:avLst>
          </a:prstGeom>
          <a:solidFill xmlns:a="http://schemas.openxmlformats.org/drawingml/2006/main">
            <a:srgbClr val="E1E1EA"/>
          </a:solidFill>
          <a:ln xmlns:a="http://schemas.openxmlformats.org/drawingml/2006/main" w="6350">
            <a:solidFill>
              <a:srgbClr val="C7C7D0"/>
            </a:solidFill>
            <a:prstDash val="solid"/>
          </a:ln>
        </p:spPr>
      </p:sp>
      <p:sp>
        <p:nvSpPr>
          <p:cNvPr id="4" name="Shape 2">
            <a:extLst xmlns:a="http://schemas.openxmlformats.org/drawingml/2006/main">
              <a:ext uri="{FF2B5EF4-FFF2-40B4-BE49-F238E27FC236}">
                <a16:creationId xmlns:a16="http://schemas.microsoft.com/office/drawing/2014/main" id="{870BC90A-E7BA-4691-A168-609A82D01D56}"/>
              </a:ext>
            </a:extLst>
          </p:cNvPr>
          <p:cNvSpPr>
            <a:spLocks xmlns:a="http://schemas.openxmlformats.org/drawingml/2006/main" noGrp="1"/>
          </p:cNvSpPr>
          <p:nvPr/>
        </p:nvSpPr>
        <p:spPr>
          <a:xfrm xmlns:a="http://schemas.openxmlformats.org/drawingml/2006/main">
            <a:off x="800675" y="1298972"/>
            <a:ext cx="398651" cy="398661"/>
          </a:xfrm>
          <a:prstGeom xmlns:a="http://schemas.openxmlformats.org/drawingml/2006/main" prst="ellipse">
            <a:avLst/>
          </a:prstGeom>
          <a:solidFill xmlns:a="http://schemas.openxmlformats.org/drawingml/2006/main">
            <a:srgbClr val="1B1B27"/>
          </a:solidFill>
        </p:spPr>
      </p:sp>
      <p:pic>
        <p:nvPicPr>
          <p:cNvPr id="54" name="Image 0"/>
          <p:cNvPicPr>
            <a:picLocks xmlns:a="http://schemas.openxmlformats.org/drawingml/2006/main" noChangeAspect="1"/>
          </p:cNvPicPr>
          <p:nvPr/>
        </p:nvPicPr>
        <p:blipFill>
          <a:blip xmlns:r="http://schemas.openxmlformats.org/officeDocument/2006/relationships" xmlns:a="http://schemas.openxmlformats.org/drawingml/2006/main" r:embed="Rce6c805ffbc4452e">
            <a:extLst>
              <a:ext uri="{96DAC541-7B7A-43D3-8B79-37D633B846F1}">
                <asvg:svgBlip xmlns:asvg="http://schemas.microsoft.com/office/drawing/2016/SVG/main" r:embed="R3ce07137e7ed48ea"/>
              </a:ext>
            </a:extLst>
          </a:blip>
          <a:stretch xmlns:a="http://schemas.openxmlformats.org/drawingml/2006/main">
            <a:fillRect l="0" t="0" r="0" b="0"/>
          </a:stretch>
        </p:blipFill>
        <p:spPr>
          <a:xfrm xmlns:a="http://schemas.openxmlformats.org/drawingml/2006/main">
            <a:off x="910309" y="1408609"/>
            <a:ext cx="179383" cy="179388"/>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F096BF91-AD58-4242-9433-213A34F50A99}"/>
              </a:ext>
            </a:extLst>
          </p:cNvPr>
          <p:cNvSpPr>
            <a:spLocks xmlns:a="http://schemas.openxmlformats.org/drawingml/2006/main" noGrp="1"/>
          </p:cNvSpPr>
          <p:nvPr/>
        </p:nvSpPr>
        <p:spPr>
          <a:xfrm xmlns:a="http://schemas.openxmlformats.org/drawingml/2006/main">
            <a:off x="800675" y="1790998"/>
            <a:ext cx="5109241" cy="20756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00">
                <a:solidFill>
                  <a:srgbClr val="3C3939"/>
                </a:solidFill>
                <a:latin typeface="Raleway"/>
                <a:ea typeface="Raleway"/>
                <a:cs typeface="Raleway"/>
              </a:rPr>
              <a:t>Bối cảnh và mục tiêu</a:t>
            </a:r>
            <a:endParaRPr sz="1300"/>
          </a:p>
        </p:txBody>
      </p:sp>
      <p:sp>
        <p:nvSpPr>
          <p:cNvPr id="7" name="Text 4">
            <a:extLst xmlns:a="http://schemas.openxmlformats.org/drawingml/2006/main">
              <a:ext uri="{FF2B5EF4-FFF2-40B4-BE49-F238E27FC236}">
                <a16:creationId xmlns:a16="http://schemas.microsoft.com/office/drawing/2014/main" id="{5A29C19E-406F-45DE-AD32-948CFFA86D06}"/>
              </a:ext>
            </a:extLst>
          </p:cNvPr>
          <p:cNvSpPr>
            <a:spLocks xmlns:a="http://schemas.openxmlformats.org/drawingml/2006/main" noGrp="1"/>
          </p:cNvSpPr>
          <p:nvPr/>
        </p:nvSpPr>
        <p:spPr>
          <a:xfrm xmlns:a="http://schemas.openxmlformats.org/drawingml/2006/main">
            <a:off x="800675" y="2054622"/>
            <a:ext cx="5109241" cy="18107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4000"/>
              </a:lnSpc>
              <a:buNone/>
            </a:pPr>
            <a:r>
              <a:rPr sz="1000">
                <a:solidFill>
                  <a:srgbClr val="3C3939"/>
                </a:solidFill>
                <a:latin typeface="Roboto"/>
                <a:ea typeface="Roboto"/>
                <a:cs typeface="Roboto"/>
              </a:rPr>
              <a:t>Tính năng giải quyết vấn đề nào?</a:t>
            </a:r>
            <a:endParaRPr sz="1000"/>
          </a:p>
        </p:txBody>
      </p:sp>
      <p:sp>
        <p:nvSpPr>
          <p:cNvPr id="8" name="Shape 5">
            <a:extLst xmlns:a="http://schemas.openxmlformats.org/drawingml/2006/main">
              <a:ext uri="{FF2B5EF4-FFF2-40B4-BE49-F238E27FC236}">
                <a16:creationId xmlns:a16="http://schemas.microsoft.com/office/drawing/2014/main" id="{6B27EBA3-5AC5-46D6-BCD9-65BAAF93E74C}"/>
              </a:ext>
            </a:extLst>
          </p:cNvPr>
          <p:cNvSpPr>
            <a:spLocks xmlns:a="http://schemas.openxmlformats.org/drawingml/2006/main" noGrp="1"/>
          </p:cNvSpPr>
          <p:nvPr/>
        </p:nvSpPr>
        <p:spPr>
          <a:xfrm xmlns:a="http://schemas.openxmlformats.org/drawingml/2006/main">
            <a:off x="6142479" y="1159768"/>
            <a:ext cx="5387741" cy="1215132"/>
          </a:xfrm>
          <a:prstGeom xmlns:a="http://schemas.openxmlformats.org/drawingml/2006/main" prst="roundRect">
            <a:avLst>
              <a:gd name="adj" fmla="val 4594"/>
            </a:avLst>
          </a:prstGeom>
          <a:solidFill xmlns:a="http://schemas.openxmlformats.org/drawingml/2006/main">
            <a:srgbClr val="E1E1EA"/>
          </a:solidFill>
          <a:ln xmlns:a="http://schemas.openxmlformats.org/drawingml/2006/main" w="6350">
            <a:solidFill>
              <a:srgbClr val="C7C7D0"/>
            </a:solidFill>
            <a:prstDash val="solid"/>
          </a:ln>
        </p:spPr>
      </p:sp>
      <p:sp>
        <p:nvSpPr>
          <p:cNvPr id="9" name="Shape 6">
            <a:extLst xmlns:a="http://schemas.openxmlformats.org/drawingml/2006/main">
              <a:ext uri="{FF2B5EF4-FFF2-40B4-BE49-F238E27FC236}">
                <a16:creationId xmlns:a16="http://schemas.microsoft.com/office/drawing/2014/main" id="{D86CFCC2-866D-4C12-BCB5-D85D365CAA72}"/>
              </a:ext>
            </a:extLst>
          </p:cNvPr>
          <p:cNvSpPr>
            <a:spLocks xmlns:a="http://schemas.openxmlformats.org/drawingml/2006/main" noGrp="1"/>
          </p:cNvSpPr>
          <p:nvPr/>
        </p:nvSpPr>
        <p:spPr>
          <a:xfrm xmlns:a="http://schemas.openxmlformats.org/drawingml/2006/main">
            <a:off x="6281680" y="1298972"/>
            <a:ext cx="398651" cy="398661"/>
          </a:xfrm>
          <a:prstGeom xmlns:a="http://schemas.openxmlformats.org/drawingml/2006/main" prst="ellipse">
            <a:avLst/>
          </a:prstGeom>
          <a:solidFill xmlns:a="http://schemas.openxmlformats.org/drawingml/2006/main">
            <a:srgbClr val="1B1B27"/>
          </a:solidFill>
        </p:spPr>
      </p:sp>
      <p:pic>
        <p:nvPicPr>
          <p:cNvPr id="59" name="Image 1"/>
          <p:cNvPicPr>
            <a:picLocks xmlns:a="http://schemas.openxmlformats.org/drawingml/2006/main" noChangeAspect="1"/>
          </p:cNvPicPr>
          <p:nvPr/>
        </p:nvPicPr>
        <p:blipFill>
          <a:blip xmlns:r="http://schemas.openxmlformats.org/officeDocument/2006/relationships" xmlns:a="http://schemas.openxmlformats.org/drawingml/2006/main" r:embed="Rd928a482e3b949b3">
            <a:extLst>
              <a:ext uri="{96DAC541-7B7A-43D3-8B79-37D633B846F1}">
                <asvg:svgBlip xmlns:asvg="http://schemas.microsoft.com/office/drawing/2016/SVG/main" r:embed="Rb4c7c65435e24d59"/>
              </a:ext>
            </a:extLst>
          </a:blip>
          <a:stretch xmlns:a="http://schemas.openxmlformats.org/drawingml/2006/main">
            <a:fillRect l="0" t="0" r="0" b="0"/>
          </a:stretch>
        </p:blipFill>
        <p:spPr>
          <a:xfrm xmlns:a="http://schemas.openxmlformats.org/drawingml/2006/main">
            <a:off x="6391314" y="1408609"/>
            <a:ext cx="179383" cy="179388"/>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14007288-2237-49D0-B8C2-E5B26391CDFA}"/>
              </a:ext>
            </a:extLst>
          </p:cNvPr>
          <p:cNvSpPr>
            <a:spLocks xmlns:a="http://schemas.openxmlformats.org/drawingml/2006/main" noGrp="1"/>
          </p:cNvSpPr>
          <p:nvPr/>
        </p:nvSpPr>
        <p:spPr>
          <a:xfrm xmlns:a="http://schemas.openxmlformats.org/drawingml/2006/main">
            <a:off x="6281680" y="1790998"/>
            <a:ext cx="5109340" cy="20756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00">
                <a:solidFill>
                  <a:srgbClr val="3C3939"/>
                </a:solidFill>
                <a:latin typeface="Raleway"/>
                <a:ea typeface="Raleway"/>
                <a:cs typeface="Raleway"/>
              </a:rPr>
              <a:t>Tác nhân và quyền</a:t>
            </a:r>
            <a:endParaRPr sz="1300"/>
          </a:p>
        </p:txBody>
      </p:sp>
      <p:sp>
        <p:nvSpPr>
          <p:cNvPr id="12" name="Text 8">
            <a:extLst xmlns:a="http://schemas.openxmlformats.org/drawingml/2006/main">
              <a:ext uri="{FF2B5EF4-FFF2-40B4-BE49-F238E27FC236}">
                <a16:creationId xmlns:a16="http://schemas.microsoft.com/office/drawing/2014/main" id="{BAB7E8DE-3EB7-4AC3-B107-34F94BFF304E}"/>
              </a:ext>
            </a:extLst>
          </p:cNvPr>
          <p:cNvSpPr>
            <a:spLocks xmlns:a="http://schemas.openxmlformats.org/drawingml/2006/main" noGrp="1"/>
          </p:cNvSpPr>
          <p:nvPr/>
        </p:nvSpPr>
        <p:spPr>
          <a:xfrm xmlns:a="http://schemas.openxmlformats.org/drawingml/2006/main">
            <a:off x="6281680" y="2054622"/>
            <a:ext cx="5109340" cy="18107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4000"/>
              </a:lnSpc>
              <a:buNone/>
            </a:pPr>
            <a:r>
              <a:rPr sz="1000">
                <a:solidFill>
                  <a:srgbClr val="3C3939"/>
                </a:solidFill>
                <a:latin typeface="Roboto"/>
                <a:ea typeface="Roboto"/>
                <a:cs typeface="Roboto"/>
              </a:rPr>
              <a:t>Ai thao tác và được phép làm gì?</a:t>
            </a:r>
            <a:endParaRPr sz="1000"/>
          </a:p>
        </p:txBody>
      </p:sp>
      <p:sp>
        <p:nvSpPr>
          <p:cNvPr id="13" name="Shape 9">
            <a:extLst xmlns:a="http://schemas.openxmlformats.org/drawingml/2006/main">
              <a:ext uri="{FF2B5EF4-FFF2-40B4-BE49-F238E27FC236}">
                <a16:creationId xmlns:a16="http://schemas.microsoft.com/office/drawing/2014/main" id="{C042ACCF-DBF0-4FDA-B1F8-240F4DD5A763}"/>
              </a:ext>
            </a:extLst>
          </p:cNvPr>
          <p:cNvSpPr>
            <a:spLocks xmlns:a="http://schemas.openxmlformats.org/drawingml/2006/main" noGrp="1"/>
          </p:cNvSpPr>
          <p:nvPr/>
        </p:nvSpPr>
        <p:spPr>
          <a:xfrm xmlns:a="http://schemas.openxmlformats.org/drawingml/2006/main">
            <a:off x="661475" y="2468265"/>
            <a:ext cx="5387642" cy="1215132"/>
          </a:xfrm>
          <a:prstGeom xmlns:a="http://schemas.openxmlformats.org/drawingml/2006/main" prst="roundRect">
            <a:avLst>
              <a:gd name="adj" fmla="val 4594"/>
            </a:avLst>
          </a:prstGeom>
          <a:solidFill xmlns:a="http://schemas.openxmlformats.org/drawingml/2006/main">
            <a:srgbClr val="E1E1EA"/>
          </a:solidFill>
          <a:ln xmlns:a="http://schemas.openxmlformats.org/drawingml/2006/main" w="6350">
            <a:solidFill>
              <a:srgbClr val="C7C7D0"/>
            </a:solidFill>
            <a:prstDash val="solid"/>
          </a:ln>
        </p:spPr>
      </p:sp>
      <p:sp>
        <p:nvSpPr>
          <p:cNvPr id="14" name="Shape 10">
            <a:extLst xmlns:a="http://schemas.openxmlformats.org/drawingml/2006/main">
              <a:ext uri="{FF2B5EF4-FFF2-40B4-BE49-F238E27FC236}">
                <a16:creationId xmlns:a16="http://schemas.microsoft.com/office/drawing/2014/main" id="{787DCE8F-AEBA-4DD5-9298-3320A8A21346}"/>
              </a:ext>
            </a:extLst>
          </p:cNvPr>
          <p:cNvSpPr>
            <a:spLocks xmlns:a="http://schemas.openxmlformats.org/drawingml/2006/main" noGrp="1"/>
          </p:cNvSpPr>
          <p:nvPr/>
        </p:nvSpPr>
        <p:spPr>
          <a:xfrm xmlns:a="http://schemas.openxmlformats.org/drawingml/2006/main">
            <a:off x="800675" y="2607469"/>
            <a:ext cx="398651" cy="398661"/>
          </a:xfrm>
          <a:prstGeom xmlns:a="http://schemas.openxmlformats.org/drawingml/2006/main" prst="ellipse">
            <a:avLst/>
          </a:prstGeom>
          <a:solidFill xmlns:a="http://schemas.openxmlformats.org/drawingml/2006/main">
            <a:srgbClr val="1B1B27"/>
          </a:solidFill>
        </p:spPr>
      </p:sp>
      <p:pic>
        <p:nvPicPr>
          <p:cNvPr id="64" name="Image 2"/>
          <p:cNvPicPr>
            <a:picLocks xmlns:a="http://schemas.openxmlformats.org/drawingml/2006/main" noChangeAspect="1"/>
          </p:cNvPicPr>
          <p:nvPr/>
        </p:nvPicPr>
        <p:blipFill>
          <a:blip xmlns:r="http://schemas.openxmlformats.org/officeDocument/2006/relationships" xmlns:a="http://schemas.openxmlformats.org/drawingml/2006/main" r:embed="R90b2e15c2b1546b8">
            <a:extLst>
              <a:ext uri="{96DAC541-7B7A-43D3-8B79-37D633B846F1}">
                <asvg:svgBlip xmlns:asvg="http://schemas.microsoft.com/office/drawing/2016/SVG/main" r:embed="R5ebb38bb85c943fc"/>
              </a:ext>
            </a:extLst>
          </a:blip>
          <a:stretch xmlns:a="http://schemas.openxmlformats.org/drawingml/2006/main">
            <a:fillRect l="0" t="0" r="0" b="0"/>
          </a:stretch>
        </p:blipFill>
        <p:spPr>
          <a:xfrm xmlns:a="http://schemas.openxmlformats.org/drawingml/2006/main">
            <a:off x="910309" y="2717105"/>
            <a:ext cx="179383" cy="179388"/>
          </a:xfrm>
          <a:prstGeom xmlns:a="http://schemas.openxmlformats.org/drawingml/2006/main" prst="rect">
            <a:avLst/>
          </a:prstGeom>
        </p:spPr>
      </p:pic>
      <p:sp>
        <p:nvSpPr>
          <p:cNvPr id="16" name="Text 11">
            <a:extLst xmlns:a="http://schemas.openxmlformats.org/drawingml/2006/main">
              <a:ext uri="{FF2B5EF4-FFF2-40B4-BE49-F238E27FC236}">
                <a16:creationId xmlns:a16="http://schemas.microsoft.com/office/drawing/2014/main" id="{79743359-EDF6-48F4-A6BE-6BC783C78D7B}"/>
              </a:ext>
            </a:extLst>
          </p:cNvPr>
          <p:cNvSpPr>
            <a:spLocks xmlns:a="http://schemas.openxmlformats.org/drawingml/2006/main" noGrp="1"/>
          </p:cNvSpPr>
          <p:nvPr/>
        </p:nvSpPr>
        <p:spPr>
          <a:xfrm xmlns:a="http://schemas.openxmlformats.org/drawingml/2006/main">
            <a:off x="800675" y="3099495"/>
            <a:ext cx="5109241" cy="20756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00">
                <a:solidFill>
                  <a:srgbClr val="3C3939"/>
                </a:solidFill>
                <a:latin typeface="Raleway"/>
                <a:ea typeface="Raleway"/>
                <a:cs typeface="Raleway"/>
              </a:rPr>
              <a:t>Yêu cầu chức năng</a:t>
            </a:r>
            <a:endParaRPr sz="1300"/>
          </a:p>
        </p:txBody>
      </p:sp>
      <p:sp>
        <p:nvSpPr>
          <p:cNvPr id="17" name="Text 12">
            <a:extLst xmlns:a="http://schemas.openxmlformats.org/drawingml/2006/main">
              <a:ext uri="{FF2B5EF4-FFF2-40B4-BE49-F238E27FC236}">
                <a16:creationId xmlns:a16="http://schemas.microsoft.com/office/drawing/2014/main" id="{315FC752-4D34-4CED-AF24-C86CCF1C1EB4}"/>
              </a:ext>
            </a:extLst>
          </p:cNvPr>
          <p:cNvSpPr>
            <a:spLocks xmlns:a="http://schemas.openxmlformats.org/drawingml/2006/main" noGrp="1"/>
          </p:cNvSpPr>
          <p:nvPr/>
        </p:nvSpPr>
        <p:spPr>
          <a:xfrm xmlns:a="http://schemas.openxmlformats.org/drawingml/2006/main">
            <a:off x="800675" y="3363119"/>
            <a:ext cx="5109241" cy="18107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4000"/>
              </a:lnSpc>
              <a:buNone/>
            </a:pPr>
            <a:r>
              <a:rPr sz="1000">
                <a:solidFill>
                  <a:srgbClr val="3C3939"/>
                </a:solidFill>
                <a:latin typeface="Roboto"/>
                <a:ea typeface="Roboto"/>
                <a:cs typeface="Roboto"/>
              </a:rPr>
              <a:t>Hệ thống phải làm gì?</a:t>
            </a:r>
            <a:endParaRPr sz="1000"/>
          </a:p>
        </p:txBody>
      </p:sp>
      <p:sp>
        <p:nvSpPr>
          <p:cNvPr id="18" name="Shape 13">
            <a:extLst xmlns:a="http://schemas.openxmlformats.org/drawingml/2006/main">
              <a:ext uri="{FF2B5EF4-FFF2-40B4-BE49-F238E27FC236}">
                <a16:creationId xmlns:a16="http://schemas.microsoft.com/office/drawing/2014/main" id="{6023F3AA-65E5-482E-A185-8EFBFB7A6488}"/>
              </a:ext>
            </a:extLst>
          </p:cNvPr>
          <p:cNvSpPr>
            <a:spLocks xmlns:a="http://schemas.openxmlformats.org/drawingml/2006/main" noGrp="1"/>
          </p:cNvSpPr>
          <p:nvPr/>
        </p:nvSpPr>
        <p:spPr>
          <a:xfrm xmlns:a="http://schemas.openxmlformats.org/drawingml/2006/main">
            <a:off x="6142479" y="2468265"/>
            <a:ext cx="5387741" cy="1215132"/>
          </a:xfrm>
          <a:prstGeom xmlns:a="http://schemas.openxmlformats.org/drawingml/2006/main" prst="roundRect">
            <a:avLst>
              <a:gd name="adj" fmla="val 4594"/>
            </a:avLst>
          </a:prstGeom>
          <a:solidFill xmlns:a="http://schemas.openxmlformats.org/drawingml/2006/main">
            <a:srgbClr val="E1E1EA"/>
          </a:solidFill>
          <a:ln xmlns:a="http://schemas.openxmlformats.org/drawingml/2006/main" w="6350">
            <a:solidFill>
              <a:srgbClr val="C7C7D0"/>
            </a:solidFill>
            <a:prstDash val="solid"/>
          </a:ln>
        </p:spPr>
      </p:sp>
      <p:sp>
        <p:nvSpPr>
          <p:cNvPr id="19" name="Shape 14">
            <a:extLst xmlns:a="http://schemas.openxmlformats.org/drawingml/2006/main">
              <a:ext uri="{FF2B5EF4-FFF2-40B4-BE49-F238E27FC236}">
                <a16:creationId xmlns:a16="http://schemas.microsoft.com/office/drawing/2014/main" id="{D2A4A530-8925-4C14-97A9-71D0548FD556}"/>
              </a:ext>
            </a:extLst>
          </p:cNvPr>
          <p:cNvSpPr>
            <a:spLocks xmlns:a="http://schemas.openxmlformats.org/drawingml/2006/main" noGrp="1"/>
          </p:cNvSpPr>
          <p:nvPr/>
        </p:nvSpPr>
        <p:spPr>
          <a:xfrm xmlns:a="http://schemas.openxmlformats.org/drawingml/2006/main">
            <a:off x="6281680" y="2607469"/>
            <a:ext cx="398651" cy="398661"/>
          </a:xfrm>
          <a:prstGeom xmlns:a="http://schemas.openxmlformats.org/drawingml/2006/main" prst="ellipse">
            <a:avLst/>
          </a:prstGeom>
          <a:solidFill xmlns:a="http://schemas.openxmlformats.org/drawingml/2006/main">
            <a:srgbClr val="1B1B27"/>
          </a:solidFill>
        </p:spPr>
      </p:sp>
      <p:pic>
        <p:nvPicPr>
          <p:cNvPr id="69" name="Image 3"/>
          <p:cNvPicPr>
            <a:picLocks xmlns:a="http://schemas.openxmlformats.org/drawingml/2006/main" noChangeAspect="1"/>
          </p:cNvPicPr>
          <p:nvPr/>
        </p:nvPicPr>
        <p:blipFill>
          <a:blip xmlns:r="http://schemas.openxmlformats.org/officeDocument/2006/relationships" xmlns:a="http://schemas.openxmlformats.org/drawingml/2006/main" r:embed="R31f975018cbf4a84">
            <a:extLst>
              <a:ext uri="{96DAC541-7B7A-43D3-8B79-37D633B846F1}">
                <asvg:svgBlip xmlns:asvg="http://schemas.microsoft.com/office/drawing/2016/SVG/main" r:embed="R04656dcd34df4846"/>
              </a:ext>
            </a:extLst>
          </a:blip>
          <a:stretch xmlns:a="http://schemas.openxmlformats.org/drawingml/2006/main">
            <a:fillRect l="0" t="0" r="0" b="0"/>
          </a:stretch>
        </p:blipFill>
        <p:spPr>
          <a:xfrm xmlns:a="http://schemas.openxmlformats.org/drawingml/2006/main">
            <a:off x="6391314" y="2717105"/>
            <a:ext cx="179383" cy="179388"/>
          </a:xfrm>
          <a:prstGeom xmlns:a="http://schemas.openxmlformats.org/drawingml/2006/main" prst="rect">
            <a:avLst/>
          </a:prstGeom>
        </p:spPr>
      </p:pic>
      <p:sp>
        <p:nvSpPr>
          <p:cNvPr id="21" name="Text 15">
            <a:extLst xmlns:a="http://schemas.openxmlformats.org/drawingml/2006/main">
              <a:ext uri="{FF2B5EF4-FFF2-40B4-BE49-F238E27FC236}">
                <a16:creationId xmlns:a16="http://schemas.microsoft.com/office/drawing/2014/main" id="{03EEC9BE-6592-4C16-B0C1-8090787510B5}"/>
              </a:ext>
            </a:extLst>
          </p:cNvPr>
          <p:cNvSpPr>
            <a:spLocks xmlns:a="http://schemas.openxmlformats.org/drawingml/2006/main" noGrp="1"/>
          </p:cNvSpPr>
          <p:nvPr/>
        </p:nvSpPr>
        <p:spPr>
          <a:xfrm xmlns:a="http://schemas.openxmlformats.org/drawingml/2006/main">
            <a:off x="6281680" y="3099495"/>
            <a:ext cx="5109340" cy="20756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00">
                <a:solidFill>
                  <a:srgbClr val="3C3939"/>
                </a:solidFill>
                <a:latin typeface="Raleway"/>
                <a:ea typeface="Raleway"/>
                <a:cs typeface="Raleway"/>
              </a:rPr>
              <a:t>Yêu cầu phi chức năng</a:t>
            </a:r>
            <a:endParaRPr sz="1300"/>
          </a:p>
        </p:txBody>
      </p:sp>
      <p:sp>
        <p:nvSpPr>
          <p:cNvPr id="22" name="Text 16">
            <a:extLst xmlns:a="http://schemas.openxmlformats.org/drawingml/2006/main">
              <a:ext uri="{FF2B5EF4-FFF2-40B4-BE49-F238E27FC236}">
                <a16:creationId xmlns:a16="http://schemas.microsoft.com/office/drawing/2014/main" id="{1558C17B-891B-4B91-A063-1A22527ED134}"/>
              </a:ext>
            </a:extLst>
          </p:cNvPr>
          <p:cNvSpPr>
            <a:spLocks xmlns:a="http://schemas.openxmlformats.org/drawingml/2006/main" noGrp="1"/>
          </p:cNvSpPr>
          <p:nvPr/>
        </p:nvSpPr>
        <p:spPr>
          <a:xfrm xmlns:a="http://schemas.openxmlformats.org/drawingml/2006/main">
            <a:off x="6281680" y="3363119"/>
            <a:ext cx="5109340" cy="18107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4000"/>
              </a:lnSpc>
              <a:buNone/>
            </a:pPr>
            <a:r>
              <a:rPr sz="1000">
                <a:solidFill>
                  <a:srgbClr val="3C3939"/>
                </a:solidFill>
                <a:latin typeface="Roboto"/>
                <a:ea typeface="Roboto"/>
                <a:cs typeface="Roboto"/>
              </a:rPr>
              <a:t>Mức chất lượng cần đạt là gì?</a:t>
            </a:r>
            <a:endParaRPr sz="1000"/>
          </a:p>
        </p:txBody>
      </p:sp>
      <p:sp>
        <p:nvSpPr>
          <p:cNvPr id="23" name="Shape 17">
            <a:extLst xmlns:a="http://schemas.openxmlformats.org/drawingml/2006/main">
              <a:ext uri="{FF2B5EF4-FFF2-40B4-BE49-F238E27FC236}">
                <a16:creationId xmlns:a16="http://schemas.microsoft.com/office/drawing/2014/main" id="{5EC0D370-A25E-4413-9B40-20657CB15638}"/>
              </a:ext>
            </a:extLst>
          </p:cNvPr>
          <p:cNvSpPr>
            <a:spLocks xmlns:a="http://schemas.openxmlformats.org/drawingml/2006/main" noGrp="1"/>
          </p:cNvSpPr>
          <p:nvPr/>
        </p:nvSpPr>
        <p:spPr>
          <a:xfrm xmlns:a="http://schemas.openxmlformats.org/drawingml/2006/main">
            <a:off x="661475" y="3776762"/>
            <a:ext cx="5387642" cy="1215132"/>
          </a:xfrm>
          <a:prstGeom xmlns:a="http://schemas.openxmlformats.org/drawingml/2006/main" prst="roundRect">
            <a:avLst>
              <a:gd name="adj" fmla="val 4594"/>
            </a:avLst>
          </a:prstGeom>
          <a:solidFill xmlns:a="http://schemas.openxmlformats.org/drawingml/2006/main">
            <a:srgbClr val="E1E1EA"/>
          </a:solidFill>
          <a:ln xmlns:a="http://schemas.openxmlformats.org/drawingml/2006/main" w="6350">
            <a:solidFill>
              <a:srgbClr val="C7C7D0"/>
            </a:solidFill>
            <a:prstDash val="solid"/>
          </a:ln>
        </p:spPr>
      </p:sp>
      <p:sp>
        <p:nvSpPr>
          <p:cNvPr id="24" name="Shape 18">
            <a:extLst xmlns:a="http://schemas.openxmlformats.org/drawingml/2006/main">
              <a:ext uri="{FF2B5EF4-FFF2-40B4-BE49-F238E27FC236}">
                <a16:creationId xmlns:a16="http://schemas.microsoft.com/office/drawing/2014/main" id="{1438BC33-E781-4C72-9F45-42986DB8247C}"/>
              </a:ext>
            </a:extLst>
          </p:cNvPr>
          <p:cNvSpPr>
            <a:spLocks xmlns:a="http://schemas.openxmlformats.org/drawingml/2006/main" noGrp="1"/>
          </p:cNvSpPr>
          <p:nvPr/>
        </p:nvSpPr>
        <p:spPr>
          <a:xfrm xmlns:a="http://schemas.openxmlformats.org/drawingml/2006/main">
            <a:off x="800675" y="3915966"/>
            <a:ext cx="398651" cy="398661"/>
          </a:xfrm>
          <a:prstGeom xmlns:a="http://schemas.openxmlformats.org/drawingml/2006/main" prst="ellipse">
            <a:avLst/>
          </a:prstGeom>
          <a:solidFill xmlns:a="http://schemas.openxmlformats.org/drawingml/2006/main">
            <a:srgbClr val="1B1B27"/>
          </a:solidFill>
        </p:spPr>
      </p:sp>
      <p:pic>
        <p:nvPicPr>
          <p:cNvPr id="74" name="Image 4"/>
          <p:cNvPicPr>
            <a:picLocks xmlns:a="http://schemas.openxmlformats.org/drawingml/2006/main" noChangeAspect="1"/>
          </p:cNvPicPr>
          <p:nvPr/>
        </p:nvPicPr>
        <p:blipFill>
          <a:blip xmlns:r="http://schemas.openxmlformats.org/officeDocument/2006/relationships" xmlns:a="http://schemas.openxmlformats.org/drawingml/2006/main" r:embed="Re8afa192bf0441c5">
            <a:extLst>
              <a:ext uri="{96DAC541-7B7A-43D3-8B79-37D633B846F1}">
                <asvg:svgBlip xmlns:asvg="http://schemas.microsoft.com/office/drawing/2016/SVG/main" r:embed="R9d0f7f44205d4074"/>
              </a:ext>
            </a:extLst>
          </a:blip>
          <a:stretch xmlns:a="http://schemas.openxmlformats.org/drawingml/2006/main">
            <a:fillRect l="0" t="0" r="0" b="0"/>
          </a:stretch>
        </p:blipFill>
        <p:spPr>
          <a:xfrm xmlns:a="http://schemas.openxmlformats.org/drawingml/2006/main">
            <a:off x="910309" y="4025602"/>
            <a:ext cx="179383" cy="179388"/>
          </a:xfrm>
          <a:prstGeom xmlns:a="http://schemas.openxmlformats.org/drawingml/2006/main" prst="rect">
            <a:avLst/>
          </a:prstGeom>
        </p:spPr>
      </p:pic>
      <p:sp>
        <p:nvSpPr>
          <p:cNvPr id="26" name="Text 19">
            <a:extLst xmlns:a="http://schemas.openxmlformats.org/drawingml/2006/main">
              <a:ext uri="{FF2B5EF4-FFF2-40B4-BE49-F238E27FC236}">
                <a16:creationId xmlns:a16="http://schemas.microsoft.com/office/drawing/2014/main" id="{4EA09CE0-336E-4B3C-9E49-66973C7AF2C2}"/>
              </a:ext>
            </a:extLst>
          </p:cNvPr>
          <p:cNvSpPr>
            <a:spLocks xmlns:a="http://schemas.openxmlformats.org/drawingml/2006/main" noGrp="1"/>
          </p:cNvSpPr>
          <p:nvPr/>
        </p:nvSpPr>
        <p:spPr>
          <a:xfrm xmlns:a="http://schemas.openxmlformats.org/drawingml/2006/main">
            <a:off x="800675" y="4407991"/>
            <a:ext cx="5109241" cy="20756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00">
                <a:solidFill>
                  <a:srgbClr val="3C3939"/>
                </a:solidFill>
                <a:latin typeface="Raleway"/>
                <a:ea typeface="Raleway"/>
                <a:cs typeface="Raleway"/>
              </a:rPr>
              <a:t>Dữ liệu</a:t>
            </a:r>
            <a:endParaRPr sz="1300"/>
          </a:p>
        </p:txBody>
      </p:sp>
      <p:sp>
        <p:nvSpPr>
          <p:cNvPr id="27" name="Text 20">
            <a:extLst xmlns:a="http://schemas.openxmlformats.org/drawingml/2006/main">
              <a:ext uri="{FF2B5EF4-FFF2-40B4-BE49-F238E27FC236}">
                <a16:creationId xmlns:a16="http://schemas.microsoft.com/office/drawing/2014/main" id="{EF507FFD-A8C5-453B-A7A4-E4FB76A29648}"/>
              </a:ext>
            </a:extLst>
          </p:cNvPr>
          <p:cNvSpPr>
            <a:spLocks xmlns:a="http://schemas.openxmlformats.org/drawingml/2006/main" noGrp="1"/>
          </p:cNvSpPr>
          <p:nvPr/>
        </p:nvSpPr>
        <p:spPr>
          <a:xfrm xmlns:a="http://schemas.openxmlformats.org/drawingml/2006/main">
            <a:off x="800675" y="4671616"/>
            <a:ext cx="5109241" cy="18107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4000"/>
              </a:lnSpc>
              <a:buNone/>
            </a:pPr>
            <a:r>
              <a:rPr sz="1000">
                <a:solidFill>
                  <a:srgbClr val="3C3939"/>
                </a:solidFill>
                <a:latin typeface="Roboto"/>
                <a:ea typeface="Roboto"/>
                <a:cs typeface="Roboto"/>
              </a:rPr>
              <a:t>Cấu trúc và vòng đời dữ liệu ra sao?</a:t>
            </a:r>
            <a:endParaRPr sz="1000"/>
          </a:p>
        </p:txBody>
      </p:sp>
      <p:sp>
        <p:nvSpPr>
          <p:cNvPr id="28" name="Shape 21">
            <a:extLst xmlns:a="http://schemas.openxmlformats.org/drawingml/2006/main">
              <a:ext uri="{FF2B5EF4-FFF2-40B4-BE49-F238E27FC236}">
                <a16:creationId xmlns:a16="http://schemas.microsoft.com/office/drawing/2014/main" id="{145AF2B8-9793-4937-B3B2-A051F8DC149A}"/>
              </a:ext>
            </a:extLst>
          </p:cNvPr>
          <p:cNvSpPr>
            <a:spLocks xmlns:a="http://schemas.openxmlformats.org/drawingml/2006/main" noGrp="1"/>
          </p:cNvSpPr>
          <p:nvPr/>
        </p:nvSpPr>
        <p:spPr>
          <a:xfrm xmlns:a="http://schemas.openxmlformats.org/drawingml/2006/main">
            <a:off x="6142479" y="3776762"/>
            <a:ext cx="5387741" cy="1215132"/>
          </a:xfrm>
          <a:prstGeom xmlns:a="http://schemas.openxmlformats.org/drawingml/2006/main" prst="roundRect">
            <a:avLst>
              <a:gd name="adj" fmla="val 4594"/>
            </a:avLst>
          </a:prstGeom>
          <a:solidFill xmlns:a="http://schemas.openxmlformats.org/drawingml/2006/main">
            <a:srgbClr val="E1E1EA"/>
          </a:solidFill>
          <a:ln xmlns:a="http://schemas.openxmlformats.org/drawingml/2006/main" w="6350">
            <a:solidFill>
              <a:srgbClr val="C7C7D0"/>
            </a:solidFill>
            <a:prstDash val="solid"/>
          </a:ln>
        </p:spPr>
      </p:sp>
      <p:sp>
        <p:nvSpPr>
          <p:cNvPr id="29" name="Shape 22">
            <a:extLst xmlns:a="http://schemas.openxmlformats.org/drawingml/2006/main">
              <a:ext uri="{FF2B5EF4-FFF2-40B4-BE49-F238E27FC236}">
                <a16:creationId xmlns:a16="http://schemas.microsoft.com/office/drawing/2014/main" id="{A34C1AEC-2A20-47D5-BFA0-8D785C3C5C45}"/>
              </a:ext>
            </a:extLst>
          </p:cNvPr>
          <p:cNvSpPr>
            <a:spLocks xmlns:a="http://schemas.openxmlformats.org/drawingml/2006/main" noGrp="1"/>
          </p:cNvSpPr>
          <p:nvPr/>
        </p:nvSpPr>
        <p:spPr>
          <a:xfrm xmlns:a="http://schemas.openxmlformats.org/drawingml/2006/main">
            <a:off x="6281680" y="3915966"/>
            <a:ext cx="398651" cy="398661"/>
          </a:xfrm>
          <a:prstGeom xmlns:a="http://schemas.openxmlformats.org/drawingml/2006/main" prst="ellipse">
            <a:avLst/>
          </a:prstGeom>
          <a:solidFill xmlns:a="http://schemas.openxmlformats.org/drawingml/2006/main">
            <a:srgbClr val="1B1B27"/>
          </a:solidFill>
        </p:spPr>
      </p:sp>
      <p:pic>
        <p:nvPicPr>
          <p:cNvPr id="79" name="Image 5"/>
          <p:cNvPicPr>
            <a:picLocks xmlns:a="http://schemas.openxmlformats.org/drawingml/2006/main" noChangeAspect="1"/>
          </p:cNvPicPr>
          <p:nvPr/>
        </p:nvPicPr>
        <p:blipFill>
          <a:blip xmlns:r="http://schemas.openxmlformats.org/officeDocument/2006/relationships" xmlns:a="http://schemas.openxmlformats.org/drawingml/2006/main" r:embed="R1ebfb45aed9f4bfe">
            <a:extLst>
              <a:ext uri="{96DAC541-7B7A-43D3-8B79-37D633B846F1}">
                <asvg:svgBlip xmlns:asvg="http://schemas.microsoft.com/office/drawing/2016/SVG/main" r:embed="Rbb701b0bd91c41b6"/>
              </a:ext>
            </a:extLst>
          </a:blip>
          <a:stretch xmlns:a="http://schemas.openxmlformats.org/drawingml/2006/main">
            <a:fillRect l="0" t="0" r="0" b="0"/>
          </a:stretch>
        </p:blipFill>
        <p:spPr>
          <a:xfrm xmlns:a="http://schemas.openxmlformats.org/drawingml/2006/main">
            <a:off x="6391314" y="4025602"/>
            <a:ext cx="179383" cy="179388"/>
          </a:xfrm>
          <a:prstGeom xmlns:a="http://schemas.openxmlformats.org/drawingml/2006/main" prst="rect">
            <a:avLst/>
          </a:prstGeom>
        </p:spPr>
      </p:pic>
      <p:sp>
        <p:nvSpPr>
          <p:cNvPr id="31" name="Text 23">
            <a:extLst xmlns:a="http://schemas.openxmlformats.org/drawingml/2006/main">
              <a:ext uri="{FF2B5EF4-FFF2-40B4-BE49-F238E27FC236}">
                <a16:creationId xmlns:a16="http://schemas.microsoft.com/office/drawing/2014/main" id="{D23028C8-B62D-45C1-8011-CC5B17A4F71B}"/>
              </a:ext>
            </a:extLst>
          </p:cNvPr>
          <p:cNvSpPr>
            <a:spLocks xmlns:a="http://schemas.openxmlformats.org/drawingml/2006/main" noGrp="1"/>
          </p:cNvSpPr>
          <p:nvPr/>
        </p:nvSpPr>
        <p:spPr>
          <a:xfrm xmlns:a="http://schemas.openxmlformats.org/drawingml/2006/main">
            <a:off x="6281680" y="4407991"/>
            <a:ext cx="5109340" cy="20756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00">
                <a:solidFill>
                  <a:srgbClr val="3C3939"/>
                </a:solidFill>
                <a:latin typeface="Raleway"/>
                <a:ea typeface="Raleway"/>
                <a:cs typeface="Raleway"/>
              </a:rPr>
              <a:t>Xử lý lỗi</a:t>
            </a:r>
            <a:endParaRPr sz="1300"/>
          </a:p>
        </p:txBody>
      </p:sp>
      <p:sp>
        <p:nvSpPr>
          <p:cNvPr id="32" name="Text 24">
            <a:extLst xmlns:a="http://schemas.openxmlformats.org/drawingml/2006/main">
              <a:ext uri="{FF2B5EF4-FFF2-40B4-BE49-F238E27FC236}">
                <a16:creationId xmlns:a16="http://schemas.microsoft.com/office/drawing/2014/main" id="{F94F0A69-659E-4BA6-91B8-0983AB0F4158}"/>
              </a:ext>
            </a:extLst>
          </p:cNvPr>
          <p:cNvSpPr>
            <a:spLocks xmlns:a="http://schemas.openxmlformats.org/drawingml/2006/main" noGrp="1"/>
          </p:cNvSpPr>
          <p:nvPr/>
        </p:nvSpPr>
        <p:spPr>
          <a:xfrm xmlns:a="http://schemas.openxmlformats.org/drawingml/2006/main">
            <a:off x="6281680" y="4671616"/>
            <a:ext cx="5109340" cy="18107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4000"/>
              </a:lnSpc>
              <a:buNone/>
            </a:pPr>
            <a:r>
              <a:rPr sz="1000">
                <a:solidFill>
                  <a:srgbClr val="3C3939"/>
                </a:solidFill>
                <a:latin typeface="Roboto"/>
                <a:ea typeface="Roboto"/>
                <a:cs typeface="Roboto"/>
              </a:rPr>
              <a:t>Lỗi nào có thể xảy ra và phản hồi thế nào?</a:t>
            </a:r>
            <a:endParaRPr sz="1000"/>
          </a:p>
        </p:txBody>
      </p:sp>
      <p:sp>
        <p:nvSpPr>
          <p:cNvPr id="33" name="Shape 25">
            <a:extLst xmlns:a="http://schemas.openxmlformats.org/drawingml/2006/main">
              <a:ext uri="{FF2B5EF4-FFF2-40B4-BE49-F238E27FC236}">
                <a16:creationId xmlns:a16="http://schemas.microsoft.com/office/drawing/2014/main" id="{A6EA7867-B85B-4393-82E0-BD3B0E973A74}"/>
              </a:ext>
            </a:extLst>
          </p:cNvPr>
          <p:cNvSpPr>
            <a:spLocks xmlns:a="http://schemas.openxmlformats.org/drawingml/2006/main" noGrp="1"/>
          </p:cNvSpPr>
          <p:nvPr/>
        </p:nvSpPr>
        <p:spPr>
          <a:xfrm xmlns:a="http://schemas.openxmlformats.org/drawingml/2006/main">
            <a:off x="661475" y="5085259"/>
            <a:ext cx="5387642" cy="1215132"/>
          </a:xfrm>
          <a:prstGeom xmlns:a="http://schemas.openxmlformats.org/drawingml/2006/main" prst="roundRect">
            <a:avLst>
              <a:gd name="adj" fmla="val 4594"/>
            </a:avLst>
          </a:prstGeom>
          <a:solidFill xmlns:a="http://schemas.openxmlformats.org/drawingml/2006/main">
            <a:srgbClr val="E1E1EA"/>
          </a:solidFill>
          <a:ln xmlns:a="http://schemas.openxmlformats.org/drawingml/2006/main" w="6350">
            <a:solidFill>
              <a:srgbClr val="C7C7D0"/>
            </a:solidFill>
            <a:prstDash val="solid"/>
          </a:ln>
        </p:spPr>
      </p:sp>
      <p:sp>
        <p:nvSpPr>
          <p:cNvPr id="34" name="Shape 26">
            <a:extLst xmlns:a="http://schemas.openxmlformats.org/drawingml/2006/main">
              <a:ext uri="{FF2B5EF4-FFF2-40B4-BE49-F238E27FC236}">
                <a16:creationId xmlns:a16="http://schemas.microsoft.com/office/drawing/2014/main" id="{67EA8ADA-D902-416C-91A1-F56FB1E9596F}"/>
              </a:ext>
            </a:extLst>
          </p:cNvPr>
          <p:cNvSpPr>
            <a:spLocks xmlns:a="http://schemas.openxmlformats.org/drawingml/2006/main" noGrp="1"/>
          </p:cNvSpPr>
          <p:nvPr/>
        </p:nvSpPr>
        <p:spPr>
          <a:xfrm xmlns:a="http://schemas.openxmlformats.org/drawingml/2006/main">
            <a:off x="800675" y="5224463"/>
            <a:ext cx="398651" cy="398661"/>
          </a:xfrm>
          <a:prstGeom xmlns:a="http://schemas.openxmlformats.org/drawingml/2006/main" prst="ellipse">
            <a:avLst/>
          </a:prstGeom>
          <a:solidFill xmlns:a="http://schemas.openxmlformats.org/drawingml/2006/main">
            <a:srgbClr val="1B1B27"/>
          </a:solidFill>
        </p:spPr>
      </p:sp>
      <p:pic>
        <p:nvPicPr>
          <p:cNvPr id="84" name="Image 6"/>
          <p:cNvPicPr>
            <a:picLocks xmlns:a="http://schemas.openxmlformats.org/drawingml/2006/main" noChangeAspect="1"/>
          </p:cNvPicPr>
          <p:nvPr/>
        </p:nvPicPr>
        <p:blipFill>
          <a:blip xmlns:r="http://schemas.openxmlformats.org/officeDocument/2006/relationships" xmlns:a="http://schemas.openxmlformats.org/drawingml/2006/main" r:embed="R3891d64e5b3f4277">
            <a:extLst>
              <a:ext uri="{96DAC541-7B7A-43D3-8B79-37D633B846F1}">
                <asvg:svgBlip xmlns:asvg="http://schemas.microsoft.com/office/drawing/2016/SVG/main" r:embed="Ra695ab5543aa4012"/>
              </a:ext>
            </a:extLst>
          </a:blip>
          <a:stretch xmlns:a="http://schemas.openxmlformats.org/drawingml/2006/main">
            <a:fillRect l="0" t="0" r="0" b="0"/>
          </a:stretch>
        </p:blipFill>
        <p:spPr>
          <a:xfrm xmlns:a="http://schemas.openxmlformats.org/drawingml/2006/main">
            <a:off x="910309" y="5334099"/>
            <a:ext cx="179383" cy="179388"/>
          </a:xfrm>
          <a:prstGeom xmlns:a="http://schemas.openxmlformats.org/drawingml/2006/main" prst="rect">
            <a:avLst/>
          </a:prstGeom>
        </p:spPr>
      </p:pic>
      <p:sp>
        <p:nvSpPr>
          <p:cNvPr id="36" name="Text 27">
            <a:extLst xmlns:a="http://schemas.openxmlformats.org/drawingml/2006/main">
              <a:ext uri="{FF2B5EF4-FFF2-40B4-BE49-F238E27FC236}">
                <a16:creationId xmlns:a16="http://schemas.microsoft.com/office/drawing/2014/main" id="{AE01E56D-A4B0-4AC7-9A0C-D619E23C9252}"/>
              </a:ext>
            </a:extLst>
          </p:cNvPr>
          <p:cNvSpPr>
            <a:spLocks xmlns:a="http://schemas.openxmlformats.org/drawingml/2006/main" noGrp="1"/>
          </p:cNvSpPr>
          <p:nvPr/>
        </p:nvSpPr>
        <p:spPr>
          <a:xfrm xmlns:a="http://schemas.openxmlformats.org/drawingml/2006/main">
            <a:off x="800675" y="5716488"/>
            <a:ext cx="5109241" cy="20756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00">
                <a:solidFill>
                  <a:srgbClr val="3C3939"/>
                </a:solidFill>
                <a:latin typeface="Raleway"/>
                <a:ea typeface="Raleway"/>
                <a:cs typeface="Raleway"/>
              </a:rPr>
              <a:t>Tiêu chí chấp nhận</a:t>
            </a:r>
            <a:endParaRPr sz="1300"/>
          </a:p>
        </p:txBody>
      </p:sp>
      <p:sp>
        <p:nvSpPr>
          <p:cNvPr id="37" name="Text 28">
            <a:extLst xmlns:a="http://schemas.openxmlformats.org/drawingml/2006/main">
              <a:ext uri="{FF2B5EF4-FFF2-40B4-BE49-F238E27FC236}">
                <a16:creationId xmlns:a16="http://schemas.microsoft.com/office/drawing/2014/main" id="{A578718C-DC8E-4B3B-AE95-2F361DBE8432}"/>
              </a:ext>
            </a:extLst>
          </p:cNvPr>
          <p:cNvSpPr>
            <a:spLocks xmlns:a="http://schemas.openxmlformats.org/drawingml/2006/main" noGrp="1"/>
          </p:cNvSpPr>
          <p:nvPr/>
        </p:nvSpPr>
        <p:spPr>
          <a:xfrm xmlns:a="http://schemas.openxmlformats.org/drawingml/2006/main">
            <a:off x="800675" y="5980113"/>
            <a:ext cx="5109241" cy="18107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4000"/>
              </a:lnSpc>
              <a:buNone/>
            </a:pPr>
            <a:r>
              <a:rPr sz="1000">
                <a:solidFill>
                  <a:srgbClr val="3C3939"/>
                </a:solidFill>
                <a:latin typeface="Roboto"/>
                <a:ea typeface="Roboto"/>
                <a:cs typeface="Roboto"/>
              </a:rPr>
              <a:t>Bằng chứng nào chứng minh đã hoàn thành?</a:t>
            </a:r>
            <a:endParaRPr sz="1000"/>
          </a:p>
        </p:txBody>
      </p:sp>
      <p:sp>
        <p:nvSpPr>
          <p:cNvPr id="38" name="Shape 29">
            <a:extLst xmlns:a="http://schemas.openxmlformats.org/drawingml/2006/main">
              <a:ext uri="{FF2B5EF4-FFF2-40B4-BE49-F238E27FC236}">
                <a16:creationId xmlns:a16="http://schemas.microsoft.com/office/drawing/2014/main" id="{39D66A2B-F022-46DF-86AA-E30D8ACCC43C}"/>
              </a:ext>
            </a:extLst>
          </p:cNvPr>
          <p:cNvSpPr>
            <a:spLocks xmlns:a="http://schemas.openxmlformats.org/drawingml/2006/main" noGrp="1"/>
          </p:cNvSpPr>
          <p:nvPr/>
        </p:nvSpPr>
        <p:spPr>
          <a:xfrm xmlns:a="http://schemas.openxmlformats.org/drawingml/2006/main">
            <a:off x="6142479" y="5085259"/>
            <a:ext cx="5387741" cy="1215132"/>
          </a:xfrm>
          <a:prstGeom xmlns:a="http://schemas.openxmlformats.org/drawingml/2006/main" prst="roundRect">
            <a:avLst>
              <a:gd name="adj" fmla="val 4594"/>
            </a:avLst>
          </a:prstGeom>
          <a:solidFill xmlns:a="http://schemas.openxmlformats.org/drawingml/2006/main">
            <a:srgbClr val="E1E1EA"/>
          </a:solidFill>
          <a:ln xmlns:a="http://schemas.openxmlformats.org/drawingml/2006/main" w="6350">
            <a:solidFill>
              <a:srgbClr val="C7C7D0"/>
            </a:solidFill>
            <a:prstDash val="solid"/>
          </a:ln>
        </p:spPr>
      </p:sp>
      <p:sp>
        <p:nvSpPr>
          <p:cNvPr id="39" name="Shape 30">
            <a:extLst xmlns:a="http://schemas.openxmlformats.org/drawingml/2006/main">
              <a:ext uri="{FF2B5EF4-FFF2-40B4-BE49-F238E27FC236}">
                <a16:creationId xmlns:a16="http://schemas.microsoft.com/office/drawing/2014/main" id="{C4D7346E-E9BE-48E2-95A0-32DE3565DADB}"/>
              </a:ext>
            </a:extLst>
          </p:cNvPr>
          <p:cNvSpPr>
            <a:spLocks xmlns:a="http://schemas.openxmlformats.org/drawingml/2006/main" noGrp="1"/>
          </p:cNvSpPr>
          <p:nvPr/>
        </p:nvSpPr>
        <p:spPr>
          <a:xfrm xmlns:a="http://schemas.openxmlformats.org/drawingml/2006/main">
            <a:off x="6281680" y="5224463"/>
            <a:ext cx="398651" cy="398661"/>
          </a:xfrm>
          <a:prstGeom xmlns:a="http://schemas.openxmlformats.org/drawingml/2006/main" prst="ellipse">
            <a:avLst/>
          </a:prstGeom>
          <a:solidFill xmlns:a="http://schemas.openxmlformats.org/drawingml/2006/main">
            <a:srgbClr val="1B1B27"/>
          </a:solidFill>
        </p:spPr>
      </p:sp>
      <p:pic>
        <p:nvPicPr>
          <p:cNvPr id="89" name="Image 7"/>
          <p:cNvPicPr>
            <a:picLocks xmlns:a="http://schemas.openxmlformats.org/drawingml/2006/main" noChangeAspect="1"/>
          </p:cNvPicPr>
          <p:nvPr/>
        </p:nvPicPr>
        <p:blipFill>
          <a:blip xmlns:r="http://schemas.openxmlformats.org/officeDocument/2006/relationships" xmlns:a="http://schemas.openxmlformats.org/drawingml/2006/main" r:embed="R76fcd90efeca4fda">
            <a:extLst>
              <a:ext uri="{96DAC541-7B7A-43D3-8B79-37D633B846F1}">
                <asvg:svgBlip xmlns:asvg="http://schemas.microsoft.com/office/drawing/2016/SVG/main" r:embed="R6429b4559ea7426e"/>
              </a:ext>
            </a:extLst>
          </a:blip>
          <a:stretch xmlns:a="http://schemas.openxmlformats.org/drawingml/2006/main">
            <a:fillRect l="0" t="0" r="0" b="0"/>
          </a:stretch>
        </p:blipFill>
        <p:spPr>
          <a:xfrm xmlns:a="http://schemas.openxmlformats.org/drawingml/2006/main">
            <a:off x="6391314" y="5334099"/>
            <a:ext cx="179383" cy="179388"/>
          </a:xfrm>
          <a:prstGeom xmlns:a="http://schemas.openxmlformats.org/drawingml/2006/main" prst="rect">
            <a:avLst/>
          </a:prstGeom>
        </p:spPr>
      </p:pic>
      <p:sp>
        <p:nvSpPr>
          <p:cNvPr id="41" name="Text 31">
            <a:extLst xmlns:a="http://schemas.openxmlformats.org/drawingml/2006/main">
              <a:ext uri="{FF2B5EF4-FFF2-40B4-BE49-F238E27FC236}">
                <a16:creationId xmlns:a16="http://schemas.microsoft.com/office/drawing/2014/main" id="{A4C10E3A-FFE1-4EA3-993E-BF84D56F7E35}"/>
              </a:ext>
            </a:extLst>
          </p:cNvPr>
          <p:cNvSpPr>
            <a:spLocks xmlns:a="http://schemas.openxmlformats.org/drawingml/2006/main" noGrp="1"/>
          </p:cNvSpPr>
          <p:nvPr/>
        </p:nvSpPr>
        <p:spPr>
          <a:xfrm xmlns:a="http://schemas.openxmlformats.org/drawingml/2006/main">
            <a:off x="6281680" y="5716488"/>
            <a:ext cx="5109340" cy="20756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00">
                <a:solidFill>
                  <a:srgbClr val="3C3939"/>
                </a:solidFill>
                <a:latin typeface="Raleway"/>
                <a:ea typeface="Raleway"/>
                <a:cs typeface="Raleway"/>
              </a:rPr>
              <a:t>Ngoài phạm vi</a:t>
            </a:r>
            <a:endParaRPr sz="1300"/>
          </a:p>
        </p:txBody>
      </p:sp>
      <p:sp>
        <p:nvSpPr>
          <p:cNvPr id="42" name="Text 32">
            <a:extLst xmlns:a="http://schemas.openxmlformats.org/drawingml/2006/main">
              <a:ext uri="{FF2B5EF4-FFF2-40B4-BE49-F238E27FC236}">
                <a16:creationId xmlns:a16="http://schemas.microsoft.com/office/drawing/2014/main" id="{DE45224D-B7F5-4C28-86D8-917311B52121}"/>
              </a:ext>
            </a:extLst>
          </p:cNvPr>
          <p:cNvSpPr>
            <a:spLocks xmlns:a="http://schemas.openxmlformats.org/drawingml/2006/main" noGrp="1"/>
          </p:cNvSpPr>
          <p:nvPr/>
        </p:nvSpPr>
        <p:spPr>
          <a:xfrm xmlns:a="http://schemas.openxmlformats.org/drawingml/2006/main">
            <a:off x="6281680" y="5980113"/>
            <a:ext cx="5109340" cy="18107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4000"/>
              </a:lnSpc>
              <a:buNone/>
            </a:pPr>
            <a:r>
              <a:rPr sz="1000">
                <a:solidFill>
                  <a:srgbClr val="3C3939"/>
                </a:solidFill>
                <a:latin typeface="Roboto"/>
                <a:ea typeface="Roboto"/>
                <a:cs typeface="Roboto"/>
              </a:rPr>
              <a:t>Điều gì chưa làm trong phiên bản này?</a:t>
            </a:r>
            <a:endParaRPr sz="1000"/>
          </a:p>
        </p:txBody>
      </p:sp>
    </p:spTree>
    <p:extLst>
      <p:ext uri="{BB962C8B-B14F-4D97-AF65-F5344CB8AC3E}">
        <p14:creationId xmlns:p14="http://schemas.microsoft.com/office/powerpoint/2010/main" val="1959365662"/>
      </p:ext>
    </p:extLst>
  </p:cSld>
</p:sld>
</file>

<file path=ppt/slides/slide5.xml><?xml version="1.0" encoding="utf-8"?>
<p:sld xmlns:p="http://schemas.openxmlformats.org/presentationml/2006/main" showMasterSp="0">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39DB34C-28AF-49D7-B5A8-C31DD34FD1D0}"/>
              </a:ext>
            </a:extLst>
          </p:cNvPr>
          <p:cNvSpPr>
            <a:spLocks xmlns:a="http://schemas.openxmlformats.org/drawingml/2006/main" noGrp="1"/>
          </p:cNvSpPr>
          <p:nvPr/>
        </p:nvSpPr>
        <p:spPr>
          <a:xfrm xmlns:a="http://schemas.openxmlformats.org/drawingml/2006/main">
            <a:off x="661475" y="1327051"/>
            <a:ext cx="5203794" cy="118129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ct val="104000"/>
              </a:lnSpc>
              <a:buNone/>
            </a:pPr>
            <a:r>
              <a:rPr sz="3700">
                <a:solidFill>
                  <a:srgbClr val="1B1B27"/>
                </a:solidFill>
                <a:latin typeface="Raleway"/>
                <a:ea typeface="Raleway"/>
                <a:cs typeface="Raleway"/>
              </a:rPr>
              <a:t>EARS cho ranh giới lưu snapshot</a:t>
            </a:r>
            <a:endParaRPr sz="3700"/>
          </a:p>
        </p:txBody>
      </p:sp>
      <p:sp>
        <p:nvSpPr>
          <p:cNvPr id="3" name="Text 1">
            <a:extLst xmlns:a="http://schemas.openxmlformats.org/drawingml/2006/main">
              <a:ext uri="{FF2B5EF4-FFF2-40B4-BE49-F238E27FC236}">
                <a16:creationId xmlns:a16="http://schemas.microsoft.com/office/drawing/2014/main" id="{49EDFBCD-A633-4CA9-8AB5-120763C197D6}"/>
              </a:ext>
            </a:extLst>
          </p:cNvPr>
          <p:cNvSpPr>
            <a:spLocks xmlns:a="http://schemas.openxmlformats.org/drawingml/2006/main" noGrp="1"/>
          </p:cNvSpPr>
          <p:nvPr/>
        </p:nvSpPr>
        <p:spPr>
          <a:xfrm xmlns:a="http://schemas.openxmlformats.org/drawingml/2006/main">
            <a:off x="661475" y="2697361"/>
            <a:ext cx="5203794" cy="6048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ct val="133000"/>
              </a:lnSpc>
              <a:buNone/>
            </a:pPr>
            <a:r>
              <a:rPr sz="1450">
                <a:solidFill>
                  <a:srgbClr val="3C3939"/>
                </a:solidFill>
                <a:latin typeface="Roboto"/>
                <a:ea typeface="Roboto"/>
                <a:cs typeface="Roboto"/>
              </a:rPr>
              <a:t>Requirement mô tả đúng thời điểm hệ thống yêu cầu đăng nhập.</a:t>
            </a:r>
            <a:endParaRPr sz="1450"/>
          </a:p>
        </p:txBody>
      </p:sp>
      <p:sp>
        <p:nvSpPr>
          <p:cNvPr id="4" name="Text 2">
            <a:extLst xmlns:a="http://schemas.openxmlformats.org/drawingml/2006/main">
              <a:ext uri="{FF2B5EF4-FFF2-40B4-BE49-F238E27FC236}">
                <a16:creationId xmlns:a16="http://schemas.microsoft.com/office/drawing/2014/main" id="{79D6899D-D337-4B3E-A8C0-0B0BCFDAA414}"/>
              </a:ext>
            </a:extLst>
          </p:cNvPr>
          <p:cNvSpPr>
            <a:spLocks xmlns:a="http://schemas.openxmlformats.org/drawingml/2006/main" noGrp="1"/>
          </p:cNvSpPr>
          <p:nvPr/>
        </p:nvSpPr>
        <p:spPr>
          <a:xfrm xmlns:a="http://schemas.openxmlformats.org/drawingml/2006/main">
            <a:off x="6616237" y="1539677"/>
            <a:ext cx="4920333"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1B1B27"/>
                </a:solidFill>
                <a:latin typeface="Raleway"/>
                <a:ea typeface="Raleway"/>
                <a:cs typeface="Raleway"/>
              </a:rPr>
              <a:t>Ví dụ từ FuGrade Web:</a:t>
            </a:r>
            <a:endParaRPr sz="1850"/>
          </a:p>
        </p:txBody>
      </p:sp>
      <p:sp>
        <p:nvSpPr>
          <p:cNvPr id="5" name="Text 3">
            <a:extLst xmlns:a="http://schemas.openxmlformats.org/drawingml/2006/main">
              <a:ext uri="{FF2B5EF4-FFF2-40B4-BE49-F238E27FC236}">
                <a16:creationId xmlns:a16="http://schemas.microsoft.com/office/drawing/2014/main" id="{60820227-F69B-4436-A3FF-C904AED56AE1}"/>
              </a:ext>
            </a:extLst>
          </p:cNvPr>
          <p:cNvSpPr>
            <a:spLocks xmlns:a="http://schemas.openxmlformats.org/drawingml/2006/main" noGrp="1"/>
          </p:cNvSpPr>
          <p:nvPr/>
        </p:nvSpPr>
        <p:spPr>
          <a:xfrm xmlns:a="http://schemas.openxmlformats.org/drawingml/2006/main">
            <a:off x="6616237" y="2023963"/>
            <a:ext cx="4920333" cy="154979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33000"/>
              </a:lnSpc>
              <a:spcAft>
                <a:spcPts val="1300"/>
              </a:spcAft>
              <a:buNone/>
            </a:pPr>
            <a:r>
              <a:rPr sz="1450" b="1">
                <a:solidFill>
                  <a:srgbClr val="3C3939"/>
                </a:solidFill>
                <a:latin typeface="Roboto Bold"/>
                <a:ea typeface="Roboto Bold"/>
                <a:cs typeface="Roboto Bold"/>
              </a:rPr>
              <a:t>GIVEN người dùng đang chỉnh sửa file .fg ở chế độ khách</a:t>
            </a:r>
            <a:endParaRPr sz="1450"/>
          </a:p>
          <a:p xmlns:a="http://schemas.openxmlformats.org/drawingml/2006/main">
            <a:pPr marL="0" indent="0" algn="l">
              <a:lnSpc>
                <a:spcPct val="133000"/>
              </a:lnSpc>
              <a:spcAft>
                <a:spcPts val="1300"/>
              </a:spcAft>
              <a:buNone/>
            </a:pPr>
            <a:r>
              <a:rPr sz="1450" b="1">
                <a:solidFill>
                  <a:srgbClr val="3C3939"/>
                </a:solidFill>
                <a:latin typeface="Roboto Bold"/>
                <a:ea typeface="Roboto Bold"/>
                <a:cs typeface="Roboto Bold"/>
              </a:rPr>
              <a:t>WHEN người dùng bấm Lưu</a:t>
            </a:r>
            <a:endParaRPr sz="1450"/>
          </a:p>
          <a:p xmlns:a="http://schemas.openxmlformats.org/drawingml/2006/main">
            <a:pPr marL="0" indent="0" algn="l">
              <a:lnSpc>
                <a:spcPct val="133000"/>
              </a:lnSpc>
              <a:buNone/>
            </a:pPr>
            <a:r>
              <a:rPr sz="1450" b="1">
                <a:solidFill>
                  <a:srgbClr val="3C3939"/>
                </a:solidFill>
                <a:latin typeface="Roboto Bold"/>
                <a:ea typeface="Roboto Bold"/>
                <a:cs typeface="Roboto Bold"/>
              </a:rPr>
              <a:t>THEN hệ thống giữ workspace trong sessionStorage và chuyển đến /login</a:t>
            </a:r>
            <a:endParaRPr sz="1450"/>
          </a:p>
        </p:txBody>
      </p:sp>
      <p:sp>
        <p:nvSpPr>
          <p:cNvPr id="6" name="Shape 4">
            <a:extLst xmlns:a="http://schemas.openxmlformats.org/drawingml/2006/main">
              <a:ext uri="{FF2B5EF4-FFF2-40B4-BE49-F238E27FC236}">
                <a16:creationId xmlns:a16="http://schemas.microsoft.com/office/drawing/2014/main" id="{F19275A7-0778-4C28-8457-1C1335919E05}"/>
              </a:ext>
            </a:extLst>
          </p:cNvPr>
          <p:cNvSpPr>
            <a:spLocks xmlns:a="http://schemas.openxmlformats.org/drawingml/2006/main" noGrp="1"/>
          </p:cNvSpPr>
          <p:nvPr/>
        </p:nvSpPr>
        <p:spPr>
          <a:xfrm xmlns:a="http://schemas.openxmlformats.org/drawingml/2006/main">
            <a:off x="6332776" y="1350665"/>
            <a:ext cx="25399" cy="2393156"/>
          </a:xfrm>
          <a:prstGeom xmlns:a="http://schemas.openxmlformats.org/drawingml/2006/main" prst="roundRect">
            <a:avLst>
              <a:gd name="adj" fmla="val 50001"/>
            </a:avLst>
          </a:prstGeom>
          <a:solidFill xmlns:a="http://schemas.openxmlformats.org/drawingml/2006/main">
            <a:srgbClr val="1B1B27"/>
          </a:solidFill>
        </p:spPr>
      </p:sp>
      <p:sp>
        <p:nvSpPr>
          <p:cNvPr id="7" name="Text 5">
            <a:extLst xmlns:a="http://schemas.openxmlformats.org/drawingml/2006/main">
              <a:ext uri="{FF2B5EF4-FFF2-40B4-BE49-F238E27FC236}">
                <a16:creationId xmlns:a16="http://schemas.microsoft.com/office/drawing/2014/main" id="{03D54B53-6813-453F-9345-0B9B952ED17B}"/>
              </a:ext>
            </a:extLst>
          </p:cNvPr>
          <p:cNvSpPr>
            <a:spLocks xmlns:a="http://schemas.openxmlformats.org/drawingml/2006/main" noGrp="1"/>
          </p:cNvSpPr>
          <p:nvPr/>
        </p:nvSpPr>
        <p:spPr>
          <a:xfrm xmlns:a="http://schemas.openxmlformats.org/drawingml/2006/main">
            <a:off x="6332776" y="3956447"/>
            <a:ext cx="5813379" cy="30241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33000"/>
              </a:lnSpc>
              <a:buNone/>
            </a:pPr>
            <a:r>
              <a:rPr sz="1450">
                <a:solidFill>
                  <a:srgbClr val="3C3939"/>
                </a:solidFill>
                <a:latin typeface="Roboto"/>
                <a:ea typeface="Roboto"/>
                <a:cs typeface="Roboto"/>
              </a:rPr>
              <a:t>Đăng nhập chỉ cần khi lưu snapshot.</a:t>
            </a:r>
            <a:endParaRPr sz="1450"/>
          </a:p>
        </p:txBody>
      </p:sp>
      <p:sp>
        <p:nvSpPr>
          <p:cNvPr id="8" name="Shape 6">
            <a:extLst xmlns:a="http://schemas.openxmlformats.org/drawingml/2006/main">
              <a:ext uri="{FF2B5EF4-FFF2-40B4-BE49-F238E27FC236}">
                <a16:creationId xmlns:a16="http://schemas.microsoft.com/office/drawing/2014/main" id="{43BC0D1E-F10B-461D-ABFD-ABD20C51AD3F}"/>
              </a:ext>
            </a:extLst>
          </p:cNvPr>
          <p:cNvSpPr>
            <a:spLocks xmlns:a="http://schemas.openxmlformats.org/drawingml/2006/main" noGrp="1"/>
          </p:cNvSpPr>
          <p:nvPr/>
        </p:nvSpPr>
        <p:spPr>
          <a:xfrm xmlns:a="http://schemas.openxmlformats.org/drawingml/2006/main">
            <a:off x="661475" y="4641552"/>
            <a:ext cx="425241" cy="425252"/>
          </a:xfrm>
          <a:prstGeom xmlns:a="http://schemas.openxmlformats.org/drawingml/2006/main" prst="roundRect">
            <a:avLst>
              <a:gd name="adj" fmla="val 18669"/>
            </a:avLst>
          </a:prstGeom>
          <a:solidFill xmlns:a="http://schemas.openxmlformats.org/drawingml/2006/main">
            <a:srgbClr val="E1E1EA"/>
          </a:solidFill>
          <a:ln xmlns:a="http://schemas.openxmlformats.org/drawingml/2006/main" w="6350">
            <a:solidFill>
              <a:srgbClr val="C7C7D0"/>
            </a:solidFill>
            <a:prstDash val="solid"/>
          </a:ln>
        </p:spPr>
      </p:sp>
      <p:sp>
        <p:nvSpPr>
          <p:cNvPr id="9" name="Text 7">
            <a:extLst xmlns:a="http://schemas.openxmlformats.org/drawingml/2006/main">
              <a:ext uri="{FF2B5EF4-FFF2-40B4-BE49-F238E27FC236}">
                <a16:creationId xmlns:a16="http://schemas.microsoft.com/office/drawing/2014/main" id="{2D7CC8AF-8A3E-4120-A0C8-8AAC51A035AB}"/>
              </a:ext>
            </a:extLst>
          </p:cNvPr>
          <p:cNvSpPr>
            <a:spLocks xmlns:a="http://schemas.openxmlformats.org/drawingml/2006/main" noGrp="1"/>
          </p:cNvSpPr>
          <p:nvPr/>
        </p:nvSpPr>
        <p:spPr>
          <a:xfrm xmlns:a="http://schemas.openxmlformats.org/drawingml/2006/main">
            <a:off x="732365" y="4676973"/>
            <a:ext cx="283461" cy="354409"/>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lnSpc>
                <a:spcPct val="100000"/>
              </a:lnSpc>
              <a:buNone/>
            </a:pPr>
            <a:r>
              <a:rPr sz="2200">
                <a:solidFill>
                  <a:srgbClr val="3C3939"/>
                </a:solidFill>
                <a:latin typeface="Raleway"/>
                <a:ea typeface="Raleway"/>
                <a:cs typeface="Raleway"/>
              </a:rPr>
              <a:t>1</a:t>
            </a:r>
            <a:endParaRPr sz="2200"/>
          </a:p>
        </p:txBody>
      </p:sp>
      <p:sp>
        <p:nvSpPr>
          <p:cNvPr id="10" name="Text 8">
            <a:extLst xmlns:a="http://schemas.openxmlformats.org/drawingml/2006/main">
              <a:ext uri="{FF2B5EF4-FFF2-40B4-BE49-F238E27FC236}">
                <a16:creationId xmlns:a16="http://schemas.microsoft.com/office/drawing/2014/main" id="{C69DE8BF-4AAA-4772-AE9F-2B9DA764FDA9}"/>
              </a:ext>
            </a:extLst>
          </p:cNvPr>
          <p:cNvSpPr>
            <a:spLocks xmlns:a="http://schemas.openxmlformats.org/drawingml/2006/main" noGrp="1"/>
          </p:cNvSpPr>
          <p:nvPr/>
        </p:nvSpPr>
        <p:spPr>
          <a:xfrm xmlns:a="http://schemas.openxmlformats.org/drawingml/2006/main">
            <a:off x="1275723" y="4706441"/>
            <a:ext cx="2851178"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3C3939"/>
                </a:solidFill>
                <a:latin typeface="Raleway"/>
                <a:ea typeface="Raleway"/>
                <a:cs typeface="Raleway"/>
              </a:rPr>
              <a:t>GIVEN [context]</a:t>
            </a:r>
            <a:endParaRPr sz="1850"/>
          </a:p>
        </p:txBody>
      </p:sp>
      <p:sp>
        <p:nvSpPr>
          <p:cNvPr id="11" name="Text 9">
            <a:extLst xmlns:a="http://schemas.openxmlformats.org/drawingml/2006/main">
              <a:ext uri="{FF2B5EF4-FFF2-40B4-BE49-F238E27FC236}">
                <a16:creationId xmlns:a16="http://schemas.microsoft.com/office/drawing/2014/main" id="{521BB987-1164-49B7-B296-D573E6EF79D6}"/>
              </a:ext>
            </a:extLst>
          </p:cNvPr>
          <p:cNvSpPr>
            <a:spLocks xmlns:a="http://schemas.openxmlformats.org/drawingml/2006/main" noGrp="1"/>
          </p:cNvSpPr>
          <p:nvPr/>
        </p:nvSpPr>
        <p:spPr>
          <a:xfrm xmlns:a="http://schemas.openxmlformats.org/drawingml/2006/main">
            <a:off x="1275723" y="5115123"/>
            <a:ext cx="2851178" cy="30241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33000"/>
              </a:lnSpc>
              <a:buNone/>
            </a:pPr>
            <a:r>
              <a:rPr sz="1450">
                <a:solidFill>
                  <a:srgbClr val="3C3939"/>
                </a:solidFill>
                <a:latin typeface="Roboto"/>
                <a:ea typeface="Roboto"/>
                <a:cs typeface="Roboto"/>
              </a:rPr>
              <a:t>Trạng thái ban đầu của hệ thống.</a:t>
            </a:r>
            <a:endParaRPr sz="1450"/>
          </a:p>
        </p:txBody>
      </p:sp>
      <p:sp>
        <p:nvSpPr>
          <p:cNvPr id="12" name="Shape 10">
            <a:extLst xmlns:a="http://schemas.openxmlformats.org/drawingml/2006/main">
              <a:ext uri="{FF2B5EF4-FFF2-40B4-BE49-F238E27FC236}">
                <a16:creationId xmlns:a16="http://schemas.microsoft.com/office/drawing/2014/main" id="{A3AB1D69-6CA0-412C-93A1-E1CD3E7C6451}"/>
              </a:ext>
            </a:extLst>
          </p:cNvPr>
          <p:cNvSpPr>
            <a:spLocks xmlns:a="http://schemas.openxmlformats.org/drawingml/2006/main" noGrp="1"/>
          </p:cNvSpPr>
          <p:nvPr/>
        </p:nvSpPr>
        <p:spPr>
          <a:xfrm xmlns:a="http://schemas.openxmlformats.org/drawingml/2006/main">
            <a:off x="4363135" y="4641552"/>
            <a:ext cx="425241" cy="425252"/>
          </a:xfrm>
          <a:prstGeom xmlns:a="http://schemas.openxmlformats.org/drawingml/2006/main" prst="roundRect">
            <a:avLst>
              <a:gd name="adj" fmla="val 18669"/>
            </a:avLst>
          </a:prstGeom>
          <a:solidFill xmlns:a="http://schemas.openxmlformats.org/drawingml/2006/main">
            <a:srgbClr val="E1E1EA"/>
          </a:solidFill>
          <a:ln xmlns:a="http://schemas.openxmlformats.org/drawingml/2006/main" w="6350">
            <a:solidFill>
              <a:srgbClr val="C7C7D0"/>
            </a:solidFill>
            <a:prstDash val="solid"/>
          </a:ln>
        </p:spPr>
      </p:sp>
      <p:sp>
        <p:nvSpPr>
          <p:cNvPr id="13" name="Text 11">
            <a:extLst xmlns:a="http://schemas.openxmlformats.org/drawingml/2006/main">
              <a:ext uri="{FF2B5EF4-FFF2-40B4-BE49-F238E27FC236}">
                <a16:creationId xmlns:a16="http://schemas.microsoft.com/office/drawing/2014/main" id="{3FF37887-45CD-4573-A687-B37E6761946F}"/>
              </a:ext>
            </a:extLst>
          </p:cNvPr>
          <p:cNvSpPr>
            <a:spLocks xmlns:a="http://schemas.openxmlformats.org/drawingml/2006/main" noGrp="1"/>
          </p:cNvSpPr>
          <p:nvPr/>
        </p:nvSpPr>
        <p:spPr>
          <a:xfrm xmlns:a="http://schemas.openxmlformats.org/drawingml/2006/main">
            <a:off x="4434025" y="4676973"/>
            <a:ext cx="283461" cy="354409"/>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lnSpc>
                <a:spcPct val="100000"/>
              </a:lnSpc>
              <a:buNone/>
            </a:pPr>
            <a:r>
              <a:rPr sz="2200">
                <a:solidFill>
                  <a:srgbClr val="3C3939"/>
                </a:solidFill>
                <a:latin typeface="Raleway"/>
                <a:ea typeface="Raleway"/>
                <a:cs typeface="Raleway"/>
              </a:rPr>
              <a:t>2</a:t>
            </a:r>
            <a:endParaRPr sz="2200"/>
          </a:p>
        </p:txBody>
      </p:sp>
      <p:sp>
        <p:nvSpPr>
          <p:cNvPr id="14" name="Text 12">
            <a:extLst xmlns:a="http://schemas.openxmlformats.org/drawingml/2006/main">
              <a:ext uri="{FF2B5EF4-FFF2-40B4-BE49-F238E27FC236}">
                <a16:creationId xmlns:a16="http://schemas.microsoft.com/office/drawing/2014/main" id="{6FD9F80C-F76F-4755-B51A-74B65F9594EB}"/>
              </a:ext>
            </a:extLst>
          </p:cNvPr>
          <p:cNvSpPr>
            <a:spLocks xmlns:a="http://schemas.openxmlformats.org/drawingml/2006/main" noGrp="1"/>
          </p:cNvSpPr>
          <p:nvPr/>
        </p:nvSpPr>
        <p:spPr>
          <a:xfrm xmlns:a="http://schemas.openxmlformats.org/drawingml/2006/main">
            <a:off x="4977383" y="4706441"/>
            <a:ext cx="2851178"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3C3939"/>
                </a:solidFill>
                <a:latin typeface="Raleway"/>
                <a:ea typeface="Raleway"/>
                <a:cs typeface="Raleway"/>
              </a:rPr>
              <a:t>WHEN [event]</a:t>
            </a:r>
            <a:endParaRPr sz="1850"/>
          </a:p>
        </p:txBody>
      </p:sp>
      <p:sp>
        <p:nvSpPr>
          <p:cNvPr id="15" name="Text 13">
            <a:extLst xmlns:a="http://schemas.openxmlformats.org/drawingml/2006/main">
              <a:ext uri="{FF2B5EF4-FFF2-40B4-BE49-F238E27FC236}">
                <a16:creationId xmlns:a16="http://schemas.microsoft.com/office/drawing/2014/main" id="{65A83E90-0B24-4D66-823A-5475BC1D5E76}"/>
              </a:ext>
            </a:extLst>
          </p:cNvPr>
          <p:cNvSpPr>
            <a:spLocks xmlns:a="http://schemas.openxmlformats.org/drawingml/2006/main" noGrp="1"/>
          </p:cNvSpPr>
          <p:nvPr/>
        </p:nvSpPr>
        <p:spPr>
          <a:xfrm xmlns:a="http://schemas.openxmlformats.org/drawingml/2006/main">
            <a:off x="4977383" y="5115123"/>
            <a:ext cx="2851178" cy="30241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33000"/>
              </a:lnSpc>
              <a:buNone/>
            </a:pPr>
            <a:r>
              <a:rPr sz="1450">
                <a:solidFill>
                  <a:srgbClr val="3C3939"/>
                </a:solidFill>
                <a:latin typeface="Roboto"/>
                <a:ea typeface="Roboto"/>
                <a:cs typeface="Roboto"/>
              </a:rPr>
              <a:t>Hành động hoặc sự kiện xảy ra.</a:t>
            </a:r>
            <a:endParaRPr sz="1450"/>
          </a:p>
        </p:txBody>
      </p:sp>
      <p:sp>
        <p:nvSpPr>
          <p:cNvPr id="16" name="Shape 14">
            <a:extLst xmlns:a="http://schemas.openxmlformats.org/drawingml/2006/main">
              <a:ext uri="{FF2B5EF4-FFF2-40B4-BE49-F238E27FC236}">
                <a16:creationId xmlns:a16="http://schemas.microsoft.com/office/drawing/2014/main" id="{617C3DA2-8F5E-4755-9DD4-E95451A257BD}"/>
              </a:ext>
            </a:extLst>
          </p:cNvPr>
          <p:cNvSpPr>
            <a:spLocks xmlns:a="http://schemas.openxmlformats.org/drawingml/2006/main" noGrp="1"/>
          </p:cNvSpPr>
          <p:nvPr/>
        </p:nvSpPr>
        <p:spPr>
          <a:xfrm xmlns:a="http://schemas.openxmlformats.org/drawingml/2006/main">
            <a:off x="8064794" y="4641552"/>
            <a:ext cx="425241" cy="425252"/>
          </a:xfrm>
          <a:prstGeom xmlns:a="http://schemas.openxmlformats.org/drawingml/2006/main" prst="roundRect">
            <a:avLst>
              <a:gd name="adj" fmla="val 18669"/>
            </a:avLst>
          </a:prstGeom>
          <a:solidFill xmlns:a="http://schemas.openxmlformats.org/drawingml/2006/main">
            <a:srgbClr val="E1E1EA"/>
          </a:solidFill>
          <a:ln xmlns:a="http://schemas.openxmlformats.org/drawingml/2006/main" w="6350">
            <a:solidFill>
              <a:srgbClr val="C7C7D0"/>
            </a:solidFill>
            <a:prstDash val="solid"/>
          </a:ln>
        </p:spPr>
      </p:sp>
      <p:sp>
        <p:nvSpPr>
          <p:cNvPr id="17" name="Text 15">
            <a:extLst xmlns:a="http://schemas.openxmlformats.org/drawingml/2006/main">
              <a:ext uri="{FF2B5EF4-FFF2-40B4-BE49-F238E27FC236}">
                <a16:creationId xmlns:a16="http://schemas.microsoft.com/office/drawing/2014/main" id="{6996B3FA-7E17-4150-A59A-5DD3C6FC44DB}"/>
              </a:ext>
            </a:extLst>
          </p:cNvPr>
          <p:cNvSpPr>
            <a:spLocks xmlns:a="http://schemas.openxmlformats.org/drawingml/2006/main" noGrp="1"/>
          </p:cNvSpPr>
          <p:nvPr/>
        </p:nvSpPr>
        <p:spPr>
          <a:xfrm xmlns:a="http://schemas.openxmlformats.org/drawingml/2006/main">
            <a:off x="8135684" y="4676973"/>
            <a:ext cx="283461" cy="354409"/>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lnSpc>
                <a:spcPct val="100000"/>
              </a:lnSpc>
              <a:buNone/>
            </a:pPr>
            <a:r>
              <a:rPr sz="2200">
                <a:solidFill>
                  <a:srgbClr val="3C3939"/>
                </a:solidFill>
                <a:latin typeface="Raleway"/>
                <a:ea typeface="Raleway"/>
                <a:cs typeface="Raleway"/>
              </a:rPr>
              <a:t>3</a:t>
            </a:r>
            <a:endParaRPr sz="2200"/>
          </a:p>
        </p:txBody>
      </p:sp>
      <p:sp>
        <p:nvSpPr>
          <p:cNvPr id="18" name="Text 16">
            <a:extLst xmlns:a="http://schemas.openxmlformats.org/drawingml/2006/main">
              <a:ext uri="{FF2B5EF4-FFF2-40B4-BE49-F238E27FC236}">
                <a16:creationId xmlns:a16="http://schemas.microsoft.com/office/drawing/2014/main" id="{A00AE31E-8C8E-4D1F-A8F2-96E564673C86}"/>
              </a:ext>
            </a:extLst>
          </p:cNvPr>
          <p:cNvSpPr>
            <a:spLocks xmlns:a="http://schemas.openxmlformats.org/drawingml/2006/main" noGrp="1"/>
          </p:cNvSpPr>
          <p:nvPr/>
        </p:nvSpPr>
        <p:spPr>
          <a:xfrm xmlns:a="http://schemas.openxmlformats.org/drawingml/2006/main">
            <a:off x="8679042" y="4706441"/>
            <a:ext cx="2851178"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3C3939"/>
                </a:solidFill>
                <a:latin typeface="Raleway"/>
                <a:ea typeface="Raleway"/>
                <a:cs typeface="Raleway"/>
              </a:rPr>
              <a:t>THEN [outcome]</a:t>
            </a:r>
            <a:endParaRPr sz="1850"/>
          </a:p>
        </p:txBody>
      </p:sp>
      <p:sp>
        <p:nvSpPr>
          <p:cNvPr id="19" name="Text 17">
            <a:extLst xmlns:a="http://schemas.openxmlformats.org/drawingml/2006/main">
              <a:ext uri="{FF2B5EF4-FFF2-40B4-BE49-F238E27FC236}">
                <a16:creationId xmlns:a16="http://schemas.microsoft.com/office/drawing/2014/main" id="{BB3C8213-41E2-42C9-8143-F86332A55702}"/>
              </a:ext>
            </a:extLst>
          </p:cNvPr>
          <p:cNvSpPr>
            <a:spLocks xmlns:a="http://schemas.openxmlformats.org/drawingml/2006/main" noGrp="1"/>
          </p:cNvSpPr>
          <p:nvPr/>
        </p:nvSpPr>
        <p:spPr>
          <a:xfrm xmlns:a="http://schemas.openxmlformats.org/drawingml/2006/main">
            <a:off x="8679042" y="5115123"/>
            <a:ext cx="2851178" cy="6048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33000"/>
              </a:lnSpc>
              <a:buNone/>
            </a:pPr>
            <a:r>
              <a:rPr sz="1450">
                <a:solidFill>
                  <a:srgbClr val="3C3939"/>
                </a:solidFill>
                <a:latin typeface="Roboto"/>
                <a:ea typeface="Roboto"/>
                <a:cs typeface="Roboto"/>
              </a:rPr>
              <a:t>Kết quả chính xác, đo lường được.</a:t>
            </a:r>
            <a:endParaRPr sz="1450"/>
          </a:p>
        </p:txBody>
      </p:sp>
    </p:spTree>
    <p:extLst>
      <p:ext uri="{BB962C8B-B14F-4D97-AF65-F5344CB8AC3E}">
        <p14:creationId xmlns:p14="http://schemas.microsoft.com/office/powerpoint/2010/main" val="1445398106"/>
      </p:ext>
    </p:extLst>
  </p:cSld>
</p:sld>
</file>

<file path=ppt/slides/slide6.xml><?xml version="1.0" encoding="utf-8"?>
<p:sld xmlns:p="http://schemas.openxmlformats.org/presentationml/2006/main" showMasterSp="0">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94DDFD3-D03E-4A81-8DA5-CC542B1FC5B4}"/>
              </a:ext>
            </a:extLst>
          </p:cNvPr>
          <p:cNvSpPr>
            <a:spLocks xmlns:a="http://schemas.openxmlformats.org/drawingml/2006/main" noGrp="1"/>
          </p:cNvSpPr>
          <p:nvPr/>
        </p:nvSpPr>
        <p:spPr>
          <a:xfrm xmlns:a="http://schemas.openxmlformats.org/drawingml/2006/main">
            <a:off x="0" y="0"/>
            <a:ext cx="4571886" cy="6858000"/>
          </a:xfrm>
          <a:prstGeom xmlns:a="http://schemas.openxmlformats.org/drawingml/2006/main" prst="rect">
            <a:avLst/>
          </a:prstGeom>
          <a:solidFill xmlns:a="http://schemas.openxmlformats.org/drawingml/2006/main">
            <a:srgbClr val="E1E1EA"/>
          </a:solidFill>
        </p:spPr>
      </p:sp>
      <p:pic>
        <p:nvPicPr>
          <p:cNvPr id="10" name="Image 0"/>
          <p:cNvPicPr>
            <a:picLocks xmlns:a="http://schemas.openxmlformats.org/drawingml/2006/main" noChangeAspect="1"/>
          </p:cNvPicPr>
          <p:nvPr/>
        </p:nvPicPr>
        <p:blipFill>
          <a:blip xmlns:r="http://schemas.openxmlformats.org/officeDocument/2006/relationships" xmlns:a="http://schemas.openxmlformats.org/drawingml/2006/main" r:embed="Ref04ec86f08c4f29"/>
          <a:stretch xmlns:a="http://schemas.openxmlformats.org/drawingml/2006/main">
            <a:fillRect l="0" t="0" r="0" b="0"/>
          </a:stretch>
        </p:blipFill>
        <p:spPr>
          <a:xfrm xmlns:a="http://schemas.openxmlformats.org/drawingml/2006/main">
            <a:off x="94454" y="506909"/>
            <a:ext cx="4382879" cy="5844084"/>
          </a:xfrm>
          <a:prstGeom xmlns:a="http://schemas.openxmlformats.org/drawingml/2006/main" prst="rect">
            <a:avLst/>
          </a:prstGeom>
        </p:spPr>
      </p:pic>
      <p:sp>
        <p:nvSpPr>
          <p:cNvPr id="4" name="Shape 1">
            <a:extLst xmlns:a="http://schemas.openxmlformats.org/drawingml/2006/main">
              <a:ext uri="{FF2B5EF4-FFF2-40B4-BE49-F238E27FC236}">
                <a16:creationId xmlns:a16="http://schemas.microsoft.com/office/drawing/2014/main" id="{87875F78-2D7D-4CAB-A365-03023EE02007}"/>
              </a:ext>
            </a:extLst>
          </p:cNvPr>
          <p:cNvSpPr>
            <a:spLocks xmlns:a="http://schemas.openxmlformats.org/drawingml/2006/main" noGrp="1"/>
          </p:cNvSpPr>
          <p:nvPr/>
        </p:nvSpPr>
        <p:spPr>
          <a:xfrm xmlns:a="http://schemas.openxmlformats.org/drawingml/2006/main">
            <a:off x="5233360" y="2212777"/>
            <a:ext cx="760096" cy="287139"/>
          </a:xfrm>
          <a:prstGeom xmlns:a="http://schemas.openxmlformats.org/drawingml/2006/main" prst="roundRect">
            <a:avLst>
              <a:gd name="adj" fmla="val 22118"/>
            </a:avLst>
          </a:prstGeom>
          <a:solidFill xmlns:a="http://schemas.openxmlformats.org/drawingml/2006/main">
            <a:srgbClr val="E1E1EA"/>
          </a:solidFill>
        </p:spPr>
      </p:sp>
      <p:sp>
        <p:nvSpPr>
          <p:cNvPr id="5" name="Text 2">
            <a:extLst xmlns:a="http://schemas.openxmlformats.org/drawingml/2006/main">
              <a:ext uri="{FF2B5EF4-FFF2-40B4-BE49-F238E27FC236}">
                <a16:creationId xmlns:a16="http://schemas.microsoft.com/office/drawing/2014/main" id="{3062BCDD-DA06-4543-9252-8280FFA50FFA}"/>
              </a:ext>
            </a:extLst>
          </p:cNvPr>
          <p:cNvSpPr>
            <a:spLocks xmlns:a="http://schemas.openxmlformats.org/drawingml/2006/main" noGrp="1"/>
          </p:cNvSpPr>
          <p:nvPr/>
        </p:nvSpPr>
        <p:spPr>
          <a:xfrm xmlns:a="http://schemas.openxmlformats.org/drawingml/2006/main">
            <a:off x="5346765" y="2269430"/>
            <a:ext cx="1142872" cy="173831"/>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6000"/>
              </a:lnSpc>
              <a:buNone/>
            </a:pPr>
            <a:r>
              <a:rPr sz="1150">
                <a:solidFill>
                  <a:srgbClr val="3C3939"/>
                </a:solidFill>
                <a:latin typeface="Roboto"/>
                <a:ea typeface="Roboto"/>
                <a:cs typeface="Roboto"/>
              </a:rPr>
              <a:t>PHẦN 2</a:t>
            </a:r>
            <a:endParaRPr sz="1150"/>
          </a:p>
        </p:txBody>
      </p:sp>
      <p:sp>
        <p:nvSpPr>
          <p:cNvPr id="6" name="Text 3">
            <a:extLst xmlns:a="http://schemas.openxmlformats.org/drawingml/2006/main">
              <a:ext uri="{FF2B5EF4-FFF2-40B4-BE49-F238E27FC236}">
                <a16:creationId xmlns:a16="http://schemas.microsoft.com/office/drawing/2014/main" id="{56E1F12F-5CCE-467F-8A48-753273BF0FBC}"/>
              </a:ext>
            </a:extLst>
          </p:cNvPr>
          <p:cNvSpPr>
            <a:spLocks xmlns:a="http://schemas.openxmlformats.org/drawingml/2006/main" noGrp="1"/>
          </p:cNvSpPr>
          <p:nvPr/>
        </p:nvSpPr>
        <p:spPr>
          <a:xfrm xmlns:a="http://schemas.openxmlformats.org/drawingml/2006/main">
            <a:off x="5233360" y="2575520"/>
            <a:ext cx="6296860" cy="118129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ct val="104000"/>
              </a:lnSpc>
              <a:buNone/>
            </a:pPr>
            <a:r>
              <a:rPr sz="3700">
                <a:solidFill>
                  <a:srgbClr val="1B1B27"/>
                </a:solidFill>
                <a:latin typeface="Raleway"/>
                <a:ea typeface="Raleway"/>
                <a:cs typeface="Raleway"/>
              </a:rPr>
              <a:t>FuGrade Web: hiện trạng sản phẩm</a:t>
            </a:r>
            <a:endParaRPr sz="3700"/>
          </a:p>
        </p:txBody>
      </p:sp>
      <p:sp>
        <p:nvSpPr>
          <p:cNvPr id="7" name="Text 4">
            <a:extLst xmlns:a="http://schemas.openxmlformats.org/drawingml/2006/main">
              <a:ext uri="{FF2B5EF4-FFF2-40B4-BE49-F238E27FC236}">
                <a16:creationId xmlns:a16="http://schemas.microsoft.com/office/drawing/2014/main" id="{62DE8F9D-3F30-4A07-86E1-0170F1B1D239}"/>
              </a:ext>
            </a:extLst>
          </p:cNvPr>
          <p:cNvSpPr>
            <a:spLocks xmlns:a="http://schemas.openxmlformats.org/drawingml/2006/main" noGrp="1"/>
          </p:cNvSpPr>
          <p:nvPr/>
        </p:nvSpPr>
        <p:spPr>
          <a:xfrm xmlns:a="http://schemas.openxmlformats.org/drawingml/2006/main">
            <a:off x="5233360" y="4040287"/>
            <a:ext cx="6296860" cy="6048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ct val="133000"/>
              </a:lnSpc>
              <a:buNone/>
            </a:pPr>
            <a:r>
              <a:rPr sz="1450">
                <a:solidFill>
                  <a:srgbClr val="3C3939"/>
                </a:solidFill>
                <a:latin typeface="Roboto"/>
                <a:ea typeface="Roboto"/>
                <a:cs typeface="Roboto"/>
              </a:rPr>
              <a:t>Kết luận dựa trên source, runtime và ảnh chụp giao diện chạy trên localhost.</a:t>
            </a:r>
            <a:endParaRPr sz="1450"/>
          </a:p>
        </p:txBody>
      </p:sp>
    </p:spTree>
    <p:extLst>
      <p:ext uri="{BB962C8B-B14F-4D97-AF65-F5344CB8AC3E}">
        <p14:creationId xmlns:p14="http://schemas.microsoft.com/office/powerpoint/2010/main" val="1593552375"/>
      </p:ext>
    </p:extLst>
  </p:cSld>
</p:sld>
</file>

<file path=ppt/slides/slide7.xml><?xml version="1.0" encoding="utf-8"?>
<p:sld xmlns:p="http://schemas.openxmlformats.org/presentationml/2006/main" showMasterSp="0">
  <p:cSld>
    <p:spTree>
      <p:nvGrpSpPr>
        <p:cNvPr id="1" name=""/>
        <p:cNvGrpSpPr/>
        <p:nvPr/>
      </p:nvGrpSpPr>
      <p:grpSpPr>
        <a:xfrm xmlns:a="http://schemas.openxmlformats.org/drawingml/2006/main"/>
      </p:grpSpPr>
      <p:pic>
        <p:nvPicPr>
          <p:cNvPr id="18" name="Image 0"/>
          <p:cNvPicPr>
            <a:picLocks xmlns:a="http://schemas.openxmlformats.org/drawingml/2006/main" noChangeAspect="1"/>
          </p:cNvPicPr>
          <p:nvPr/>
        </p:nvPicPr>
        <p:blipFill>
          <a:blip xmlns:r="http://schemas.openxmlformats.org/officeDocument/2006/relationships" xmlns:a="http://schemas.openxmlformats.org/drawingml/2006/main" r:embed="Rfcbeec7d7cdf42f6"/>
          <a:stretch xmlns:a="http://schemas.openxmlformats.org/drawingml/2006/main">
            <a:fillRect l="0" t="0" r="0" b="0"/>
          </a:stretch>
        </p:blipFill>
        <p:spPr>
          <a:xfrm xmlns:a="http://schemas.openxmlformats.org/drawingml/2006/main">
            <a:off x="661475" y="1676797"/>
            <a:ext cx="3504219" cy="3504307"/>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F52E1B0D-6E93-46C6-821B-C48A21E28202}"/>
              </a:ext>
            </a:extLst>
          </p:cNvPr>
          <p:cNvSpPr>
            <a:spLocks xmlns:a="http://schemas.openxmlformats.org/drawingml/2006/main" noGrp="1"/>
          </p:cNvSpPr>
          <p:nvPr/>
        </p:nvSpPr>
        <p:spPr>
          <a:xfrm xmlns:a="http://schemas.openxmlformats.org/drawingml/2006/main">
            <a:off x="4633201" y="1124843"/>
            <a:ext cx="1196647" cy="287139"/>
          </a:xfrm>
          <a:prstGeom xmlns:a="http://schemas.openxmlformats.org/drawingml/2006/main" prst="roundRect">
            <a:avLst>
              <a:gd name="adj" fmla="val 22118"/>
            </a:avLst>
          </a:prstGeom>
          <a:noFill xmlns:a="http://schemas.openxmlformats.org/drawingml/2006/main"/>
          <a:ln xmlns:a="http://schemas.openxmlformats.org/drawingml/2006/main" w="6350">
            <a:solidFill>
              <a:srgbClr val="1B1B27"/>
            </a:solidFill>
            <a:prstDash val="solid"/>
          </a:ln>
        </p:spPr>
      </p:sp>
      <p:sp>
        <p:nvSpPr>
          <p:cNvPr id="4" name="Text 1">
            <a:extLst xmlns:a="http://schemas.openxmlformats.org/drawingml/2006/main">
              <a:ext uri="{FF2B5EF4-FFF2-40B4-BE49-F238E27FC236}">
                <a16:creationId xmlns:a16="http://schemas.microsoft.com/office/drawing/2014/main" id="{E549942D-1098-4FA2-93DF-1FE8EF1035D4}"/>
              </a:ext>
            </a:extLst>
          </p:cNvPr>
          <p:cNvSpPr>
            <a:spLocks xmlns:a="http://schemas.openxmlformats.org/drawingml/2006/main" noGrp="1"/>
          </p:cNvSpPr>
          <p:nvPr/>
        </p:nvSpPr>
        <p:spPr>
          <a:xfrm xmlns:a="http://schemas.openxmlformats.org/drawingml/2006/main">
            <a:off x="4746605" y="1181497"/>
            <a:ext cx="1579424" cy="173831"/>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6000"/>
              </a:lnSpc>
              <a:buNone/>
            </a:pPr>
            <a:r>
              <a:rPr sz="1150">
                <a:solidFill>
                  <a:srgbClr val="1B1B27"/>
                </a:solidFill>
                <a:latin typeface="Roboto"/>
                <a:ea typeface="Roboto"/>
                <a:cs typeface="Roboto"/>
              </a:rPr>
              <a:t>EVIDENCE</a:t>
            </a:r>
            <a:endParaRPr sz="1150"/>
          </a:p>
        </p:txBody>
      </p:sp>
      <p:sp>
        <p:nvSpPr>
          <p:cNvPr id="5" name="Text 2">
            <a:extLst xmlns:a="http://schemas.openxmlformats.org/drawingml/2006/main">
              <a:ext uri="{FF2B5EF4-FFF2-40B4-BE49-F238E27FC236}">
                <a16:creationId xmlns:a16="http://schemas.microsoft.com/office/drawing/2014/main" id="{84131640-290F-46F5-BBBD-26FCC561664D}"/>
              </a:ext>
            </a:extLst>
          </p:cNvPr>
          <p:cNvSpPr>
            <a:spLocks xmlns:a="http://schemas.openxmlformats.org/drawingml/2006/main" noGrp="1"/>
          </p:cNvSpPr>
          <p:nvPr/>
        </p:nvSpPr>
        <p:spPr>
          <a:xfrm xmlns:a="http://schemas.openxmlformats.org/drawingml/2006/main">
            <a:off x="4633201" y="1487587"/>
            <a:ext cx="6903269" cy="118129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ct val="104000"/>
              </a:lnSpc>
              <a:buNone/>
            </a:pPr>
            <a:r>
              <a:rPr sz="3700">
                <a:solidFill>
                  <a:srgbClr val="1B1B27"/>
                </a:solidFill>
                <a:latin typeface="Raleway"/>
                <a:ea typeface="Raleway"/>
                <a:cs typeface="Raleway"/>
              </a:rPr>
              <a:t>Hiện trạng được xác minh</a:t>
            </a:r>
            <a:endParaRPr sz="3700"/>
          </a:p>
        </p:txBody>
      </p:sp>
      <p:pic>
        <p:nvPicPr>
          <p:cNvPr id="22" name="Image 1"/>
          <p:cNvPicPr>
            <a:picLocks xmlns:a="http://schemas.openxmlformats.org/drawingml/2006/main" noChangeAspect="1"/>
          </p:cNvPicPr>
          <p:nvPr/>
        </p:nvPicPr>
        <p:blipFill>
          <a:blip xmlns:r="http://schemas.openxmlformats.org/officeDocument/2006/relationships" xmlns:a="http://schemas.openxmlformats.org/drawingml/2006/main" r:embed="R4f42bf91a8ce4691">
            <a:extLst>
              <a:ext uri="{96DAC541-7B7A-43D3-8B79-37D633B846F1}">
                <asvg:svgBlip xmlns:asvg="http://schemas.microsoft.com/office/drawing/2016/SVG/main" r:embed="R894f6da803bb4823"/>
              </a:ext>
            </a:extLst>
          </a:blip>
          <a:stretch xmlns:a="http://schemas.openxmlformats.org/drawingml/2006/main">
            <a:fillRect l="0" t="0" r="0" b="0"/>
          </a:stretch>
        </p:blipFill>
        <p:spPr>
          <a:xfrm xmlns:a="http://schemas.openxmlformats.org/drawingml/2006/main">
            <a:off x="4704042" y="2887365"/>
            <a:ext cx="283461" cy="283468"/>
          </a:xfrm>
          <a:prstGeom xmlns:a="http://schemas.openxmlformats.org/drawingml/2006/main" prst="rect">
            <a:avLst/>
          </a:prstGeom>
        </p:spPr>
      </p:pic>
      <p:sp>
        <p:nvSpPr>
          <p:cNvPr id="7" name="Text 3">
            <a:extLst xmlns:a="http://schemas.openxmlformats.org/drawingml/2006/main">
              <a:ext uri="{FF2B5EF4-FFF2-40B4-BE49-F238E27FC236}">
                <a16:creationId xmlns:a16="http://schemas.microsoft.com/office/drawing/2014/main" id="{D8F80260-02B2-4444-ABFC-7D0A18E5B5A2}"/>
              </a:ext>
            </a:extLst>
          </p:cNvPr>
          <p:cNvSpPr>
            <a:spLocks xmlns:a="http://schemas.openxmlformats.org/drawingml/2006/main" noGrp="1"/>
          </p:cNvSpPr>
          <p:nvPr/>
        </p:nvSpPr>
        <p:spPr>
          <a:xfrm xmlns:a="http://schemas.openxmlformats.org/drawingml/2006/main">
            <a:off x="5247449" y="2881511"/>
            <a:ext cx="2719220" cy="5905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ct val="104000"/>
              </a:lnSpc>
              <a:buNone/>
            </a:pPr>
            <a:r>
              <a:rPr sz="1850">
                <a:solidFill>
                  <a:srgbClr val="3C3939"/>
                </a:solidFill>
                <a:latin typeface="Raleway"/>
                <a:ea typeface="Raleway"/>
                <a:cs typeface="Raleway"/>
              </a:rPr>
              <a:t>Node.js 22.22.3, Next.js 16.3.2.</a:t>
            </a:r>
            <a:endParaRPr sz="1850"/>
          </a:p>
        </p:txBody>
      </p:sp>
      <p:sp>
        <p:nvSpPr>
          <p:cNvPr id="8" name="Text 4">
            <a:extLst xmlns:a="http://schemas.openxmlformats.org/drawingml/2006/main">
              <a:ext uri="{FF2B5EF4-FFF2-40B4-BE49-F238E27FC236}">
                <a16:creationId xmlns:a16="http://schemas.microsoft.com/office/drawing/2014/main" id="{086F5507-2399-413B-9042-B0C219A944C9}"/>
              </a:ext>
            </a:extLst>
          </p:cNvPr>
          <p:cNvSpPr>
            <a:spLocks xmlns:a="http://schemas.openxmlformats.org/drawingml/2006/main" noGrp="1"/>
          </p:cNvSpPr>
          <p:nvPr/>
        </p:nvSpPr>
        <p:spPr>
          <a:xfrm xmlns:a="http://schemas.openxmlformats.org/drawingml/2006/main">
            <a:off x="5247449" y="3661073"/>
            <a:ext cx="2719220" cy="6048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33000"/>
              </a:lnSpc>
              <a:buNone/>
            </a:pPr>
            <a:endParaRPr sz="1450"/>
          </a:p>
        </p:txBody>
      </p:sp>
      <p:pic>
        <p:nvPicPr>
          <p:cNvPr id="25" name="Image 2"/>
          <p:cNvPicPr>
            <a:picLocks xmlns:a="http://schemas.openxmlformats.org/drawingml/2006/main" noChangeAspect="1"/>
          </p:cNvPicPr>
          <p:nvPr/>
        </p:nvPicPr>
        <p:blipFill>
          <a:blip xmlns:r="http://schemas.openxmlformats.org/officeDocument/2006/relationships" xmlns:a="http://schemas.openxmlformats.org/drawingml/2006/main" r:embed="R4f42bf91a8ce4691">
            <a:extLst>
              <a:ext uri="{96DAC541-7B7A-43D3-8B79-37D633B846F1}">
                <asvg:svgBlip xmlns:asvg="http://schemas.microsoft.com/office/drawing/2016/SVG/main" r:embed="R894f6da803bb4823"/>
              </a:ext>
            </a:extLst>
          </a:blip>
          <a:stretch xmlns:a="http://schemas.openxmlformats.org/drawingml/2006/main">
            <a:fillRect l="0" t="0" r="0" b="0"/>
          </a:stretch>
        </p:blipFill>
        <p:spPr>
          <a:xfrm xmlns:a="http://schemas.openxmlformats.org/drawingml/2006/main">
            <a:off x="4703774" y="3992265"/>
            <a:ext cx="283461" cy="283468"/>
          </a:xfrm>
          <a:prstGeom xmlns:a="http://schemas.openxmlformats.org/drawingml/2006/main" prst="rect">
            <a:avLst/>
          </a:prstGeom>
        </p:spPr>
      </p:pic>
      <p:sp>
        <p:nvSpPr>
          <p:cNvPr id="10" name="Text 5">
            <a:extLst xmlns:a="http://schemas.openxmlformats.org/drawingml/2006/main">
              <a:ext uri="{FF2B5EF4-FFF2-40B4-BE49-F238E27FC236}">
                <a16:creationId xmlns:a16="http://schemas.microsoft.com/office/drawing/2014/main" id="{C25FB236-C412-4489-AB62-B824DF98D770}"/>
              </a:ext>
            </a:extLst>
          </p:cNvPr>
          <p:cNvSpPr>
            <a:spLocks xmlns:a="http://schemas.openxmlformats.org/drawingml/2006/main" noGrp="1"/>
          </p:cNvSpPr>
          <p:nvPr/>
        </p:nvSpPr>
        <p:spPr>
          <a:xfrm xmlns:a="http://schemas.openxmlformats.org/drawingml/2006/main">
            <a:off x="5247816" y="3914021"/>
            <a:ext cx="2719319" cy="5905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ct val="104000"/>
              </a:lnSpc>
              <a:buNone/>
            </a:pPr>
            <a:r>
              <a:rPr sz="1850">
                <a:solidFill>
                  <a:srgbClr val="3C3939"/>
                </a:solidFill>
                <a:latin typeface="Raleway"/>
                <a:ea typeface="Raleway"/>
                <a:cs typeface="Raleway"/>
              </a:rPr>
              <a:t>Guest: mở, chỉnh, import và xuất .fg.</a:t>
            </a:r>
            <a:endParaRPr sz="1850"/>
          </a:p>
        </p:txBody>
      </p:sp>
      <p:pic>
        <p:nvPicPr>
          <p:cNvPr id="27" name="Image 3"/>
          <p:cNvPicPr>
            <a:picLocks xmlns:a="http://schemas.openxmlformats.org/drawingml/2006/main" noChangeAspect="1"/>
          </p:cNvPicPr>
          <p:nvPr/>
        </p:nvPicPr>
        <p:blipFill>
          <a:blip xmlns:r="http://schemas.openxmlformats.org/officeDocument/2006/relationships" xmlns:a="http://schemas.openxmlformats.org/drawingml/2006/main" r:embed="R4f42bf91a8ce4691">
            <a:extLst>
              <a:ext uri="{96DAC541-7B7A-43D3-8B79-37D633B846F1}">
                <asvg:svgBlip xmlns:asvg="http://schemas.microsoft.com/office/drawing/2016/SVG/main" r:embed="R894f6da803bb4823"/>
              </a:ext>
            </a:extLst>
          </a:blip>
          <a:stretch xmlns:a="http://schemas.openxmlformats.org/drawingml/2006/main">
            <a:fillRect l="0" t="0" r="0" b="0"/>
          </a:stretch>
        </p:blipFill>
        <p:spPr>
          <a:xfrm xmlns:a="http://schemas.openxmlformats.org/drawingml/2006/main">
            <a:off x="4704042" y="4952206"/>
            <a:ext cx="283461" cy="283468"/>
          </a:xfrm>
          <a:prstGeom xmlns:a="http://schemas.openxmlformats.org/drawingml/2006/main" prst="rect">
            <a:avLst/>
          </a:prstGeom>
        </p:spPr>
      </p:pic>
      <p:sp>
        <p:nvSpPr>
          <p:cNvPr id="13" name="Text 7">
            <a:extLst xmlns:a="http://schemas.openxmlformats.org/drawingml/2006/main">
              <a:ext uri="{FF2B5EF4-FFF2-40B4-BE49-F238E27FC236}">
                <a16:creationId xmlns:a16="http://schemas.microsoft.com/office/drawing/2014/main" id="{877CD230-DD70-4506-B35F-3424EAC1394E}"/>
              </a:ext>
            </a:extLst>
          </p:cNvPr>
          <p:cNvSpPr>
            <a:spLocks xmlns:a="http://schemas.openxmlformats.org/drawingml/2006/main" noGrp="1"/>
          </p:cNvSpPr>
          <p:nvPr/>
        </p:nvSpPr>
        <p:spPr>
          <a:xfrm xmlns:a="http://schemas.openxmlformats.org/drawingml/2006/main">
            <a:off x="5247449" y="4946352"/>
            <a:ext cx="6289022"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3C3939"/>
                </a:solidFill>
                <a:latin typeface="Raleway"/>
                <a:ea typeface="Raleway"/>
                <a:cs typeface="Raleway"/>
              </a:rPr>
              <a:t>Lưu: giữ workspace rồi chuyển sang /login.</a:t>
            </a:r>
            <a:endParaRPr sz="1850"/>
          </a:p>
        </p:txBody>
      </p:sp>
    </p:spTree>
    <p:extLst>
      <p:ext uri="{BB962C8B-B14F-4D97-AF65-F5344CB8AC3E}">
        <p14:creationId xmlns:p14="http://schemas.microsoft.com/office/powerpoint/2010/main" val="1324313739"/>
      </p:ext>
    </p:extLst>
  </p:cSld>
</p:sld>
</file>

<file path=ppt/slides/slide8.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427AA6E-5C93-49B0-8503-30D4C1D598AE}"/>
              </a:ext>
            </a:extLst>
          </p:cNvPr>
          <p:cNvSpPr>
            <a:spLocks xmlns:a="http://schemas.openxmlformats.org/drawingml/2006/main" noGrp="1"/>
          </p:cNvSpPr>
          <p:nvPr/>
        </p:nvSpPr>
        <p:spPr>
          <a:xfrm xmlns:a="http://schemas.openxmlformats.org/drawingml/2006/main">
            <a:off x="666750" y="457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17233B"/>
                </a:solidFill>
                <a:latin typeface="Raleway"/>
                <a:ea typeface="Raleway"/>
                <a:cs typeface="Raleway"/>
              </a:defRPr>
            </a:pPr>
            <a:r>
              <a:rPr sz="2850" b="1">
                <a:solidFill>
                  <a:srgbClr val="17233B"/>
                </a:solidFill>
                <a:latin typeface="Raleway"/>
                <a:ea typeface="Raleway"/>
                <a:cs typeface="Raleway"/>
              </a:rPr>
              <a:t>Phạm vi sản phẩm đã xác minh</a:t>
            </a:r>
          </a:p>
        </p:txBody>
      </p:sp>
      <p:sp>
        <p:nvSpPr>
          <p:cNvPr id="2" name="">
            <a:extLst xmlns:a="http://schemas.openxmlformats.org/drawingml/2006/main">
              <a:ext uri="{FF2B5EF4-FFF2-40B4-BE49-F238E27FC236}">
                <a16:creationId xmlns:a16="http://schemas.microsoft.com/office/drawing/2014/main" id="{2B927B06-AFF3-4110-8CFC-ED77BABF8888}"/>
              </a:ext>
            </a:extLst>
          </p:cNvPr>
          <p:cNvSpPr>
            <a:spLocks xmlns:a="http://schemas.openxmlformats.org/drawingml/2006/main" noGrp="1"/>
          </p:cNvSpPr>
          <p:nvPr/>
        </p:nvSpPr>
        <p:spPr>
          <a:xfrm xmlns:a="http://schemas.openxmlformats.org/drawingml/2006/main">
            <a:off x="666750" y="1028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F6B7A"/>
                </a:solidFill>
                <a:latin typeface="Roboto"/>
                <a:ea typeface="Roboto"/>
                <a:cs typeface="Roboto"/>
              </a:defRPr>
            </a:pPr>
            <a:r>
              <a:rPr sz="1350" b="0">
                <a:solidFill>
                  <a:srgbClr val="5F6B7A"/>
                </a:solidFill>
                <a:latin typeface="Roboto"/>
                <a:ea typeface="Roboto"/>
                <a:cs typeface="Roboto"/>
              </a:rPr>
              <a:t>Deck chỉ demo hành vi có trong source và giao diện đang chạy</a:t>
            </a:r>
          </a:p>
        </p:txBody>
      </p:sp>
      <p:sp>
        <p:nvSpPr>
          <p:cNvPr id="3" name="">
            <a:extLst xmlns:a="http://schemas.openxmlformats.org/drawingml/2006/main">
              <a:ext uri="{FF2B5EF4-FFF2-40B4-BE49-F238E27FC236}">
                <a16:creationId xmlns:a16="http://schemas.microsoft.com/office/drawing/2014/main" id="{11FF14EB-5592-4660-81EE-366FC20C4F37}"/>
              </a:ext>
            </a:extLst>
          </p:cNvPr>
          <p:cNvSpPr>
            <a:spLocks xmlns:a="http://schemas.openxmlformats.org/drawingml/2006/main" noGrp="1"/>
          </p:cNvSpPr>
          <p:nvPr/>
        </p:nvSpPr>
        <p:spPr>
          <a:xfrm xmlns:a="http://schemas.openxmlformats.org/drawingml/2006/main">
            <a:off x="666750" y="1400175"/>
            <a:ext cx="685800" cy="38100"/>
          </a:xfrm>
          <a:prstGeom xmlns:a="http://schemas.openxmlformats.org/drawingml/2006/main" prst="rect">
            <a:avLst/>
          </a:prstGeom>
          <a:solidFill xmlns:a="http://schemas.openxmlformats.org/drawingml/2006/main">
            <a:srgbClr val="0C8D9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47E3F7C-35E6-4FCF-982B-1AA8A58BB81F}"/>
              </a:ext>
            </a:extLst>
          </p:cNvPr>
          <p:cNvSpPr>
            <a:spLocks xmlns:a="http://schemas.openxmlformats.org/drawingml/2006/main" noGrp="1"/>
          </p:cNvSpPr>
          <p:nvPr/>
        </p:nvSpPr>
        <p:spPr>
          <a:xfrm xmlns:a="http://schemas.openxmlformats.org/drawingml/2006/main">
            <a:off x="857250" y="18097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1">
                <a:solidFill>
                  <a:srgbClr val="0C8D96"/>
                </a:solidFill>
                <a:latin typeface="Roboto"/>
                <a:ea typeface="Roboto"/>
                <a:cs typeface="Roboto"/>
              </a:defRPr>
            </a:pPr>
            <a:r>
              <a:rPr sz="975" b="1">
                <a:solidFill>
                  <a:srgbClr val="0C8D96"/>
                </a:solidFill>
                <a:latin typeface="Roboto"/>
                <a:ea typeface="Roboto"/>
                <a:cs typeface="Roboto"/>
              </a:rPr>
              <a:t>ĐÃ TRIỂN KHAI</a:t>
            </a:r>
          </a:p>
        </p:txBody>
      </p:sp>
      <p:sp>
        <p:nvSpPr>
          <p:cNvPr id="5" name="">
            <a:extLst xmlns:a="http://schemas.openxmlformats.org/drawingml/2006/main">
              <a:ext uri="{FF2B5EF4-FFF2-40B4-BE49-F238E27FC236}">
                <a16:creationId xmlns:a16="http://schemas.microsoft.com/office/drawing/2014/main" id="{E01F4617-36D3-42B0-820B-D02D707A5A5B}"/>
              </a:ext>
            </a:extLst>
          </p:cNvPr>
          <p:cNvSpPr>
            <a:spLocks xmlns:a="http://schemas.openxmlformats.org/drawingml/2006/main" noGrp="1"/>
          </p:cNvSpPr>
          <p:nvPr/>
        </p:nvSpPr>
        <p:spPr>
          <a:xfrm xmlns:a="http://schemas.openxmlformats.org/drawingml/2006/main">
            <a:off x="857250" y="211455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7233B"/>
                </a:solidFill>
                <a:latin typeface="Raleway"/>
                <a:ea typeface="Raleway"/>
                <a:cs typeface="Raleway"/>
              </a:defRPr>
            </a:pPr>
            <a:r>
              <a:rPr sz="2025" b="1">
                <a:solidFill>
                  <a:srgbClr val="17233B"/>
                </a:solidFill>
                <a:latin typeface="Raleway"/>
                <a:ea typeface="Raleway"/>
                <a:cs typeface="Raleway"/>
              </a:rPr>
              <a:t>Workspace bảng điểm</a:t>
            </a:r>
          </a:p>
        </p:txBody>
      </p:sp>
      <p:sp>
        <p:nvSpPr>
          <p:cNvPr id="6" name="">
            <a:extLst xmlns:a="http://schemas.openxmlformats.org/drawingml/2006/main">
              <a:ext uri="{FF2B5EF4-FFF2-40B4-BE49-F238E27FC236}">
                <a16:creationId xmlns:a16="http://schemas.microsoft.com/office/drawing/2014/main" id="{E3283A0F-D630-46B6-BAF1-18F4D24D7351}"/>
              </a:ext>
            </a:extLst>
          </p:cNvPr>
          <p:cNvSpPr>
            <a:spLocks xmlns:a="http://schemas.openxmlformats.org/drawingml/2006/main" noGrp="1"/>
          </p:cNvSpPr>
          <p:nvPr/>
        </p:nvSpPr>
        <p:spPr>
          <a:xfrm xmlns:a="http://schemas.openxmlformats.org/drawingml/2006/main">
            <a:off x="857250" y="2619375"/>
            <a:ext cx="4476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Mở file .fg có hoặc không có mật khẩu</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Chỉnh điểm, nhận xét, sinh viên và thành phần trong phiên</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Import điểm hoặc nhận xét theo MSSV với preview validation</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Xuất .fg có mật khẩu và lưu snapshot sau khi đăng nhập</a:t>
            </a:r>
          </a:p>
        </p:txBody>
      </p:sp>
      <p:sp>
        <p:nvSpPr>
          <p:cNvPr id="7" name="">
            <a:extLst xmlns:a="http://schemas.openxmlformats.org/drawingml/2006/main">
              <a:ext uri="{FF2B5EF4-FFF2-40B4-BE49-F238E27FC236}">
                <a16:creationId xmlns:a16="http://schemas.microsoft.com/office/drawing/2014/main" id="{4186F48D-515B-4844-ADCD-A4FEC54AA23E}"/>
              </a:ext>
            </a:extLst>
          </p:cNvPr>
          <p:cNvSpPr>
            <a:spLocks xmlns:a="http://schemas.openxmlformats.org/drawingml/2006/main" noGrp="1"/>
          </p:cNvSpPr>
          <p:nvPr/>
        </p:nvSpPr>
        <p:spPr>
          <a:xfrm xmlns:a="http://schemas.openxmlformats.org/drawingml/2006/main">
            <a:off x="5905500" y="1809750"/>
            <a:ext cx="19050" cy="3619500"/>
          </a:xfrm>
          <a:prstGeom xmlns:a="http://schemas.openxmlformats.org/drawingml/2006/main" prst="rect">
            <a:avLst/>
          </a:prstGeom>
          <a:solidFill xmlns:a="http://schemas.openxmlformats.org/drawingml/2006/main">
            <a:srgbClr val="DDE4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ED50766-2E17-4361-BA2A-A57A92E70375}"/>
              </a:ext>
            </a:extLst>
          </p:cNvPr>
          <p:cNvSpPr>
            <a:spLocks xmlns:a="http://schemas.openxmlformats.org/drawingml/2006/main" noGrp="1"/>
          </p:cNvSpPr>
          <p:nvPr/>
        </p:nvSpPr>
        <p:spPr>
          <a:xfrm xmlns:a="http://schemas.openxmlformats.org/drawingml/2006/main">
            <a:off x="6477000" y="18097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1">
                <a:solidFill>
                  <a:srgbClr val="B67714"/>
                </a:solidFill>
                <a:latin typeface="Roboto"/>
                <a:ea typeface="Roboto"/>
                <a:cs typeface="Roboto"/>
              </a:defRPr>
            </a:pPr>
            <a:r>
              <a:rPr sz="975" b="1">
                <a:solidFill>
                  <a:srgbClr val="B67714"/>
                </a:solidFill>
                <a:latin typeface="Roboto"/>
                <a:ea typeface="Roboto"/>
                <a:cs typeface="Roboto"/>
              </a:rPr>
              <a:t>CHƯA TRIỂN KHAI</a:t>
            </a:r>
          </a:p>
        </p:txBody>
      </p:sp>
      <p:sp>
        <p:nvSpPr>
          <p:cNvPr id="9" name="">
            <a:extLst xmlns:a="http://schemas.openxmlformats.org/drawingml/2006/main">
              <a:ext uri="{FF2B5EF4-FFF2-40B4-BE49-F238E27FC236}">
                <a16:creationId xmlns:a16="http://schemas.microsoft.com/office/drawing/2014/main" id="{A907163E-CA49-435A-86A4-114857BE4DD8}"/>
              </a:ext>
            </a:extLst>
          </p:cNvPr>
          <p:cNvSpPr>
            <a:spLocks xmlns:a="http://schemas.openxmlformats.org/drawingml/2006/main" noGrp="1"/>
          </p:cNvSpPr>
          <p:nvPr/>
        </p:nvSpPr>
        <p:spPr>
          <a:xfrm xmlns:a="http://schemas.openxmlformats.org/drawingml/2006/main">
            <a:off x="6477000" y="211455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7233B"/>
                </a:solidFill>
                <a:latin typeface="Raleway"/>
                <a:ea typeface="Raleway"/>
                <a:cs typeface="Raleway"/>
              </a:defRPr>
            </a:pPr>
            <a:r>
              <a:rPr sz="2025" b="1">
                <a:solidFill>
                  <a:srgbClr val="17233B"/>
                </a:solidFill>
                <a:latin typeface="Raleway"/>
                <a:ea typeface="Raleway"/>
                <a:cs typeface="Raleway"/>
              </a:rPr>
              <a:t>Các hạng mục đang chờ quyết định</a:t>
            </a:r>
          </a:p>
        </p:txBody>
      </p:sp>
      <p:sp>
        <p:nvSpPr>
          <p:cNvPr id="10" name="">
            <a:extLst xmlns:a="http://schemas.openxmlformats.org/drawingml/2006/main">
              <a:ext uri="{FF2B5EF4-FFF2-40B4-BE49-F238E27FC236}">
                <a16:creationId xmlns:a16="http://schemas.microsoft.com/office/drawing/2014/main" id="{2BC4FF2E-5D90-46E9-98BA-E304488D7852}"/>
              </a:ext>
            </a:extLst>
          </p:cNvPr>
          <p:cNvSpPr>
            <a:spLocks xmlns:a="http://schemas.openxmlformats.org/drawingml/2006/main" noGrp="1"/>
          </p:cNvSpPr>
          <p:nvPr/>
        </p:nvSpPr>
        <p:spPr>
          <a:xfrm xmlns:a="http://schemas.openxmlformats.org/drawingml/2006/main">
            <a:off x="6477000" y="2619375"/>
            <a:ext cx="47625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Quy đổi điểm bonus: Spec vẫn PENDING HUMAN REVIEW</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Database production và chiến lược multi-instance chưa được chọn</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Project chưa có automated test command</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Ownership cho API snapshot cần được đặc tả và sửa trước production</a:t>
            </a:r>
          </a:p>
        </p:txBody>
      </p:sp>
      <p:sp>
        <p:nvSpPr>
          <p:cNvPr id="11" name="">
            <a:extLst xmlns:a="http://schemas.openxmlformats.org/drawingml/2006/main">
              <a:ext uri="{FF2B5EF4-FFF2-40B4-BE49-F238E27FC236}">
                <a16:creationId xmlns:a16="http://schemas.microsoft.com/office/drawing/2014/main" id="{D6CA9029-BFF9-4DEF-BCFD-BD182FDE1DF4}"/>
              </a:ext>
            </a:extLst>
          </p:cNvPr>
          <p:cNvSpPr>
            <a:spLocks xmlns:a="http://schemas.openxmlformats.org/drawingml/2006/main" noGrp="1"/>
          </p:cNvSpPr>
          <p:nvPr/>
        </p:nvSpPr>
        <p:spPr>
          <a:xfrm xmlns:a="http://schemas.openxmlformats.org/drawingml/2006/main">
            <a:off x="857250" y="5619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a:solidFill>
                  <a:srgbClr val="B67714"/>
                </a:solidFill>
                <a:latin typeface="Roboto"/>
                <a:ea typeface="Roboto"/>
                <a:cs typeface="Roboto"/>
              </a:defRPr>
            </a:pPr>
            <a:r>
              <a:rPr sz="1350" b="1">
                <a:solidFill>
                  <a:srgbClr val="B67714"/>
                </a:solidFill>
                <a:latin typeface="Roboto"/>
                <a:ea typeface="Roboto"/>
                <a:cs typeface="Roboto"/>
              </a:rPr>
              <a:t>Khi thuyết trình, bonus là hướng phát triển đã đặc tả, không phải tính năng hiện có.</a:t>
            </a:r>
          </a:p>
        </p:txBody>
      </p:sp>
      <p:sp>
        <p:nvSpPr>
          <p:cNvPr id="12" name="">
            <a:extLst xmlns:a="http://schemas.openxmlformats.org/drawingml/2006/main">
              <a:ext uri="{FF2B5EF4-FFF2-40B4-BE49-F238E27FC236}">
                <a16:creationId xmlns:a16="http://schemas.microsoft.com/office/drawing/2014/main" id="{DBF94439-F89D-482F-B4C1-DA71E08E1339}"/>
              </a:ext>
            </a:extLst>
          </p:cNvPr>
          <p:cNvSpPr>
            <a:spLocks xmlns:a="http://schemas.openxmlformats.org/drawingml/2006/main" noGrp="1"/>
          </p:cNvSpPr>
          <p:nvPr/>
        </p:nvSpPr>
        <p:spPr>
          <a:xfrm xmlns:a="http://schemas.openxmlformats.org/drawingml/2006/main">
            <a:off x="9715500" y="6496050"/>
            <a:ext cx="1809750" cy="171450"/>
          </a:xfrm>
          <a:prstGeom xmlns:a="http://schemas.openxmlformats.org/drawingml/2006/main" prst="rect">
            <a:avLst/>
          </a:prstGeom>
          <a:solidFill xmlns:a="http://schemas.openxmlformats.org/drawingml/2006/main">
            <a:srgbClr val="08656C"/>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750" b="1">
                <a:solidFill>
                  <a:srgbClr val="FFFFFF"/>
                </a:solidFill>
                <a:latin typeface="Roboto"/>
                <a:ea typeface="Roboto"/>
                <a:cs typeface="Roboto"/>
              </a:defRPr>
            </a:pPr>
            <a:r>
              <a:rPr sz="750" b="1">
                <a:solidFill>
                  <a:srgbClr val="FFFFFF"/>
                </a:solidFill>
                <a:latin typeface="Roboto"/>
                <a:ea typeface="Roboto"/>
                <a:cs typeface="Roboto"/>
              </a:rPr>
              <a:t>FUGRADE  /  SDD  /  08</a:t>
            </a:r>
          </a:p>
        </p:txBody>
      </p:sp>
    </p:spTree>
    <p:extLst>
      <p:ext uri="{BB962C8B-B14F-4D97-AF65-F5344CB8AC3E}">
        <p14:creationId xmlns:p14="http://schemas.microsoft.com/office/powerpoint/2010/main" val="406047248"/>
      </p:ext>
    </p:extLst>
  </p:cSld>
</p:sld>
</file>

<file path=ppt/slides/slide9.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01E82F3-A1E0-4DF7-915F-E5EDFE8BAE93}"/>
              </a:ext>
            </a:extLst>
          </p:cNvPr>
          <p:cNvSpPr>
            <a:spLocks xmlns:a="http://schemas.openxmlformats.org/drawingml/2006/main" noGrp="1"/>
          </p:cNvSpPr>
          <p:nvPr/>
        </p:nvSpPr>
        <p:spPr>
          <a:xfrm xmlns:a="http://schemas.openxmlformats.org/drawingml/2006/main">
            <a:off x="666750" y="457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17233B"/>
                </a:solidFill>
                <a:latin typeface="Raleway"/>
                <a:ea typeface="Raleway"/>
                <a:cs typeface="Raleway"/>
              </a:defRPr>
            </a:pPr>
            <a:r>
              <a:rPr sz="2850" b="1">
                <a:solidFill>
                  <a:srgbClr val="17233B"/>
                </a:solidFill>
                <a:latin typeface="Raleway"/>
                <a:ea typeface="Raleway"/>
                <a:cs typeface="Raleway"/>
              </a:rPr>
              <a:t>Điểm vào của guest workspace</a:t>
            </a:r>
          </a:p>
        </p:txBody>
      </p:sp>
      <p:sp>
        <p:nvSpPr>
          <p:cNvPr id="2" name="">
            <a:extLst xmlns:a="http://schemas.openxmlformats.org/drawingml/2006/main">
              <a:ext uri="{FF2B5EF4-FFF2-40B4-BE49-F238E27FC236}">
                <a16:creationId xmlns:a16="http://schemas.microsoft.com/office/drawing/2014/main" id="{A38E4097-64CC-474A-B18B-8A28E946A5D8}"/>
              </a:ext>
            </a:extLst>
          </p:cNvPr>
          <p:cNvSpPr>
            <a:spLocks xmlns:a="http://schemas.openxmlformats.org/drawingml/2006/main" noGrp="1"/>
          </p:cNvSpPr>
          <p:nvPr/>
        </p:nvSpPr>
        <p:spPr>
          <a:xfrm xmlns:a="http://schemas.openxmlformats.org/drawingml/2006/main">
            <a:off x="666750" y="1028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F6B7A"/>
                </a:solidFill>
                <a:latin typeface="Roboto"/>
                <a:ea typeface="Roboto"/>
                <a:cs typeface="Roboto"/>
              </a:defRPr>
            </a:pPr>
            <a:r>
              <a:rPr sz="1350" b="0">
                <a:solidFill>
                  <a:srgbClr val="5F6B7A"/>
                </a:solidFill>
                <a:latin typeface="Roboto"/>
                <a:ea typeface="Roboto"/>
                <a:cs typeface="Roboto"/>
              </a:rPr>
              <a:t>Người dùng có thể bắt đầu mà chưa cần tạo tài khoản</a:t>
            </a:r>
          </a:p>
        </p:txBody>
      </p:sp>
      <p:sp>
        <p:nvSpPr>
          <p:cNvPr id="3" name="">
            <a:extLst xmlns:a="http://schemas.openxmlformats.org/drawingml/2006/main">
              <a:ext uri="{FF2B5EF4-FFF2-40B4-BE49-F238E27FC236}">
                <a16:creationId xmlns:a16="http://schemas.microsoft.com/office/drawing/2014/main" id="{3CFDC936-BA11-4AC3-AA37-17A91F516C2A}"/>
              </a:ext>
            </a:extLst>
          </p:cNvPr>
          <p:cNvSpPr>
            <a:spLocks xmlns:a="http://schemas.openxmlformats.org/drawingml/2006/main" noGrp="1"/>
          </p:cNvSpPr>
          <p:nvPr/>
        </p:nvSpPr>
        <p:spPr>
          <a:xfrm xmlns:a="http://schemas.openxmlformats.org/drawingml/2006/main">
            <a:off x="666750" y="1400175"/>
            <a:ext cx="685800" cy="38100"/>
          </a:xfrm>
          <a:prstGeom xmlns:a="http://schemas.openxmlformats.org/drawingml/2006/main" prst="rect">
            <a:avLst/>
          </a:prstGeom>
          <a:solidFill xmlns:a="http://schemas.openxmlformats.org/drawingml/2006/main">
            <a:srgbClr val="0C8D9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5E65540-86C1-4D8A-8DD1-6305D3D7F460}"/>
              </a:ext>
            </a:extLst>
          </p:cNvPr>
          <p:cNvSpPr>
            <a:spLocks xmlns:a="http://schemas.openxmlformats.org/drawingml/2006/main" noGrp="1"/>
          </p:cNvSpPr>
          <p:nvPr/>
        </p:nvSpPr>
        <p:spPr>
          <a:xfrm xmlns:a="http://schemas.openxmlformats.org/drawingml/2006/main">
            <a:off x="590550" y="1657350"/>
            <a:ext cx="7239000" cy="4267200"/>
          </a:xfrm>
          <a:prstGeom xmlns:a="http://schemas.openxmlformats.org/drawingml/2006/main" prst="roundRect">
            <a:avLst>
              <a:gd name="adj" fmla="val 2679"/>
            </a:avLst>
          </a:prstGeom>
          <a:solidFill xmlns:a="http://schemas.openxmlformats.org/drawingml/2006/main">
            <a:srgbClr val="F4F7FB"/>
          </a:solidFill>
          <a:ln xmlns:a="http://schemas.openxmlformats.org/drawingml/2006/main" w="9525">
            <a:solidFill>
              <a:srgbClr val="DDE4EC"/>
            </a:solid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d4aacefe53f4158"/>
          <a:stretch xmlns:a="http://schemas.openxmlformats.org/drawingml/2006/main"/>
        </p:blipFill>
        <p:spPr>
          <a:xfrm xmlns:a="http://schemas.openxmlformats.org/drawingml/2006/main">
            <a:off x="704850" y="1819275"/>
            <a:ext cx="7010400" cy="3943350"/>
          </a:xfrm>
          <a:prstGeom xmlns:a="http://schemas.openxmlformats.org/drawingml/2006/main" prst="roundRect">
            <a:avLst>
              <a:gd name="adj" fmla="val 2358"/>
            </a:avLst>
          </a:prstGeom>
        </p:spPr>
      </p:pic>
      <p:sp>
        <p:nvSpPr>
          <p:cNvPr id="6" name="">
            <a:extLst xmlns:a="http://schemas.openxmlformats.org/drawingml/2006/main">
              <a:ext uri="{FF2B5EF4-FFF2-40B4-BE49-F238E27FC236}">
                <a16:creationId xmlns:a16="http://schemas.microsoft.com/office/drawing/2014/main" id="{539B6B8A-05A3-469C-A36D-59AC07F8550F}"/>
              </a:ext>
            </a:extLst>
          </p:cNvPr>
          <p:cNvSpPr>
            <a:spLocks xmlns:a="http://schemas.openxmlformats.org/drawingml/2006/main" noGrp="1"/>
          </p:cNvSpPr>
          <p:nvPr/>
        </p:nvSpPr>
        <p:spPr>
          <a:xfrm xmlns:a="http://schemas.openxmlformats.org/drawingml/2006/main">
            <a:off x="8286750" y="195262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1">
                <a:solidFill>
                  <a:srgbClr val="0C8D96"/>
                </a:solidFill>
                <a:latin typeface="Roboto"/>
                <a:ea typeface="Roboto"/>
                <a:cs typeface="Roboto"/>
              </a:defRPr>
            </a:pPr>
            <a:r>
              <a:rPr sz="975" b="1">
                <a:solidFill>
                  <a:srgbClr val="0C8D96"/>
                </a:solidFill>
                <a:latin typeface="Roboto"/>
                <a:ea typeface="Roboto"/>
                <a:cs typeface="Roboto"/>
              </a:rPr>
              <a:t>GIÁ TRỊ SẢN PHẨM</a:t>
            </a:r>
          </a:p>
        </p:txBody>
      </p:sp>
      <p:sp>
        <p:nvSpPr>
          <p:cNvPr id="7" name="">
            <a:extLst xmlns:a="http://schemas.openxmlformats.org/drawingml/2006/main">
              <a:ext uri="{FF2B5EF4-FFF2-40B4-BE49-F238E27FC236}">
                <a16:creationId xmlns:a16="http://schemas.microsoft.com/office/drawing/2014/main" id="{36836E2C-3802-455E-8E32-31388EC4CC2A}"/>
              </a:ext>
            </a:extLst>
          </p:cNvPr>
          <p:cNvSpPr>
            <a:spLocks xmlns:a="http://schemas.openxmlformats.org/drawingml/2006/main" noGrp="1"/>
          </p:cNvSpPr>
          <p:nvPr/>
        </p:nvSpPr>
        <p:spPr>
          <a:xfrm xmlns:a="http://schemas.openxmlformats.org/drawingml/2006/main">
            <a:off x="8286750" y="2286000"/>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7233B"/>
                </a:solidFill>
                <a:latin typeface="Raleway"/>
                <a:ea typeface="Raleway"/>
                <a:cs typeface="Raleway"/>
              </a:defRPr>
            </a:pPr>
            <a:r>
              <a:rPr sz="2100" b="1">
                <a:solidFill>
                  <a:srgbClr val="17233B"/>
                </a:solidFill>
                <a:latin typeface="Raleway"/>
                <a:ea typeface="Raleway"/>
                <a:cs typeface="Raleway"/>
              </a:rPr>
              <a:t>Bắt đầu nhanh</a:t>
            </a:r>
          </a:p>
        </p:txBody>
      </p:sp>
      <p:sp>
        <p:nvSpPr>
          <p:cNvPr id="8" name="">
            <a:extLst xmlns:a="http://schemas.openxmlformats.org/drawingml/2006/main">
              <a:ext uri="{FF2B5EF4-FFF2-40B4-BE49-F238E27FC236}">
                <a16:creationId xmlns:a16="http://schemas.microsoft.com/office/drawing/2014/main" id="{908A01E3-88D8-42A5-901A-DF19A105D5F2}"/>
              </a:ext>
            </a:extLst>
          </p:cNvPr>
          <p:cNvSpPr>
            <a:spLocks xmlns:a="http://schemas.openxmlformats.org/drawingml/2006/main" noGrp="1"/>
          </p:cNvSpPr>
          <p:nvPr/>
        </p:nvSpPr>
        <p:spPr>
          <a:xfrm xmlns:a="http://schemas.openxmlformats.org/drawingml/2006/main">
            <a:off x="8286750" y="2857500"/>
            <a:ext cx="30480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5F6B7A"/>
                </a:solidFill>
                <a:latin typeface="Roboto"/>
                <a:ea typeface="Roboto"/>
                <a:cs typeface="Roboto"/>
              </a:defRPr>
            </a:pPr>
            <a:r>
              <a:rPr sz="1575" b="0">
                <a:solidFill>
                  <a:srgbClr val="5F6B7A"/>
                </a:solidFill>
                <a:latin typeface="Roboto"/>
                <a:ea typeface="Roboto"/>
                <a:cs typeface="Roboto"/>
              </a:rPr>
              <a:t>Mở và chỉnh sửa bảng điểm ngay trong trình duyệt. Đăng nhập chỉ xuất hiện khi người dùng muốn lưu snapshot vào SQLite.</a:t>
            </a:r>
          </a:p>
        </p:txBody>
      </p:sp>
      <p:sp>
        <p:nvSpPr>
          <p:cNvPr id="9" name="">
            <a:extLst xmlns:a="http://schemas.openxmlformats.org/drawingml/2006/main">
              <a:ext uri="{FF2B5EF4-FFF2-40B4-BE49-F238E27FC236}">
                <a16:creationId xmlns:a16="http://schemas.microsoft.com/office/drawing/2014/main" id="{EF1EEDFD-C680-4BC8-B586-5E61E90C9B8A}"/>
              </a:ext>
            </a:extLst>
          </p:cNvPr>
          <p:cNvSpPr>
            <a:spLocks xmlns:a="http://schemas.openxmlformats.org/drawingml/2006/main" noGrp="1"/>
          </p:cNvSpPr>
          <p:nvPr/>
        </p:nvSpPr>
        <p:spPr>
          <a:xfrm xmlns:a="http://schemas.openxmlformats.org/drawingml/2006/main">
            <a:off x="8286750" y="5162550"/>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050" b="0">
                <a:solidFill>
                  <a:srgbClr val="5F6B7A"/>
                </a:solidFill>
                <a:latin typeface="Roboto"/>
                <a:ea typeface="Roboto"/>
                <a:cs typeface="Roboto"/>
              </a:defRPr>
            </a:pPr>
            <a:r>
              <a:rPr sz="1050" b="0">
                <a:solidFill>
                  <a:srgbClr val="5F6B7A"/>
                </a:solidFill>
                <a:latin typeface="Roboto"/>
                <a:ea typeface="Roboto"/>
                <a:cs typeface="Roboto"/>
              </a:rPr>
              <a:t>Ảnh chụp từ localhost, dữ liệu demo tổng hợp</a:t>
            </a:r>
          </a:p>
        </p:txBody>
      </p:sp>
      <p:sp>
        <p:nvSpPr>
          <p:cNvPr id="10" name="">
            <a:extLst xmlns:a="http://schemas.openxmlformats.org/drawingml/2006/main">
              <a:ext uri="{FF2B5EF4-FFF2-40B4-BE49-F238E27FC236}">
                <a16:creationId xmlns:a16="http://schemas.microsoft.com/office/drawing/2014/main" id="{68E8E72C-47D0-4D42-9DED-1FD87F435020}"/>
              </a:ext>
            </a:extLst>
          </p:cNvPr>
          <p:cNvSpPr>
            <a:spLocks xmlns:a="http://schemas.openxmlformats.org/drawingml/2006/main" noGrp="1"/>
          </p:cNvSpPr>
          <p:nvPr/>
        </p:nvSpPr>
        <p:spPr>
          <a:xfrm xmlns:a="http://schemas.openxmlformats.org/drawingml/2006/main">
            <a:off x="9715500" y="6496050"/>
            <a:ext cx="1809750" cy="171450"/>
          </a:xfrm>
          <a:prstGeom xmlns:a="http://schemas.openxmlformats.org/drawingml/2006/main" prst="rect">
            <a:avLst/>
          </a:prstGeom>
          <a:solidFill xmlns:a="http://schemas.openxmlformats.org/drawingml/2006/main">
            <a:srgbClr val="08656C"/>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750" b="1">
                <a:solidFill>
                  <a:srgbClr val="FFFFFF"/>
                </a:solidFill>
                <a:latin typeface="Roboto"/>
                <a:ea typeface="Roboto"/>
                <a:cs typeface="Roboto"/>
              </a:defRPr>
            </a:pPr>
            <a:r>
              <a:rPr sz="750" b="1">
                <a:solidFill>
                  <a:srgbClr val="FFFFFF"/>
                </a:solidFill>
                <a:latin typeface="Roboto"/>
                <a:ea typeface="Roboto"/>
                <a:cs typeface="Roboto"/>
              </a:rPr>
              <a:t>FUGRADE  /  SDD  /  09</a:t>
            </a:r>
          </a:p>
        </p:txBody>
      </p:sp>
    </p:spTree>
    <p:extLst>
      <p:ext uri="{BB962C8B-B14F-4D97-AF65-F5344CB8AC3E}">
        <p14:creationId xmlns:p14="http://schemas.microsoft.com/office/powerpoint/2010/main" val="336914821"/>
      </p:ext>
    </p:extLst>
  </p:cSld>
</p:sld>
</file>

<file path=ppt/slides/slide10.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D84A4D9-F284-487B-8F31-512FEFCC9FD9}"/>
              </a:ext>
            </a:extLst>
          </p:cNvPr>
          <p:cNvSpPr>
            <a:spLocks xmlns:a="http://schemas.openxmlformats.org/drawingml/2006/main" noGrp="1"/>
          </p:cNvSpPr>
          <p:nvPr/>
        </p:nvSpPr>
        <p:spPr>
          <a:xfrm xmlns:a="http://schemas.openxmlformats.org/drawingml/2006/main">
            <a:off x="666750" y="457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17233B"/>
                </a:solidFill>
                <a:latin typeface="Raleway"/>
                <a:ea typeface="Raleway"/>
                <a:cs typeface="Raleway"/>
              </a:defRPr>
            </a:pPr>
            <a:r>
              <a:rPr sz="2850" b="1">
                <a:solidFill>
                  <a:srgbClr val="17233B"/>
                </a:solidFill>
                <a:latin typeface="Raleway"/>
                <a:ea typeface="Raleway"/>
                <a:cs typeface="Raleway"/>
              </a:rPr>
              <a:t>Mở file .fg có mật khẩu</a:t>
            </a:r>
          </a:p>
        </p:txBody>
      </p:sp>
      <p:sp>
        <p:nvSpPr>
          <p:cNvPr id="2" name="">
            <a:extLst xmlns:a="http://schemas.openxmlformats.org/drawingml/2006/main">
              <a:ext uri="{FF2B5EF4-FFF2-40B4-BE49-F238E27FC236}">
                <a16:creationId xmlns:a16="http://schemas.microsoft.com/office/drawing/2014/main" id="{A01741DE-0B5A-45AA-AD2D-66AED0CF6812}"/>
              </a:ext>
            </a:extLst>
          </p:cNvPr>
          <p:cNvSpPr>
            <a:spLocks xmlns:a="http://schemas.openxmlformats.org/drawingml/2006/main" noGrp="1"/>
          </p:cNvSpPr>
          <p:nvPr/>
        </p:nvSpPr>
        <p:spPr>
          <a:xfrm xmlns:a="http://schemas.openxmlformats.org/drawingml/2006/main">
            <a:off x="666750" y="1028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F6B7A"/>
                </a:solidFill>
                <a:latin typeface="Roboto"/>
                <a:ea typeface="Roboto"/>
                <a:cs typeface="Roboto"/>
              </a:defRPr>
            </a:pPr>
            <a:r>
              <a:rPr sz="1350" b="0">
                <a:solidFill>
                  <a:srgbClr val="5F6B7A"/>
                </a:solidFill>
                <a:latin typeface="Roboto"/>
                <a:ea typeface="Roboto"/>
                <a:cs typeface="Roboto"/>
              </a:rPr>
              <a:t>Ứng dụng chỉ yêu cầu mật khẩu sau khi phát hiện payload được bảo vệ</a:t>
            </a:r>
          </a:p>
        </p:txBody>
      </p:sp>
      <p:sp>
        <p:nvSpPr>
          <p:cNvPr id="3" name="">
            <a:extLst xmlns:a="http://schemas.openxmlformats.org/drawingml/2006/main">
              <a:ext uri="{FF2B5EF4-FFF2-40B4-BE49-F238E27FC236}">
                <a16:creationId xmlns:a16="http://schemas.microsoft.com/office/drawing/2014/main" id="{006B3F6D-48B2-4456-839F-41E7C6877633}"/>
              </a:ext>
            </a:extLst>
          </p:cNvPr>
          <p:cNvSpPr>
            <a:spLocks xmlns:a="http://schemas.openxmlformats.org/drawingml/2006/main" noGrp="1"/>
          </p:cNvSpPr>
          <p:nvPr/>
        </p:nvSpPr>
        <p:spPr>
          <a:xfrm xmlns:a="http://schemas.openxmlformats.org/drawingml/2006/main">
            <a:off x="666750" y="1400175"/>
            <a:ext cx="685800" cy="38100"/>
          </a:xfrm>
          <a:prstGeom xmlns:a="http://schemas.openxmlformats.org/drawingml/2006/main" prst="rect">
            <a:avLst/>
          </a:prstGeom>
          <a:solidFill xmlns:a="http://schemas.openxmlformats.org/drawingml/2006/main">
            <a:srgbClr val="0C8D9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84E1C63-F1B4-47AD-9786-4DC76365E1C4}"/>
              </a:ext>
            </a:extLst>
          </p:cNvPr>
          <p:cNvSpPr>
            <a:spLocks xmlns:a="http://schemas.openxmlformats.org/drawingml/2006/main" noGrp="1"/>
          </p:cNvSpPr>
          <p:nvPr/>
        </p:nvSpPr>
        <p:spPr>
          <a:xfrm xmlns:a="http://schemas.openxmlformats.org/drawingml/2006/main">
            <a:off x="590550" y="1657350"/>
            <a:ext cx="7524750" cy="4286250"/>
          </a:xfrm>
          <a:prstGeom xmlns:a="http://schemas.openxmlformats.org/drawingml/2006/main" prst="roundRect">
            <a:avLst>
              <a:gd name="adj" fmla="val 2667"/>
            </a:avLst>
          </a:prstGeom>
          <a:solidFill xmlns:a="http://schemas.openxmlformats.org/drawingml/2006/main">
            <a:srgbClr val="F4F7FB"/>
          </a:solidFill>
          <a:ln xmlns:a="http://schemas.openxmlformats.org/drawingml/2006/main" w="9525">
            <a:solidFill>
              <a:srgbClr val="DDE4EC"/>
            </a:solid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945c5aba0104b73"/>
          <a:stretch xmlns:a="http://schemas.openxmlformats.org/drawingml/2006/main"/>
        </p:blipFill>
        <p:spPr>
          <a:xfrm xmlns:a="http://schemas.openxmlformats.org/drawingml/2006/main">
            <a:off x="746125" y="1771650"/>
            <a:ext cx="7213600" cy="4057650"/>
          </a:xfrm>
          <a:prstGeom xmlns:a="http://schemas.openxmlformats.org/drawingml/2006/main" prst="roundRect">
            <a:avLst>
              <a:gd name="adj" fmla="val 2347"/>
            </a:avLst>
          </a:prstGeom>
        </p:spPr>
      </p:pic>
      <p:sp>
        <p:nvSpPr>
          <p:cNvPr id="6" name="">
            <a:extLst xmlns:a="http://schemas.openxmlformats.org/drawingml/2006/main">
              <a:ext uri="{FF2B5EF4-FFF2-40B4-BE49-F238E27FC236}">
                <a16:creationId xmlns:a16="http://schemas.microsoft.com/office/drawing/2014/main" id="{1DCCFCAF-8B65-482B-B5C4-4BA5310B041A}"/>
              </a:ext>
            </a:extLst>
          </p:cNvPr>
          <p:cNvSpPr>
            <a:spLocks xmlns:a="http://schemas.openxmlformats.org/drawingml/2006/main" noGrp="1"/>
          </p:cNvSpPr>
          <p:nvPr/>
        </p:nvSpPr>
        <p:spPr>
          <a:xfrm xmlns:a="http://schemas.openxmlformats.org/drawingml/2006/main">
            <a:off x="8477250" y="20002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1">
                <a:solidFill>
                  <a:srgbClr val="0C8D96"/>
                </a:solidFill>
                <a:latin typeface="Roboto"/>
                <a:ea typeface="Roboto"/>
                <a:cs typeface="Roboto"/>
              </a:defRPr>
            </a:pPr>
            <a:r>
              <a:rPr sz="975" b="1">
                <a:solidFill>
                  <a:srgbClr val="0C8D96"/>
                </a:solidFill>
                <a:latin typeface="Roboto"/>
                <a:ea typeface="Roboto"/>
                <a:cs typeface="Roboto"/>
              </a:rPr>
              <a:t>HÀNH VI ĐÃ CHẠY</a:t>
            </a:r>
          </a:p>
        </p:txBody>
      </p:sp>
      <p:sp>
        <p:nvSpPr>
          <p:cNvPr id="7" name="">
            <a:extLst xmlns:a="http://schemas.openxmlformats.org/drawingml/2006/main">
              <a:ext uri="{FF2B5EF4-FFF2-40B4-BE49-F238E27FC236}">
                <a16:creationId xmlns:a16="http://schemas.microsoft.com/office/drawing/2014/main" id="{85BFF994-64A5-458D-8469-AC5321F7D49B}"/>
              </a:ext>
            </a:extLst>
          </p:cNvPr>
          <p:cNvSpPr>
            <a:spLocks xmlns:a="http://schemas.openxmlformats.org/drawingml/2006/main" noGrp="1"/>
          </p:cNvSpPr>
          <p:nvPr/>
        </p:nvSpPr>
        <p:spPr>
          <a:xfrm xmlns:a="http://schemas.openxmlformats.org/drawingml/2006/main">
            <a:off x="8477250" y="2400300"/>
            <a:ext cx="2857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Giới hạn kích thước file ở 10 MB</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Phân biệt thiếu mật khẩu và mật khẩu không đúng</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Trả dữ liệu đã parse về guest workspace sau khi xác minh</a:t>
            </a:r>
          </a:p>
        </p:txBody>
      </p:sp>
      <p:sp>
        <p:nvSpPr>
          <p:cNvPr id="8" name="">
            <a:extLst xmlns:a="http://schemas.openxmlformats.org/drawingml/2006/main">
              <a:ext uri="{FF2B5EF4-FFF2-40B4-BE49-F238E27FC236}">
                <a16:creationId xmlns:a16="http://schemas.microsoft.com/office/drawing/2014/main" id="{88299894-9491-4AE0-8FEB-8382629214C2}"/>
              </a:ext>
            </a:extLst>
          </p:cNvPr>
          <p:cNvSpPr>
            <a:spLocks xmlns:a="http://schemas.openxmlformats.org/drawingml/2006/main" noGrp="1"/>
          </p:cNvSpPr>
          <p:nvPr/>
        </p:nvSpPr>
        <p:spPr>
          <a:xfrm xmlns:a="http://schemas.openxmlformats.org/drawingml/2006/main">
            <a:off x="8477250" y="5000625"/>
            <a:ext cx="285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F6B7A"/>
                </a:solidFill>
                <a:latin typeface="Roboto"/>
                <a:ea typeface="Roboto"/>
                <a:cs typeface="Roboto"/>
              </a:defRPr>
            </a:pPr>
            <a:r>
              <a:rPr sz="1350" b="0">
                <a:solidFill>
                  <a:srgbClr val="5F6B7A"/>
                </a:solidFill>
                <a:latin typeface="Roboto"/>
                <a:ea typeface="Roboto"/>
                <a:cs typeface="Roboto"/>
              </a:rPr>
              <a:t>Compatibility giữ AES-256-CBC và MD5 theo định dạng legacy.</a:t>
            </a:r>
          </a:p>
        </p:txBody>
      </p:sp>
      <p:sp>
        <p:nvSpPr>
          <p:cNvPr id="9" name="">
            <a:extLst xmlns:a="http://schemas.openxmlformats.org/drawingml/2006/main">
              <a:ext uri="{FF2B5EF4-FFF2-40B4-BE49-F238E27FC236}">
                <a16:creationId xmlns:a16="http://schemas.microsoft.com/office/drawing/2014/main" id="{2C88B480-4660-4E21-B723-B9DA3B69B904}"/>
              </a:ext>
            </a:extLst>
          </p:cNvPr>
          <p:cNvSpPr>
            <a:spLocks xmlns:a="http://schemas.openxmlformats.org/drawingml/2006/main" noGrp="1"/>
          </p:cNvSpPr>
          <p:nvPr/>
        </p:nvSpPr>
        <p:spPr>
          <a:xfrm xmlns:a="http://schemas.openxmlformats.org/drawingml/2006/main">
            <a:off x="9715500" y="6496050"/>
            <a:ext cx="1809750" cy="171450"/>
          </a:xfrm>
          <a:prstGeom xmlns:a="http://schemas.openxmlformats.org/drawingml/2006/main" prst="rect">
            <a:avLst/>
          </a:prstGeom>
          <a:solidFill xmlns:a="http://schemas.openxmlformats.org/drawingml/2006/main">
            <a:srgbClr val="08656C"/>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750" b="1">
                <a:solidFill>
                  <a:srgbClr val="FFFFFF"/>
                </a:solidFill>
                <a:latin typeface="Roboto"/>
                <a:ea typeface="Roboto"/>
                <a:cs typeface="Roboto"/>
              </a:defRPr>
            </a:pPr>
            <a:r>
              <a:rPr sz="750" b="1">
                <a:solidFill>
                  <a:srgbClr val="FFFFFF"/>
                </a:solidFill>
                <a:latin typeface="Roboto"/>
                <a:ea typeface="Roboto"/>
                <a:cs typeface="Roboto"/>
              </a:rPr>
              <a:t>FUGRADE  /  SDD  /  10</a:t>
            </a:r>
          </a:p>
        </p:txBody>
      </p:sp>
    </p:spTree>
    <p:extLst>
      <p:ext uri="{BB962C8B-B14F-4D97-AF65-F5344CB8AC3E}">
        <p14:creationId xmlns:p14="http://schemas.microsoft.com/office/powerpoint/2010/main" val="988544877"/>
      </p:ext>
    </p:extLst>
  </p:cSld>
</p:sld>
</file>

<file path=ppt/slides/slide11.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D61BD18-EB7F-4E07-99B4-E4C7D1C801EC}"/>
              </a:ext>
            </a:extLst>
          </p:cNvPr>
          <p:cNvSpPr>
            <a:spLocks xmlns:a="http://schemas.openxmlformats.org/drawingml/2006/main" noGrp="1"/>
          </p:cNvSpPr>
          <p:nvPr/>
        </p:nvSpPr>
        <p:spPr>
          <a:xfrm xmlns:a="http://schemas.openxmlformats.org/drawingml/2006/main">
            <a:off x="666750" y="457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17233B"/>
                </a:solidFill>
                <a:latin typeface="Raleway"/>
                <a:ea typeface="Raleway"/>
                <a:cs typeface="Raleway"/>
              </a:defRPr>
            </a:pPr>
            <a:r>
              <a:rPr sz="2850" b="1">
                <a:solidFill>
                  <a:srgbClr val="17233B"/>
                </a:solidFill>
                <a:latin typeface="Raleway"/>
                <a:ea typeface="Raleway"/>
                <a:cs typeface="Raleway"/>
              </a:rPr>
              <a:t>Workspace chỉnh sửa bảng điểm</a:t>
            </a:r>
          </a:p>
        </p:txBody>
      </p:sp>
      <p:sp>
        <p:nvSpPr>
          <p:cNvPr id="2" name="">
            <a:extLst xmlns:a="http://schemas.openxmlformats.org/drawingml/2006/main">
              <a:ext uri="{FF2B5EF4-FFF2-40B4-BE49-F238E27FC236}">
                <a16:creationId xmlns:a16="http://schemas.microsoft.com/office/drawing/2014/main" id="{F3D5B767-D6CB-4637-9EFB-DFCEAAE423A6}"/>
              </a:ext>
            </a:extLst>
          </p:cNvPr>
          <p:cNvSpPr>
            <a:spLocks xmlns:a="http://schemas.openxmlformats.org/drawingml/2006/main" noGrp="1"/>
          </p:cNvSpPr>
          <p:nvPr/>
        </p:nvSpPr>
        <p:spPr>
          <a:xfrm xmlns:a="http://schemas.openxmlformats.org/drawingml/2006/main">
            <a:off x="666750" y="1028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F6B7A"/>
                </a:solidFill>
                <a:latin typeface="Roboto"/>
                <a:ea typeface="Roboto"/>
                <a:cs typeface="Roboto"/>
              </a:defRPr>
            </a:pPr>
            <a:r>
              <a:rPr sz="1350" b="0">
                <a:solidFill>
                  <a:srgbClr val="5F6B7A"/>
                </a:solidFill>
                <a:latin typeface="Roboto"/>
                <a:ea typeface="Roboto"/>
                <a:cs typeface="Roboto"/>
              </a:rPr>
              <a:t>Một màn hình tập trung cho metadata, cột điểm, tìm kiếm và thao tác nhanh</a:t>
            </a:r>
          </a:p>
        </p:txBody>
      </p:sp>
      <p:sp>
        <p:nvSpPr>
          <p:cNvPr id="3" name="">
            <a:extLst xmlns:a="http://schemas.openxmlformats.org/drawingml/2006/main">
              <a:ext uri="{FF2B5EF4-FFF2-40B4-BE49-F238E27FC236}">
                <a16:creationId xmlns:a16="http://schemas.microsoft.com/office/drawing/2014/main" id="{A459F9F2-FE29-481B-BA77-189B2D14E14C}"/>
              </a:ext>
            </a:extLst>
          </p:cNvPr>
          <p:cNvSpPr>
            <a:spLocks xmlns:a="http://schemas.openxmlformats.org/drawingml/2006/main" noGrp="1"/>
          </p:cNvSpPr>
          <p:nvPr/>
        </p:nvSpPr>
        <p:spPr>
          <a:xfrm xmlns:a="http://schemas.openxmlformats.org/drawingml/2006/main">
            <a:off x="666750" y="1400175"/>
            <a:ext cx="685800" cy="38100"/>
          </a:xfrm>
          <a:prstGeom xmlns:a="http://schemas.openxmlformats.org/drawingml/2006/main" prst="rect">
            <a:avLst/>
          </a:prstGeom>
          <a:solidFill xmlns:a="http://schemas.openxmlformats.org/drawingml/2006/main">
            <a:srgbClr val="0C8D9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31FECA8-E545-4A3B-973B-9FC2CDF6932C}"/>
              </a:ext>
            </a:extLst>
          </p:cNvPr>
          <p:cNvSpPr>
            <a:spLocks xmlns:a="http://schemas.openxmlformats.org/drawingml/2006/main" noGrp="1"/>
          </p:cNvSpPr>
          <p:nvPr/>
        </p:nvSpPr>
        <p:spPr>
          <a:xfrm xmlns:a="http://schemas.openxmlformats.org/drawingml/2006/main">
            <a:off x="552450" y="1581150"/>
            <a:ext cx="8382000" cy="4533900"/>
          </a:xfrm>
          <a:prstGeom xmlns:a="http://schemas.openxmlformats.org/drawingml/2006/main" prst="roundRect">
            <a:avLst>
              <a:gd name="adj" fmla="val 2521"/>
            </a:avLst>
          </a:prstGeom>
          <a:solidFill xmlns:a="http://schemas.openxmlformats.org/drawingml/2006/main">
            <a:srgbClr val="F4F7FB"/>
          </a:solidFill>
          <a:ln xmlns:a="http://schemas.openxmlformats.org/drawingml/2006/main" w="9525">
            <a:solidFill>
              <a:srgbClr val="DDE4EC"/>
            </a:solid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29f77b1e9a3467b"/>
          <a:stretch xmlns:a="http://schemas.openxmlformats.org/drawingml/2006/main"/>
        </p:blipFill>
        <p:spPr>
          <a:xfrm xmlns:a="http://schemas.openxmlformats.org/drawingml/2006/main">
            <a:off x="1373970" y="1695450"/>
            <a:ext cx="6738961" cy="4305300"/>
          </a:xfrm>
          <a:prstGeom xmlns:a="http://schemas.openxmlformats.org/drawingml/2006/main" prst="roundRect">
            <a:avLst>
              <a:gd name="adj" fmla="val 2212"/>
            </a:avLst>
          </a:prstGeom>
        </p:spPr>
      </p:pic>
      <p:sp>
        <p:nvSpPr>
          <p:cNvPr id="6" name="">
            <a:extLst xmlns:a="http://schemas.openxmlformats.org/drawingml/2006/main">
              <a:ext uri="{FF2B5EF4-FFF2-40B4-BE49-F238E27FC236}">
                <a16:creationId xmlns:a16="http://schemas.microsoft.com/office/drawing/2014/main" id="{A7AA484F-8D5E-4780-B567-7BB5867B40B3}"/>
              </a:ext>
            </a:extLst>
          </p:cNvPr>
          <p:cNvSpPr>
            <a:spLocks xmlns:a="http://schemas.openxmlformats.org/drawingml/2006/main" noGrp="1"/>
          </p:cNvSpPr>
          <p:nvPr/>
        </p:nvSpPr>
        <p:spPr>
          <a:xfrm xmlns:a="http://schemas.openxmlformats.org/drawingml/2006/main">
            <a:off x="9286875" y="1952625"/>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1">
                <a:solidFill>
                  <a:srgbClr val="0C8D96"/>
                </a:solidFill>
                <a:latin typeface="Roboto"/>
                <a:ea typeface="Roboto"/>
                <a:cs typeface="Roboto"/>
              </a:defRPr>
            </a:pPr>
            <a:r>
              <a:rPr sz="975" b="1">
                <a:solidFill>
                  <a:srgbClr val="0C8D96"/>
                </a:solidFill>
                <a:latin typeface="Roboto"/>
                <a:ea typeface="Roboto"/>
                <a:cs typeface="Roboto"/>
              </a:rPr>
              <a:t>WORKSPACE TRONG PHIÊN</a:t>
            </a:r>
          </a:p>
        </p:txBody>
      </p:sp>
      <p:sp>
        <p:nvSpPr>
          <p:cNvPr id="7" name="">
            <a:extLst xmlns:a="http://schemas.openxmlformats.org/drawingml/2006/main">
              <a:ext uri="{FF2B5EF4-FFF2-40B4-BE49-F238E27FC236}">
                <a16:creationId xmlns:a16="http://schemas.microsoft.com/office/drawing/2014/main" id="{864B3AF2-B060-4F8E-8FF7-A9DF86611C0A}"/>
              </a:ext>
            </a:extLst>
          </p:cNvPr>
          <p:cNvSpPr>
            <a:spLocks xmlns:a="http://schemas.openxmlformats.org/drawingml/2006/main" noGrp="1"/>
          </p:cNvSpPr>
          <p:nvPr/>
        </p:nvSpPr>
        <p:spPr>
          <a:xfrm xmlns:a="http://schemas.openxmlformats.org/drawingml/2006/main">
            <a:off x="9286875" y="23622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17233B"/>
                </a:solidFill>
                <a:latin typeface="Raleway"/>
                <a:ea typeface="Raleway"/>
                <a:cs typeface="Raleway"/>
              </a:defRPr>
            </a:pPr>
            <a:r>
              <a:rPr sz="1725" b="1">
                <a:solidFill>
                  <a:srgbClr val="17233B"/>
                </a:solidFill>
                <a:latin typeface="Raleway"/>
                <a:ea typeface="Raleway"/>
                <a:cs typeface="Raleway"/>
              </a:rPr>
              <a:t>Chỉnh trực tiếp</a:t>
            </a:r>
          </a:p>
        </p:txBody>
      </p:sp>
      <p:sp>
        <p:nvSpPr>
          <p:cNvPr id="8" name="">
            <a:extLst xmlns:a="http://schemas.openxmlformats.org/drawingml/2006/main">
              <a:ext uri="{FF2B5EF4-FFF2-40B4-BE49-F238E27FC236}">
                <a16:creationId xmlns:a16="http://schemas.microsoft.com/office/drawing/2014/main" id="{BCF789F5-1A32-4298-8745-FA22C569285B}"/>
              </a:ext>
            </a:extLst>
          </p:cNvPr>
          <p:cNvSpPr>
            <a:spLocks xmlns:a="http://schemas.openxmlformats.org/drawingml/2006/main" noGrp="1"/>
          </p:cNvSpPr>
          <p:nvPr/>
        </p:nvSpPr>
        <p:spPr>
          <a:xfrm xmlns:a="http://schemas.openxmlformats.org/drawingml/2006/main">
            <a:off x="9286875" y="2781300"/>
            <a:ext cx="228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F6B7A"/>
                </a:solidFill>
                <a:latin typeface="Roboto"/>
                <a:ea typeface="Roboto"/>
                <a:cs typeface="Roboto"/>
              </a:defRPr>
            </a:pPr>
            <a:r>
              <a:rPr sz="1425" b="0">
                <a:solidFill>
                  <a:srgbClr val="5F6B7A"/>
                </a:solidFill>
                <a:latin typeface="Roboto"/>
                <a:ea typeface="Roboto"/>
                <a:cs typeface="Roboto"/>
              </a:rPr>
              <a:t>Nhấp đúp ô điểm hoặc nhận xét để sửa. Enter lưu giá trị, Esc hủy thao tác.</a:t>
            </a:r>
          </a:p>
        </p:txBody>
      </p:sp>
      <p:sp>
        <p:nvSpPr>
          <p:cNvPr id="9" name="">
            <a:extLst xmlns:a="http://schemas.openxmlformats.org/drawingml/2006/main">
              <a:ext uri="{FF2B5EF4-FFF2-40B4-BE49-F238E27FC236}">
                <a16:creationId xmlns:a16="http://schemas.microsoft.com/office/drawing/2014/main" id="{21257502-2301-4752-83C3-002668282790}"/>
              </a:ext>
            </a:extLst>
          </p:cNvPr>
          <p:cNvSpPr>
            <a:spLocks xmlns:a="http://schemas.openxmlformats.org/drawingml/2006/main" noGrp="1"/>
          </p:cNvSpPr>
          <p:nvPr/>
        </p:nvSpPr>
        <p:spPr>
          <a:xfrm xmlns:a="http://schemas.openxmlformats.org/drawingml/2006/main">
            <a:off x="9286875" y="423862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17233B"/>
                </a:solidFill>
                <a:latin typeface="Raleway"/>
                <a:ea typeface="Raleway"/>
                <a:cs typeface="Raleway"/>
              </a:defRPr>
            </a:pPr>
            <a:r>
              <a:rPr sz="1725" b="1">
                <a:solidFill>
                  <a:srgbClr val="17233B"/>
                </a:solidFill>
                <a:latin typeface="Raleway"/>
                <a:ea typeface="Raleway"/>
                <a:cs typeface="Raleway"/>
              </a:rPr>
              <a:t>Giữ trạng thái cục bộ</a:t>
            </a:r>
          </a:p>
        </p:txBody>
      </p:sp>
      <p:sp>
        <p:nvSpPr>
          <p:cNvPr id="10" name="">
            <a:extLst xmlns:a="http://schemas.openxmlformats.org/drawingml/2006/main">
              <a:ext uri="{FF2B5EF4-FFF2-40B4-BE49-F238E27FC236}">
                <a16:creationId xmlns:a16="http://schemas.microsoft.com/office/drawing/2014/main" id="{BC4F97DA-B14B-43A2-A3AA-61610A968A69}"/>
              </a:ext>
            </a:extLst>
          </p:cNvPr>
          <p:cNvSpPr>
            <a:spLocks xmlns:a="http://schemas.openxmlformats.org/drawingml/2006/main" noGrp="1"/>
          </p:cNvSpPr>
          <p:nvPr/>
        </p:nvSpPr>
        <p:spPr>
          <a:xfrm xmlns:a="http://schemas.openxmlformats.org/drawingml/2006/main">
            <a:off x="9286875" y="4657725"/>
            <a:ext cx="228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F6B7A"/>
                </a:solidFill>
                <a:latin typeface="Roboto"/>
                <a:ea typeface="Roboto"/>
                <a:cs typeface="Roboto"/>
              </a:defRPr>
            </a:pPr>
            <a:r>
              <a:rPr sz="1425" b="0">
                <a:solidFill>
                  <a:srgbClr val="5F6B7A"/>
                </a:solidFill>
                <a:latin typeface="Roboto"/>
                <a:ea typeface="Roboto"/>
                <a:cs typeface="Roboto"/>
              </a:rPr>
              <a:t>Workspace nằm trong sessionStorage của tab cho tới khi người dùng chọn Lưu.</a:t>
            </a:r>
          </a:p>
        </p:txBody>
      </p:sp>
      <p:sp>
        <p:nvSpPr>
          <p:cNvPr id="11" name="">
            <a:extLst xmlns:a="http://schemas.openxmlformats.org/drawingml/2006/main">
              <a:ext uri="{FF2B5EF4-FFF2-40B4-BE49-F238E27FC236}">
                <a16:creationId xmlns:a16="http://schemas.microsoft.com/office/drawing/2014/main" id="{A99C5B0B-85FD-4205-960A-FCD4EF3CA1A8}"/>
              </a:ext>
            </a:extLst>
          </p:cNvPr>
          <p:cNvSpPr>
            <a:spLocks xmlns:a="http://schemas.openxmlformats.org/drawingml/2006/main" noGrp="1"/>
          </p:cNvSpPr>
          <p:nvPr/>
        </p:nvSpPr>
        <p:spPr>
          <a:xfrm xmlns:a="http://schemas.openxmlformats.org/drawingml/2006/main">
            <a:off x="9715500" y="6496050"/>
            <a:ext cx="1809750" cy="171450"/>
          </a:xfrm>
          <a:prstGeom xmlns:a="http://schemas.openxmlformats.org/drawingml/2006/main" prst="rect">
            <a:avLst/>
          </a:prstGeom>
          <a:solidFill xmlns:a="http://schemas.openxmlformats.org/drawingml/2006/main">
            <a:srgbClr val="08656C"/>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750" b="1">
                <a:solidFill>
                  <a:srgbClr val="FFFFFF"/>
                </a:solidFill>
                <a:latin typeface="Roboto"/>
                <a:ea typeface="Roboto"/>
                <a:cs typeface="Roboto"/>
              </a:defRPr>
            </a:pPr>
            <a:r>
              <a:rPr sz="750" b="1">
                <a:solidFill>
                  <a:srgbClr val="FFFFFF"/>
                </a:solidFill>
                <a:latin typeface="Roboto"/>
                <a:ea typeface="Roboto"/>
                <a:cs typeface="Roboto"/>
              </a:rPr>
              <a:t>FUGRADE  /  SDD  /  11</a:t>
            </a:r>
          </a:p>
        </p:txBody>
      </p:sp>
    </p:spTree>
    <p:extLst>
      <p:ext uri="{BB962C8B-B14F-4D97-AF65-F5344CB8AC3E}">
        <p14:creationId xmlns:p14="http://schemas.microsoft.com/office/powerpoint/2010/main" val="2101806758"/>
      </p:ext>
    </p:extLst>
  </p:cSld>
</p:sld>
</file>

<file path=ppt/slides/slide12.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AF414F5-3D6F-46C4-9C6E-2C698037F349}"/>
              </a:ext>
            </a:extLst>
          </p:cNvPr>
          <p:cNvSpPr>
            <a:spLocks xmlns:a="http://schemas.openxmlformats.org/drawingml/2006/main" noGrp="1"/>
          </p:cNvSpPr>
          <p:nvPr/>
        </p:nvSpPr>
        <p:spPr>
          <a:xfrm xmlns:a="http://schemas.openxmlformats.org/drawingml/2006/main">
            <a:off x="666750" y="457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17233B"/>
                </a:solidFill>
                <a:latin typeface="Raleway"/>
                <a:ea typeface="Raleway"/>
                <a:cs typeface="Raleway"/>
              </a:defRPr>
            </a:pPr>
            <a:r>
              <a:rPr sz="2850" b="1">
                <a:solidFill>
                  <a:srgbClr val="17233B"/>
                </a:solidFill>
                <a:latin typeface="Raleway"/>
                <a:ea typeface="Raleway"/>
                <a:cs typeface="Raleway"/>
              </a:rPr>
              <a:t>Import hàng loạt có preview validation</a:t>
            </a:r>
          </a:p>
        </p:txBody>
      </p:sp>
      <p:sp>
        <p:nvSpPr>
          <p:cNvPr id="2" name="">
            <a:extLst xmlns:a="http://schemas.openxmlformats.org/drawingml/2006/main">
              <a:ext uri="{FF2B5EF4-FFF2-40B4-BE49-F238E27FC236}">
                <a16:creationId xmlns:a16="http://schemas.microsoft.com/office/drawing/2014/main" id="{90BF52F2-7EF5-407A-A3F0-7E93F9893E1F}"/>
              </a:ext>
            </a:extLst>
          </p:cNvPr>
          <p:cNvSpPr>
            <a:spLocks xmlns:a="http://schemas.openxmlformats.org/drawingml/2006/main" noGrp="1"/>
          </p:cNvSpPr>
          <p:nvPr/>
        </p:nvSpPr>
        <p:spPr>
          <a:xfrm xmlns:a="http://schemas.openxmlformats.org/drawingml/2006/main">
            <a:off x="666750" y="1028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F6B7A"/>
                </a:solidFill>
                <a:latin typeface="Roboto"/>
                <a:ea typeface="Roboto"/>
                <a:cs typeface="Roboto"/>
              </a:defRPr>
            </a:pPr>
            <a:r>
              <a:rPr sz="1350" b="0">
                <a:solidFill>
                  <a:srgbClr val="5F6B7A"/>
                </a:solidFill>
                <a:latin typeface="Roboto"/>
                <a:ea typeface="Roboto"/>
                <a:cs typeface="Roboto"/>
              </a:rPr>
              <a:t>Dòng hợp lệ và dòng lỗi được tách trước khi áp dụng vào workspace</a:t>
            </a:r>
          </a:p>
        </p:txBody>
      </p:sp>
      <p:sp>
        <p:nvSpPr>
          <p:cNvPr id="3" name="">
            <a:extLst xmlns:a="http://schemas.openxmlformats.org/drawingml/2006/main">
              <a:ext uri="{FF2B5EF4-FFF2-40B4-BE49-F238E27FC236}">
                <a16:creationId xmlns:a16="http://schemas.microsoft.com/office/drawing/2014/main" id="{F2127F82-3A0E-4F18-A879-ACD00423843B}"/>
              </a:ext>
            </a:extLst>
          </p:cNvPr>
          <p:cNvSpPr>
            <a:spLocks xmlns:a="http://schemas.openxmlformats.org/drawingml/2006/main" noGrp="1"/>
          </p:cNvSpPr>
          <p:nvPr/>
        </p:nvSpPr>
        <p:spPr>
          <a:xfrm xmlns:a="http://schemas.openxmlformats.org/drawingml/2006/main">
            <a:off x="666750" y="1400175"/>
            <a:ext cx="685800" cy="38100"/>
          </a:xfrm>
          <a:prstGeom xmlns:a="http://schemas.openxmlformats.org/drawingml/2006/main" prst="rect">
            <a:avLst/>
          </a:prstGeom>
          <a:solidFill xmlns:a="http://schemas.openxmlformats.org/drawingml/2006/main">
            <a:srgbClr val="0C8D9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882F40B-298F-4F8E-AAB8-88DFD0DA75A1}"/>
              </a:ext>
            </a:extLst>
          </p:cNvPr>
          <p:cNvSpPr>
            <a:spLocks xmlns:a="http://schemas.openxmlformats.org/drawingml/2006/main" noGrp="1"/>
          </p:cNvSpPr>
          <p:nvPr/>
        </p:nvSpPr>
        <p:spPr>
          <a:xfrm xmlns:a="http://schemas.openxmlformats.org/drawingml/2006/main">
            <a:off x="590550" y="1657350"/>
            <a:ext cx="7620000" cy="4286250"/>
          </a:xfrm>
          <a:prstGeom xmlns:a="http://schemas.openxmlformats.org/drawingml/2006/main" prst="roundRect">
            <a:avLst>
              <a:gd name="adj" fmla="val 2667"/>
            </a:avLst>
          </a:prstGeom>
          <a:solidFill xmlns:a="http://schemas.openxmlformats.org/drawingml/2006/main">
            <a:srgbClr val="F4F7FB"/>
          </a:solidFill>
          <a:ln xmlns:a="http://schemas.openxmlformats.org/drawingml/2006/main" w="9525">
            <a:solidFill>
              <a:srgbClr val="DDE4EC"/>
            </a:solid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249bcdb68f6423d"/>
          <a:stretch xmlns:a="http://schemas.openxmlformats.org/drawingml/2006/main"/>
        </p:blipFill>
        <p:spPr>
          <a:xfrm xmlns:a="http://schemas.openxmlformats.org/drawingml/2006/main">
            <a:off x="1224889" y="1771650"/>
            <a:ext cx="6351322" cy="4057650"/>
          </a:xfrm>
          <a:prstGeom xmlns:a="http://schemas.openxmlformats.org/drawingml/2006/main" prst="roundRect">
            <a:avLst>
              <a:gd name="adj" fmla="val 2347"/>
            </a:avLst>
          </a:prstGeom>
        </p:spPr>
      </p:pic>
      <p:sp>
        <p:nvSpPr>
          <p:cNvPr id="6" name="">
            <a:extLst xmlns:a="http://schemas.openxmlformats.org/drawingml/2006/main">
              <a:ext uri="{FF2B5EF4-FFF2-40B4-BE49-F238E27FC236}">
                <a16:creationId xmlns:a16="http://schemas.microsoft.com/office/drawing/2014/main" id="{F26AA819-7711-4162-A07C-EC1A88E0D1C9}"/>
              </a:ext>
            </a:extLst>
          </p:cNvPr>
          <p:cNvSpPr>
            <a:spLocks xmlns:a="http://schemas.openxmlformats.org/drawingml/2006/main" noGrp="1"/>
          </p:cNvSpPr>
          <p:nvPr/>
        </p:nvSpPr>
        <p:spPr>
          <a:xfrm xmlns:a="http://schemas.openxmlformats.org/drawingml/2006/main">
            <a:off x="8572500" y="1952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1">
                <a:solidFill>
                  <a:srgbClr val="0C8D96"/>
                </a:solidFill>
                <a:latin typeface="Roboto"/>
                <a:ea typeface="Roboto"/>
                <a:cs typeface="Roboto"/>
              </a:defRPr>
            </a:pPr>
            <a:r>
              <a:rPr sz="975" b="1">
                <a:solidFill>
                  <a:srgbClr val="0C8D96"/>
                </a:solidFill>
                <a:latin typeface="Roboto"/>
                <a:ea typeface="Roboto"/>
                <a:cs typeface="Roboto"/>
              </a:rPr>
              <a:t>ĐIỂM NỔI BẬT</a:t>
            </a:r>
          </a:p>
        </p:txBody>
      </p:sp>
      <p:sp>
        <p:nvSpPr>
          <p:cNvPr id="7" name="">
            <a:extLst xmlns:a="http://schemas.openxmlformats.org/drawingml/2006/main">
              <a:ext uri="{FF2B5EF4-FFF2-40B4-BE49-F238E27FC236}">
                <a16:creationId xmlns:a16="http://schemas.microsoft.com/office/drawing/2014/main" id="{3218BEE2-E339-4051-B09F-D75E6DFE3590}"/>
              </a:ext>
            </a:extLst>
          </p:cNvPr>
          <p:cNvSpPr>
            <a:spLocks xmlns:a="http://schemas.openxmlformats.org/drawingml/2006/main" noGrp="1"/>
          </p:cNvSpPr>
          <p:nvPr/>
        </p:nvSpPr>
        <p:spPr>
          <a:xfrm xmlns:a="http://schemas.openxmlformats.org/drawingml/2006/main">
            <a:off x="8572500" y="2362200"/>
            <a:ext cx="26670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Dán dữ liệu trực tiếp từ Excel</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Khớp sinh viên theo MSSV</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Từ chối điểm ngoài khoảng 0 đến 10</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Chỉ áp dụng các dòng hợp lệ</a:t>
            </a:r>
          </a:p>
        </p:txBody>
      </p:sp>
      <p:sp>
        <p:nvSpPr>
          <p:cNvPr id="8" name="">
            <a:extLst xmlns:a="http://schemas.openxmlformats.org/drawingml/2006/main">
              <a:ext uri="{FF2B5EF4-FFF2-40B4-BE49-F238E27FC236}">
                <a16:creationId xmlns:a16="http://schemas.microsoft.com/office/drawing/2014/main" id="{F0E20F18-4CA1-4A4B-89B3-055851452D53}"/>
              </a:ext>
            </a:extLst>
          </p:cNvPr>
          <p:cNvSpPr>
            <a:spLocks xmlns:a="http://schemas.openxmlformats.org/drawingml/2006/main" noGrp="1"/>
          </p:cNvSpPr>
          <p:nvPr/>
        </p:nvSpPr>
        <p:spPr>
          <a:xfrm xmlns:a="http://schemas.openxmlformats.org/drawingml/2006/main">
            <a:off x="8572500" y="5143500"/>
            <a:ext cx="266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F6B7A"/>
                </a:solidFill>
                <a:latin typeface="Roboto"/>
                <a:ea typeface="Roboto"/>
                <a:cs typeface="Roboto"/>
              </a:defRPr>
            </a:pPr>
            <a:r>
              <a:rPr sz="1350" b="0">
                <a:solidFill>
                  <a:srgbClr val="5F6B7A"/>
                </a:solidFill>
                <a:latin typeface="Roboto"/>
                <a:ea typeface="Roboto"/>
                <a:cs typeface="Roboto"/>
              </a:rPr>
              <a:t>Preview giúp người thuyết trình cho thấy validation trước mutation.</a:t>
            </a:r>
          </a:p>
        </p:txBody>
      </p:sp>
      <p:sp>
        <p:nvSpPr>
          <p:cNvPr id="9" name="">
            <a:extLst xmlns:a="http://schemas.openxmlformats.org/drawingml/2006/main">
              <a:ext uri="{FF2B5EF4-FFF2-40B4-BE49-F238E27FC236}">
                <a16:creationId xmlns:a16="http://schemas.microsoft.com/office/drawing/2014/main" id="{B3B336AA-6A05-447A-8281-F7AF3559ECFE}"/>
              </a:ext>
            </a:extLst>
          </p:cNvPr>
          <p:cNvSpPr>
            <a:spLocks xmlns:a="http://schemas.openxmlformats.org/drawingml/2006/main" noGrp="1"/>
          </p:cNvSpPr>
          <p:nvPr/>
        </p:nvSpPr>
        <p:spPr>
          <a:xfrm xmlns:a="http://schemas.openxmlformats.org/drawingml/2006/main">
            <a:off x="9715500" y="6496050"/>
            <a:ext cx="1809750" cy="171450"/>
          </a:xfrm>
          <a:prstGeom xmlns:a="http://schemas.openxmlformats.org/drawingml/2006/main" prst="rect">
            <a:avLst/>
          </a:prstGeom>
          <a:solidFill xmlns:a="http://schemas.openxmlformats.org/drawingml/2006/main">
            <a:srgbClr val="08656C"/>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750" b="1">
                <a:solidFill>
                  <a:srgbClr val="FFFFFF"/>
                </a:solidFill>
                <a:latin typeface="Roboto"/>
                <a:ea typeface="Roboto"/>
                <a:cs typeface="Roboto"/>
              </a:defRPr>
            </a:pPr>
            <a:r>
              <a:rPr sz="750" b="1">
                <a:solidFill>
                  <a:srgbClr val="FFFFFF"/>
                </a:solidFill>
                <a:latin typeface="Roboto"/>
                <a:ea typeface="Roboto"/>
                <a:cs typeface="Roboto"/>
              </a:rPr>
              <a:t>FUGRADE  /  SDD  /  12</a:t>
            </a:r>
          </a:p>
        </p:txBody>
      </p:sp>
    </p:spTree>
    <p:extLst>
      <p:ext uri="{BB962C8B-B14F-4D97-AF65-F5344CB8AC3E}">
        <p14:creationId xmlns:p14="http://schemas.microsoft.com/office/powerpoint/2010/main" val="1054337010"/>
      </p:ext>
    </p:extLst>
  </p:cSld>
</p:sld>
</file>

<file path=ppt/slides/slide13.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CF3995F-E049-4E9C-8AB6-6D69C04FBC0F}"/>
              </a:ext>
            </a:extLst>
          </p:cNvPr>
          <p:cNvSpPr>
            <a:spLocks xmlns:a="http://schemas.openxmlformats.org/drawingml/2006/main" noGrp="1"/>
          </p:cNvSpPr>
          <p:nvPr/>
        </p:nvSpPr>
        <p:spPr>
          <a:xfrm xmlns:a="http://schemas.openxmlformats.org/drawingml/2006/main">
            <a:off x="666750" y="457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17233B"/>
                </a:solidFill>
                <a:latin typeface="Raleway"/>
                <a:ea typeface="Raleway"/>
                <a:cs typeface="Raleway"/>
              </a:defRPr>
            </a:pPr>
            <a:r>
              <a:rPr sz="2850" b="1">
                <a:solidFill>
                  <a:srgbClr val="17233B"/>
                </a:solidFill>
                <a:latin typeface="Raleway"/>
                <a:ea typeface="Raleway"/>
                <a:cs typeface="Raleway"/>
              </a:rPr>
              <a:t>Xuất .fg tương thích FuGrade desktop</a:t>
            </a:r>
          </a:p>
        </p:txBody>
      </p:sp>
      <p:sp>
        <p:nvSpPr>
          <p:cNvPr id="2" name="">
            <a:extLst xmlns:a="http://schemas.openxmlformats.org/drawingml/2006/main">
              <a:ext uri="{FF2B5EF4-FFF2-40B4-BE49-F238E27FC236}">
                <a16:creationId xmlns:a16="http://schemas.microsoft.com/office/drawing/2014/main" id="{6ABB9B0B-5B14-477B-A5F7-6A1944FCB4AD}"/>
              </a:ext>
            </a:extLst>
          </p:cNvPr>
          <p:cNvSpPr>
            <a:spLocks xmlns:a="http://schemas.openxmlformats.org/drawingml/2006/main" noGrp="1"/>
          </p:cNvSpPr>
          <p:nvPr/>
        </p:nvSpPr>
        <p:spPr>
          <a:xfrm xmlns:a="http://schemas.openxmlformats.org/drawingml/2006/main">
            <a:off x="666750" y="1028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F6B7A"/>
                </a:solidFill>
                <a:latin typeface="Roboto"/>
                <a:ea typeface="Roboto"/>
                <a:cs typeface="Roboto"/>
              </a:defRPr>
            </a:pPr>
            <a:r>
              <a:rPr sz="1350" b="0">
                <a:solidFill>
                  <a:srgbClr val="5F6B7A"/>
                </a:solidFill>
                <a:latin typeface="Roboto"/>
                <a:ea typeface="Roboto"/>
                <a:cs typeface="Roboto"/>
              </a:rPr>
              <a:t>Người dùng đặt mật khẩu mới trước khi tải file</a:t>
            </a:r>
          </a:p>
        </p:txBody>
      </p:sp>
      <p:sp>
        <p:nvSpPr>
          <p:cNvPr id="3" name="">
            <a:extLst xmlns:a="http://schemas.openxmlformats.org/drawingml/2006/main">
              <a:ext uri="{FF2B5EF4-FFF2-40B4-BE49-F238E27FC236}">
                <a16:creationId xmlns:a16="http://schemas.microsoft.com/office/drawing/2014/main" id="{40707348-7425-4D9E-9C0B-AA53683C3FE7}"/>
              </a:ext>
            </a:extLst>
          </p:cNvPr>
          <p:cNvSpPr>
            <a:spLocks xmlns:a="http://schemas.openxmlformats.org/drawingml/2006/main" noGrp="1"/>
          </p:cNvSpPr>
          <p:nvPr/>
        </p:nvSpPr>
        <p:spPr>
          <a:xfrm xmlns:a="http://schemas.openxmlformats.org/drawingml/2006/main">
            <a:off x="666750" y="1400175"/>
            <a:ext cx="685800" cy="38100"/>
          </a:xfrm>
          <a:prstGeom xmlns:a="http://schemas.openxmlformats.org/drawingml/2006/main" prst="rect">
            <a:avLst/>
          </a:prstGeom>
          <a:solidFill xmlns:a="http://schemas.openxmlformats.org/drawingml/2006/main">
            <a:srgbClr val="0C8D9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7C8F160-05AD-4654-AFEC-D31A30D5F8C7}"/>
              </a:ext>
            </a:extLst>
          </p:cNvPr>
          <p:cNvSpPr>
            <a:spLocks xmlns:a="http://schemas.openxmlformats.org/drawingml/2006/main" noGrp="1"/>
          </p:cNvSpPr>
          <p:nvPr/>
        </p:nvSpPr>
        <p:spPr>
          <a:xfrm xmlns:a="http://schemas.openxmlformats.org/drawingml/2006/main">
            <a:off x="590550" y="1657350"/>
            <a:ext cx="7620000" cy="4286250"/>
          </a:xfrm>
          <a:prstGeom xmlns:a="http://schemas.openxmlformats.org/drawingml/2006/main" prst="roundRect">
            <a:avLst>
              <a:gd name="adj" fmla="val 2667"/>
            </a:avLst>
          </a:prstGeom>
          <a:solidFill xmlns:a="http://schemas.openxmlformats.org/drawingml/2006/main">
            <a:srgbClr val="F4F7FB"/>
          </a:solidFill>
          <a:ln xmlns:a="http://schemas.openxmlformats.org/drawingml/2006/main" w="9525">
            <a:solidFill>
              <a:srgbClr val="DDE4EC"/>
            </a:solid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e0c4cf42aafb480d"/>
          <a:stretch xmlns:a="http://schemas.openxmlformats.org/drawingml/2006/main"/>
        </p:blipFill>
        <p:spPr>
          <a:xfrm xmlns:a="http://schemas.openxmlformats.org/drawingml/2006/main">
            <a:off x="1224889" y="1771650"/>
            <a:ext cx="6351322" cy="4057650"/>
          </a:xfrm>
          <a:prstGeom xmlns:a="http://schemas.openxmlformats.org/drawingml/2006/main" prst="roundRect">
            <a:avLst>
              <a:gd name="adj" fmla="val 2347"/>
            </a:avLst>
          </a:prstGeom>
        </p:spPr>
      </p:pic>
      <p:sp>
        <p:nvSpPr>
          <p:cNvPr id="6" name="">
            <a:extLst xmlns:a="http://schemas.openxmlformats.org/drawingml/2006/main">
              <a:ext uri="{FF2B5EF4-FFF2-40B4-BE49-F238E27FC236}">
                <a16:creationId xmlns:a16="http://schemas.microsoft.com/office/drawing/2014/main" id="{40EFA4CC-9C55-4570-AEE7-A40512654E68}"/>
              </a:ext>
            </a:extLst>
          </p:cNvPr>
          <p:cNvSpPr>
            <a:spLocks xmlns:a="http://schemas.openxmlformats.org/drawingml/2006/main" noGrp="1"/>
          </p:cNvSpPr>
          <p:nvPr/>
        </p:nvSpPr>
        <p:spPr>
          <a:xfrm xmlns:a="http://schemas.openxmlformats.org/drawingml/2006/main">
            <a:off x="8572500" y="19526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1">
                <a:solidFill>
                  <a:srgbClr val="0C8D96"/>
                </a:solidFill>
                <a:latin typeface="Roboto"/>
                <a:ea typeface="Roboto"/>
                <a:cs typeface="Roboto"/>
              </a:defRPr>
            </a:pPr>
            <a:r>
              <a:rPr sz="975" b="1">
                <a:solidFill>
                  <a:srgbClr val="0C8D96"/>
                </a:solidFill>
                <a:latin typeface="Roboto"/>
                <a:ea typeface="Roboto"/>
                <a:cs typeface="Roboto"/>
              </a:rPr>
              <a:t>RANH GIỚI KỸ THUẬT</a:t>
            </a:r>
          </a:p>
        </p:txBody>
      </p:sp>
      <p:sp>
        <p:nvSpPr>
          <p:cNvPr id="7" name="">
            <a:extLst xmlns:a="http://schemas.openxmlformats.org/drawingml/2006/main">
              <a:ext uri="{FF2B5EF4-FFF2-40B4-BE49-F238E27FC236}">
                <a16:creationId xmlns:a16="http://schemas.microsoft.com/office/drawing/2014/main" id="{D6A7717A-0E80-4CB1-B44F-0BCCBF2AEBA3}"/>
              </a:ext>
            </a:extLst>
          </p:cNvPr>
          <p:cNvSpPr>
            <a:spLocks xmlns:a="http://schemas.openxmlformats.org/drawingml/2006/main" noGrp="1"/>
          </p:cNvSpPr>
          <p:nvPr/>
        </p:nvSpPr>
        <p:spPr>
          <a:xfrm xmlns:a="http://schemas.openxmlformats.org/drawingml/2006/main">
            <a:off x="8572500" y="234315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17233B"/>
                </a:solidFill>
                <a:latin typeface="Roboto"/>
                <a:ea typeface="Roboto"/>
                <a:cs typeface="Roboto"/>
              </a:defRPr>
            </a:pPr>
            <a:r>
              <a:rPr sz="1575" b="1">
                <a:solidFill>
                  <a:srgbClr val="17233B"/>
                </a:solidFill>
                <a:latin typeface="Roboto"/>
                <a:ea typeface="Roboto"/>
                <a:cs typeface="Roboto"/>
              </a:rPr>
              <a:t>Tên file được chuẩn hóa</a:t>
            </a:r>
          </a:p>
        </p:txBody>
      </p:sp>
      <p:sp>
        <p:nvSpPr>
          <p:cNvPr id="8" name="">
            <a:extLst xmlns:a="http://schemas.openxmlformats.org/drawingml/2006/main">
              <a:ext uri="{FF2B5EF4-FFF2-40B4-BE49-F238E27FC236}">
                <a16:creationId xmlns:a16="http://schemas.microsoft.com/office/drawing/2014/main" id="{E92A253B-885B-454B-B614-3764D682F295}"/>
              </a:ext>
            </a:extLst>
          </p:cNvPr>
          <p:cNvSpPr>
            <a:spLocks xmlns:a="http://schemas.openxmlformats.org/drawingml/2006/main" noGrp="1"/>
          </p:cNvSpPr>
          <p:nvPr/>
        </p:nvSpPr>
        <p:spPr>
          <a:xfrm xmlns:a="http://schemas.openxmlformats.org/drawingml/2006/main">
            <a:off x="8572500" y="2724150"/>
            <a:ext cx="266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F6B7A"/>
                </a:solidFill>
                <a:latin typeface="Roboto"/>
                <a:ea typeface="Roboto"/>
                <a:cs typeface="Roboto"/>
              </a:defRPr>
            </a:pPr>
            <a:r>
              <a:rPr sz="1425" b="0">
                <a:solidFill>
                  <a:srgbClr val="5F6B7A"/>
                </a:solidFill>
                <a:latin typeface="Roboto"/>
                <a:ea typeface="Roboto"/>
                <a:cs typeface="Roboto"/>
              </a:rPr>
              <a:t>Server tạo payload mã hóa và trả về file tải xuống với Cache-Control no-store.</a:t>
            </a:r>
          </a:p>
        </p:txBody>
      </p:sp>
      <p:sp>
        <p:nvSpPr>
          <p:cNvPr id="9" name="">
            <a:extLst xmlns:a="http://schemas.openxmlformats.org/drawingml/2006/main">
              <a:ext uri="{FF2B5EF4-FFF2-40B4-BE49-F238E27FC236}">
                <a16:creationId xmlns:a16="http://schemas.microsoft.com/office/drawing/2014/main" id="{51984B68-1838-47B8-8A81-F22D1CAA14D7}"/>
              </a:ext>
            </a:extLst>
          </p:cNvPr>
          <p:cNvSpPr>
            <a:spLocks xmlns:a="http://schemas.openxmlformats.org/drawingml/2006/main" noGrp="1"/>
          </p:cNvSpPr>
          <p:nvPr/>
        </p:nvSpPr>
        <p:spPr>
          <a:xfrm xmlns:a="http://schemas.openxmlformats.org/drawingml/2006/main">
            <a:off x="8572500" y="4000500"/>
            <a:ext cx="266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17233B"/>
                </a:solidFill>
                <a:latin typeface="Roboto"/>
                <a:ea typeface="Roboto"/>
                <a:cs typeface="Roboto"/>
              </a:defRPr>
            </a:pPr>
            <a:r>
              <a:rPr sz="1575" b="1">
                <a:solidFill>
                  <a:srgbClr val="17233B"/>
                </a:solidFill>
                <a:latin typeface="Roboto"/>
                <a:ea typeface="Roboto"/>
                <a:cs typeface="Roboto"/>
              </a:rPr>
              <a:t>Mật khẩu và xác nhận phải khớp</a:t>
            </a:r>
          </a:p>
        </p:txBody>
      </p:sp>
      <p:sp>
        <p:nvSpPr>
          <p:cNvPr id="10" name="">
            <a:extLst xmlns:a="http://schemas.openxmlformats.org/drawingml/2006/main">
              <a:ext uri="{FF2B5EF4-FFF2-40B4-BE49-F238E27FC236}">
                <a16:creationId xmlns:a16="http://schemas.microsoft.com/office/drawing/2014/main" id="{B69CA767-9EA8-44A4-AF1C-F21107540D21}"/>
              </a:ext>
            </a:extLst>
          </p:cNvPr>
          <p:cNvSpPr>
            <a:spLocks xmlns:a="http://schemas.openxmlformats.org/drawingml/2006/main" noGrp="1"/>
          </p:cNvSpPr>
          <p:nvPr/>
        </p:nvSpPr>
        <p:spPr>
          <a:xfrm xmlns:a="http://schemas.openxmlformats.org/drawingml/2006/main">
            <a:off x="8572500" y="4667250"/>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F6B7A"/>
                </a:solidFill>
                <a:latin typeface="Roboto"/>
                <a:ea typeface="Roboto"/>
                <a:cs typeface="Roboto"/>
              </a:defRPr>
            </a:pPr>
            <a:r>
              <a:rPr sz="1425" b="0">
                <a:solidFill>
                  <a:srgbClr val="5F6B7A"/>
                </a:solidFill>
                <a:latin typeface="Roboto"/>
                <a:ea typeface="Roboto"/>
                <a:cs typeface="Roboto"/>
              </a:rPr>
              <a:t>UI không cho xuất khi trường mật khẩu trống hoặc hai giá trị khác nhau.</a:t>
            </a:r>
          </a:p>
        </p:txBody>
      </p:sp>
      <p:sp>
        <p:nvSpPr>
          <p:cNvPr id="11" name="">
            <a:extLst xmlns:a="http://schemas.openxmlformats.org/drawingml/2006/main">
              <a:ext uri="{FF2B5EF4-FFF2-40B4-BE49-F238E27FC236}">
                <a16:creationId xmlns:a16="http://schemas.microsoft.com/office/drawing/2014/main" id="{8CB2B34E-D88A-4420-BAE0-877639A6F55C}"/>
              </a:ext>
            </a:extLst>
          </p:cNvPr>
          <p:cNvSpPr>
            <a:spLocks xmlns:a="http://schemas.openxmlformats.org/drawingml/2006/main" noGrp="1"/>
          </p:cNvSpPr>
          <p:nvPr/>
        </p:nvSpPr>
        <p:spPr>
          <a:xfrm xmlns:a="http://schemas.openxmlformats.org/drawingml/2006/main">
            <a:off x="9715500" y="6496050"/>
            <a:ext cx="1809750" cy="171450"/>
          </a:xfrm>
          <a:prstGeom xmlns:a="http://schemas.openxmlformats.org/drawingml/2006/main" prst="rect">
            <a:avLst/>
          </a:prstGeom>
          <a:solidFill xmlns:a="http://schemas.openxmlformats.org/drawingml/2006/main">
            <a:srgbClr val="08656C"/>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750" b="1">
                <a:solidFill>
                  <a:srgbClr val="FFFFFF"/>
                </a:solidFill>
                <a:latin typeface="Roboto"/>
                <a:ea typeface="Roboto"/>
                <a:cs typeface="Roboto"/>
              </a:defRPr>
            </a:pPr>
            <a:r>
              <a:rPr sz="750" b="1">
                <a:solidFill>
                  <a:srgbClr val="FFFFFF"/>
                </a:solidFill>
                <a:latin typeface="Roboto"/>
                <a:ea typeface="Roboto"/>
                <a:cs typeface="Roboto"/>
              </a:rPr>
              <a:t>FUGRADE  /  SDD  /  13</a:t>
            </a:r>
          </a:p>
        </p:txBody>
      </p:sp>
    </p:spTree>
    <p:extLst>
      <p:ext uri="{BB962C8B-B14F-4D97-AF65-F5344CB8AC3E}">
        <p14:creationId xmlns:p14="http://schemas.microsoft.com/office/powerpoint/2010/main" val="1482605110"/>
      </p:ext>
    </p:extLst>
  </p:cSld>
</p:sld>
</file>

<file path=ppt/slides/slide14.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69FC832-FA2B-4ACA-8F35-B76CAB7F93D9}"/>
              </a:ext>
            </a:extLst>
          </p:cNvPr>
          <p:cNvSpPr>
            <a:spLocks xmlns:a="http://schemas.openxmlformats.org/drawingml/2006/main" noGrp="1"/>
          </p:cNvSpPr>
          <p:nvPr/>
        </p:nvSpPr>
        <p:spPr>
          <a:xfrm xmlns:a="http://schemas.openxmlformats.org/drawingml/2006/main">
            <a:off x="666750" y="457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17233B"/>
                </a:solidFill>
                <a:latin typeface="Raleway"/>
                <a:ea typeface="Raleway"/>
                <a:cs typeface="Raleway"/>
              </a:defRPr>
            </a:pPr>
            <a:r>
              <a:rPr sz="2850" b="1">
                <a:solidFill>
                  <a:srgbClr val="17233B"/>
                </a:solidFill>
                <a:latin typeface="Raleway"/>
                <a:ea typeface="Raleway"/>
                <a:cs typeface="Raleway"/>
              </a:rPr>
              <a:t>Đăng nhập tại thời điểm lưu snapshot</a:t>
            </a:r>
          </a:p>
        </p:txBody>
      </p:sp>
      <p:sp>
        <p:nvSpPr>
          <p:cNvPr id="2" name="">
            <a:extLst xmlns:a="http://schemas.openxmlformats.org/drawingml/2006/main">
              <a:ext uri="{FF2B5EF4-FFF2-40B4-BE49-F238E27FC236}">
                <a16:creationId xmlns:a16="http://schemas.microsoft.com/office/drawing/2014/main" id="{06DD94DD-6A9C-46CA-BD7D-71DBAEC0651C}"/>
              </a:ext>
            </a:extLst>
          </p:cNvPr>
          <p:cNvSpPr>
            <a:spLocks xmlns:a="http://schemas.openxmlformats.org/drawingml/2006/main" noGrp="1"/>
          </p:cNvSpPr>
          <p:nvPr/>
        </p:nvSpPr>
        <p:spPr>
          <a:xfrm xmlns:a="http://schemas.openxmlformats.org/drawingml/2006/main">
            <a:off x="666750" y="1028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F6B7A"/>
                </a:solidFill>
                <a:latin typeface="Roboto"/>
                <a:ea typeface="Roboto"/>
                <a:cs typeface="Roboto"/>
              </a:defRPr>
            </a:pPr>
            <a:r>
              <a:rPr sz="1350" b="0">
                <a:solidFill>
                  <a:srgbClr val="5F6B7A"/>
                </a:solidFill>
                <a:latin typeface="Roboto"/>
                <a:ea typeface="Roboto"/>
                <a:cs typeface="Roboto"/>
              </a:rPr>
              <a:t>Credentials, Google và CAPTCHA cùng tồn tại trong Auth.js flow hiện tại</a:t>
            </a:r>
          </a:p>
        </p:txBody>
      </p:sp>
      <p:sp>
        <p:nvSpPr>
          <p:cNvPr id="3" name="">
            <a:extLst xmlns:a="http://schemas.openxmlformats.org/drawingml/2006/main">
              <a:ext uri="{FF2B5EF4-FFF2-40B4-BE49-F238E27FC236}">
                <a16:creationId xmlns:a16="http://schemas.microsoft.com/office/drawing/2014/main" id="{3C4116A8-F2B1-4600-80B0-CEEBC749A28F}"/>
              </a:ext>
            </a:extLst>
          </p:cNvPr>
          <p:cNvSpPr>
            <a:spLocks xmlns:a="http://schemas.openxmlformats.org/drawingml/2006/main" noGrp="1"/>
          </p:cNvSpPr>
          <p:nvPr/>
        </p:nvSpPr>
        <p:spPr>
          <a:xfrm xmlns:a="http://schemas.openxmlformats.org/drawingml/2006/main">
            <a:off x="666750" y="1400175"/>
            <a:ext cx="685800" cy="38100"/>
          </a:xfrm>
          <a:prstGeom xmlns:a="http://schemas.openxmlformats.org/drawingml/2006/main" prst="rect">
            <a:avLst/>
          </a:prstGeom>
          <a:solidFill xmlns:a="http://schemas.openxmlformats.org/drawingml/2006/main">
            <a:srgbClr val="0C8D9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D8BAC7A-BD95-48DC-AE57-5E55A22389BA}"/>
              </a:ext>
            </a:extLst>
          </p:cNvPr>
          <p:cNvSpPr>
            <a:spLocks xmlns:a="http://schemas.openxmlformats.org/drawingml/2006/main" noGrp="1"/>
          </p:cNvSpPr>
          <p:nvPr/>
        </p:nvSpPr>
        <p:spPr>
          <a:xfrm xmlns:a="http://schemas.openxmlformats.org/drawingml/2006/main">
            <a:off x="590550" y="1657350"/>
            <a:ext cx="7620000" cy="4286250"/>
          </a:xfrm>
          <a:prstGeom xmlns:a="http://schemas.openxmlformats.org/drawingml/2006/main" prst="roundRect">
            <a:avLst>
              <a:gd name="adj" fmla="val 2667"/>
            </a:avLst>
          </a:prstGeom>
          <a:solidFill xmlns:a="http://schemas.openxmlformats.org/drawingml/2006/main">
            <a:srgbClr val="F4F7FB"/>
          </a:solidFill>
          <a:ln xmlns:a="http://schemas.openxmlformats.org/drawingml/2006/main" w="9525">
            <a:solidFill>
              <a:srgbClr val="DDE4EC"/>
            </a:solid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fa789bfb5494fc2"/>
          <a:stretch xmlns:a="http://schemas.openxmlformats.org/drawingml/2006/main"/>
        </p:blipFill>
        <p:spPr>
          <a:xfrm xmlns:a="http://schemas.openxmlformats.org/drawingml/2006/main">
            <a:off x="848709" y="1771650"/>
            <a:ext cx="7103682" cy="4057650"/>
          </a:xfrm>
          <a:prstGeom xmlns:a="http://schemas.openxmlformats.org/drawingml/2006/main" prst="roundRect">
            <a:avLst>
              <a:gd name="adj" fmla="val 2347"/>
            </a:avLst>
          </a:prstGeom>
        </p:spPr>
      </p:pic>
      <p:sp>
        <p:nvSpPr>
          <p:cNvPr id="6" name="">
            <a:extLst xmlns:a="http://schemas.openxmlformats.org/drawingml/2006/main">
              <a:ext uri="{FF2B5EF4-FFF2-40B4-BE49-F238E27FC236}">
                <a16:creationId xmlns:a16="http://schemas.microsoft.com/office/drawing/2014/main" id="{1C3BB95F-03E7-4AC7-99D0-14953B0EE679}"/>
              </a:ext>
            </a:extLst>
          </p:cNvPr>
          <p:cNvSpPr>
            <a:spLocks xmlns:a="http://schemas.openxmlformats.org/drawingml/2006/main" noGrp="1"/>
          </p:cNvSpPr>
          <p:nvPr/>
        </p:nvSpPr>
        <p:spPr>
          <a:xfrm xmlns:a="http://schemas.openxmlformats.org/drawingml/2006/main">
            <a:off x="8572500" y="1952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1">
                <a:solidFill>
                  <a:srgbClr val="0C8D96"/>
                </a:solidFill>
                <a:latin typeface="Roboto"/>
                <a:ea typeface="Roboto"/>
                <a:cs typeface="Roboto"/>
              </a:defRPr>
            </a:pPr>
            <a:r>
              <a:rPr sz="975" b="1">
                <a:solidFill>
                  <a:srgbClr val="0C8D96"/>
                </a:solidFill>
                <a:latin typeface="Roboto"/>
                <a:ea typeface="Roboto"/>
                <a:cs typeface="Roboto"/>
              </a:rPr>
              <a:t>LUỒNG LƯU</a:t>
            </a:r>
          </a:p>
        </p:txBody>
      </p:sp>
      <p:sp>
        <p:nvSpPr>
          <p:cNvPr id="7" name="">
            <a:extLst xmlns:a="http://schemas.openxmlformats.org/drawingml/2006/main">
              <a:ext uri="{FF2B5EF4-FFF2-40B4-BE49-F238E27FC236}">
                <a16:creationId xmlns:a16="http://schemas.microsoft.com/office/drawing/2014/main" id="{73D12D19-0A19-460A-A390-9D2CB91C1F3B}"/>
              </a:ext>
            </a:extLst>
          </p:cNvPr>
          <p:cNvSpPr>
            <a:spLocks xmlns:a="http://schemas.openxmlformats.org/drawingml/2006/main" noGrp="1"/>
          </p:cNvSpPr>
          <p:nvPr/>
        </p:nvSpPr>
        <p:spPr>
          <a:xfrm xmlns:a="http://schemas.openxmlformats.org/drawingml/2006/main">
            <a:off x="8572500" y="2362200"/>
            <a:ext cx="2714625"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CAPTCHA gồm 5 ký tự được xác minh ở server</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Credentials dùng bcrypt</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Google OAuth chỉ bật khi có cấu hình</a:t>
            </a:r>
          </a:p>
          <a:p xmlns:a="http://schemas.openxmlformats.org/drawingml/2006/main">
            <a:pPr marL="228600" indent="-101600">
              <a:spcAft>
                <a:spcPts val="900"/>
              </a:spcAft>
              <a:buChar char="•"/>
              <a:defRPr sz="1500" b="0">
                <a:solidFill>
                  <a:srgbClr val="17233B"/>
                </a:solidFill>
                <a:latin typeface="Roboto"/>
                <a:ea typeface="Roboto"/>
                <a:cs typeface="Roboto"/>
              </a:defRPr>
            </a:pPr>
            <a:r>
              <a:rPr sz="1500" b="0">
                <a:solidFill>
                  <a:srgbClr val="17233B"/>
                </a:solidFill>
                <a:latin typeface="Roboto"/>
                <a:ea typeface="Roboto"/>
                <a:cs typeface="Roboto"/>
              </a:rPr>
              <a:t>Workspace guest được giữ trước khi chuyển trang</a:t>
            </a:r>
          </a:p>
        </p:txBody>
      </p:sp>
      <p:sp>
        <p:nvSpPr>
          <p:cNvPr id="8" name="">
            <a:extLst xmlns:a="http://schemas.openxmlformats.org/drawingml/2006/main">
              <a:ext uri="{FF2B5EF4-FFF2-40B4-BE49-F238E27FC236}">
                <a16:creationId xmlns:a16="http://schemas.microsoft.com/office/drawing/2014/main" id="{714BBB98-6455-48D5-ABB3-D97BB8FD346D}"/>
              </a:ext>
            </a:extLst>
          </p:cNvPr>
          <p:cNvSpPr>
            <a:spLocks xmlns:a="http://schemas.openxmlformats.org/drawingml/2006/main" noGrp="1"/>
          </p:cNvSpPr>
          <p:nvPr/>
        </p:nvSpPr>
        <p:spPr>
          <a:xfrm xmlns:a="http://schemas.openxmlformats.org/drawingml/2006/main">
            <a:off x="8572500" y="5219700"/>
            <a:ext cx="266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a:solidFill>
                  <a:srgbClr val="08656C"/>
                </a:solidFill>
                <a:latin typeface="Roboto"/>
                <a:ea typeface="Roboto"/>
                <a:cs typeface="Roboto"/>
              </a:defRPr>
            </a:pPr>
            <a:r>
              <a:rPr sz="1350" b="1">
                <a:solidFill>
                  <a:srgbClr val="08656C"/>
                </a:solidFill>
                <a:latin typeface="Roboto"/>
                <a:ea typeface="Roboto"/>
                <a:cs typeface="Roboto"/>
              </a:rPr>
              <a:t>Không cần đăng nhập để mở, chỉnh hoặc xuất .fg.</a:t>
            </a:r>
          </a:p>
        </p:txBody>
      </p:sp>
      <p:sp>
        <p:nvSpPr>
          <p:cNvPr id="9" name="">
            <a:extLst xmlns:a="http://schemas.openxmlformats.org/drawingml/2006/main">
              <a:ext uri="{FF2B5EF4-FFF2-40B4-BE49-F238E27FC236}">
                <a16:creationId xmlns:a16="http://schemas.microsoft.com/office/drawing/2014/main" id="{544F8A6B-0123-42A8-902D-D0E5A6FC7633}"/>
              </a:ext>
            </a:extLst>
          </p:cNvPr>
          <p:cNvSpPr>
            <a:spLocks xmlns:a="http://schemas.openxmlformats.org/drawingml/2006/main" noGrp="1"/>
          </p:cNvSpPr>
          <p:nvPr/>
        </p:nvSpPr>
        <p:spPr>
          <a:xfrm xmlns:a="http://schemas.openxmlformats.org/drawingml/2006/main">
            <a:off x="9715500" y="6496050"/>
            <a:ext cx="1809750" cy="171450"/>
          </a:xfrm>
          <a:prstGeom xmlns:a="http://schemas.openxmlformats.org/drawingml/2006/main" prst="rect">
            <a:avLst/>
          </a:prstGeom>
          <a:solidFill xmlns:a="http://schemas.openxmlformats.org/drawingml/2006/main">
            <a:srgbClr val="08656C"/>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750" b="1">
                <a:solidFill>
                  <a:srgbClr val="FFFFFF"/>
                </a:solidFill>
                <a:latin typeface="Roboto"/>
                <a:ea typeface="Roboto"/>
                <a:cs typeface="Roboto"/>
              </a:defRPr>
            </a:pPr>
            <a:r>
              <a:rPr sz="750" b="1">
                <a:solidFill>
                  <a:srgbClr val="FFFFFF"/>
                </a:solidFill>
                <a:latin typeface="Roboto"/>
                <a:ea typeface="Roboto"/>
                <a:cs typeface="Roboto"/>
              </a:rPr>
              <a:t>FUGRADE  /  SDD  /  14</a:t>
            </a:r>
          </a:p>
        </p:txBody>
      </p:sp>
    </p:spTree>
    <p:extLst>
      <p:ext uri="{BB962C8B-B14F-4D97-AF65-F5344CB8AC3E}">
        <p14:creationId xmlns:p14="http://schemas.microsoft.com/office/powerpoint/2010/main" val="1521308791"/>
      </p:ext>
    </p:extLst>
  </p:cSld>
</p:sld>
</file>

<file path=ppt/slides/slide15.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410F80E-FF95-459D-82F5-C417B6D31B9E}"/>
              </a:ext>
            </a:extLst>
          </p:cNvPr>
          <p:cNvSpPr>
            <a:spLocks xmlns:a="http://schemas.openxmlformats.org/drawingml/2006/main" noGrp="1"/>
          </p:cNvSpPr>
          <p:nvPr/>
        </p:nvSpPr>
        <p:spPr>
          <a:xfrm xmlns:a="http://schemas.openxmlformats.org/drawingml/2006/main">
            <a:off x="666750" y="457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17233B"/>
                </a:solidFill>
                <a:latin typeface="Raleway"/>
                <a:ea typeface="Raleway"/>
                <a:cs typeface="Raleway"/>
              </a:defRPr>
            </a:pPr>
            <a:r>
              <a:rPr sz="2850" b="1">
                <a:solidFill>
                  <a:srgbClr val="17233B"/>
                </a:solidFill>
                <a:latin typeface="Raleway"/>
                <a:ea typeface="Raleway"/>
                <a:cs typeface="Raleway"/>
              </a:rPr>
              <a:t>Chu trình phát triển áp dụng cho FuGrade</a:t>
            </a:r>
          </a:p>
        </p:txBody>
      </p:sp>
      <p:sp>
        <p:nvSpPr>
          <p:cNvPr id="2" name="">
            <a:extLst xmlns:a="http://schemas.openxmlformats.org/drawingml/2006/main">
              <a:ext uri="{FF2B5EF4-FFF2-40B4-BE49-F238E27FC236}">
                <a16:creationId xmlns:a16="http://schemas.microsoft.com/office/drawing/2014/main" id="{AAC1D65F-688E-416E-9C98-59AAD59FA3C5}"/>
              </a:ext>
            </a:extLst>
          </p:cNvPr>
          <p:cNvSpPr>
            <a:spLocks xmlns:a="http://schemas.openxmlformats.org/drawingml/2006/main" noGrp="1"/>
          </p:cNvSpPr>
          <p:nvPr/>
        </p:nvSpPr>
        <p:spPr>
          <a:xfrm xmlns:a="http://schemas.openxmlformats.org/drawingml/2006/main">
            <a:off x="666750" y="1028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F6B7A"/>
                </a:solidFill>
                <a:latin typeface="Roboto"/>
                <a:ea typeface="Roboto"/>
                <a:cs typeface="Roboto"/>
              </a:defRPr>
            </a:pPr>
            <a:r>
              <a:rPr sz="1350" b="0">
                <a:solidFill>
                  <a:srgbClr val="5F6B7A"/>
                </a:solidFill>
                <a:latin typeface="Roboto"/>
                <a:ea typeface="Roboto"/>
                <a:cs typeface="Roboto"/>
              </a:rPr>
              <a:t>Artifact và review gate ngăn thay đổi nghiệp vụ vượt ngoài phạm vi đã duyệt</a:t>
            </a:r>
          </a:p>
        </p:txBody>
      </p:sp>
      <p:sp>
        <p:nvSpPr>
          <p:cNvPr id="3" name="">
            <a:extLst xmlns:a="http://schemas.openxmlformats.org/drawingml/2006/main">
              <a:ext uri="{FF2B5EF4-FFF2-40B4-BE49-F238E27FC236}">
                <a16:creationId xmlns:a16="http://schemas.microsoft.com/office/drawing/2014/main" id="{D0116736-AE14-408B-887B-06FE3517706E}"/>
              </a:ext>
            </a:extLst>
          </p:cNvPr>
          <p:cNvSpPr>
            <a:spLocks xmlns:a="http://schemas.openxmlformats.org/drawingml/2006/main" noGrp="1"/>
          </p:cNvSpPr>
          <p:nvPr/>
        </p:nvSpPr>
        <p:spPr>
          <a:xfrm xmlns:a="http://schemas.openxmlformats.org/drawingml/2006/main">
            <a:off x="666750" y="1400175"/>
            <a:ext cx="685800" cy="38100"/>
          </a:xfrm>
          <a:prstGeom xmlns:a="http://schemas.openxmlformats.org/drawingml/2006/main" prst="rect">
            <a:avLst/>
          </a:prstGeom>
          <a:solidFill xmlns:a="http://schemas.openxmlformats.org/drawingml/2006/main">
            <a:srgbClr val="0C8D9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719D69E-0253-4572-BE48-5E92E7B52B10}"/>
              </a:ext>
            </a:extLst>
          </p:cNvPr>
          <p:cNvSpPr>
            <a:spLocks xmlns:a="http://schemas.openxmlformats.org/drawingml/2006/main" noGrp="1"/>
          </p:cNvSpPr>
          <p:nvPr/>
        </p:nvSpPr>
        <p:spPr>
          <a:xfrm xmlns:a="http://schemas.openxmlformats.org/drawingml/2006/main">
            <a:off x="857250" y="1847850"/>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1">
                <a:solidFill>
                  <a:srgbClr val="0C8D96"/>
                </a:solidFill>
                <a:latin typeface="Roboto"/>
                <a:ea typeface="Roboto"/>
                <a:cs typeface="Roboto"/>
              </a:defRPr>
            </a:pPr>
            <a:r>
              <a:rPr sz="975" b="1">
                <a:solidFill>
                  <a:srgbClr val="0C8D96"/>
                </a:solidFill>
                <a:latin typeface="Roboto"/>
                <a:ea typeface="Roboto"/>
                <a:cs typeface="Roboto"/>
              </a:rPr>
              <a:t>ARTIFACT</a:t>
            </a:r>
          </a:p>
        </p:txBody>
      </p:sp>
      <p:sp>
        <p:nvSpPr>
          <p:cNvPr id="5" name="">
            <a:extLst xmlns:a="http://schemas.openxmlformats.org/drawingml/2006/main">
              <a:ext uri="{FF2B5EF4-FFF2-40B4-BE49-F238E27FC236}">
                <a16:creationId xmlns:a16="http://schemas.microsoft.com/office/drawing/2014/main" id="{00F36E67-5EAA-4FAE-8E57-646CAC9B411D}"/>
              </a:ext>
            </a:extLst>
          </p:cNvPr>
          <p:cNvSpPr>
            <a:spLocks xmlns:a="http://schemas.openxmlformats.org/drawingml/2006/main" noGrp="1"/>
          </p:cNvSpPr>
          <p:nvPr/>
        </p:nvSpPr>
        <p:spPr>
          <a:xfrm xmlns:a="http://schemas.openxmlformats.org/drawingml/2006/main">
            <a:off x="857250" y="2238375"/>
            <a:ext cx="40957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7233B"/>
                </a:solidFill>
                <a:latin typeface="Raleway"/>
                <a:ea typeface="Raleway"/>
                <a:cs typeface="Raleway"/>
              </a:defRPr>
            </a:pPr>
            <a:r>
              <a:rPr sz="2325" b="1">
                <a:solidFill>
                  <a:srgbClr val="17233B"/>
                </a:solidFill>
                <a:latin typeface="Raleway"/>
                <a:ea typeface="Raleway"/>
                <a:cs typeface="Raleway"/>
              </a:rPr>
              <a:t>Context</a:t>
            </a:r>
          </a:p>
          <a:p xmlns:a="http://schemas.openxmlformats.org/drawingml/2006/main">
            <a:pPr>
              <a:defRPr sz="2325" b="1">
                <a:solidFill>
                  <a:srgbClr val="17233B"/>
                </a:solidFill>
                <a:latin typeface="Raleway"/>
                <a:ea typeface="Raleway"/>
                <a:cs typeface="Raleway"/>
              </a:defRPr>
            </a:pPr>
            <a:r>
              <a:rPr sz="2325" b="1">
                <a:solidFill>
                  <a:srgbClr val="17233B"/>
                </a:solidFill>
                <a:latin typeface="Raleway"/>
                <a:ea typeface="Raleway"/>
                <a:cs typeface="Raleway"/>
              </a:rPr>
              <a:t>Spec</a:t>
            </a:r>
          </a:p>
          <a:p xmlns:a="http://schemas.openxmlformats.org/drawingml/2006/main">
            <a:pPr>
              <a:defRPr sz="2325" b="1">
                <a:solidFill>
                  <a:srgbClr val="17233B"/>
                </a:solidFill>
                <a:latin typeface="Raleway"/>
                <a:ea typeface="Raleway"/>
                <a:cs typeface="Raleway"/>
              </a:defRPr>
            </a:pPr>
            <a:r>
              <a:rPr sz="2325" b="1">
                <a:solidFill>
                  <a:srgbClr val="17233B"/>
                </a:solidFill>
                <a:latin typeface="Raleway"/>
                <a:ea typeface="Raleway"/>
                <a:cs typeface="Raleway"/>
              </a:rPr>
              <a:t>Plan</a:t>
            </a:r>
          </a:p>
          <a:p xmlns:a="http://schemas.openxmlformats.org/drawingml/2006/main">
            <a:pPr>
              <a:defRPr sz="2325" b="1">
                <a:solidFill>
                  <a:srgbClr val="17233B"/>
                </a:solidFill>
                <a:latin typeface="Raleway"/>
                <a:ea typeface="Raleway"/>
                <a:cs typeface="Raleway"/>
              </a:defRPr>
            </a:pPr>
            <a:r>
              <a:rPr sz="2325" b="1">
                <a:solidFill>
                  <a:srgbClr val="17233B"/>
                </a:solidFill>
                <a:latin typeface="Raleway"/>
                <a:ea typeface="Raleway"/>
                <a:cs typeface="Raleway"/>
              </a:rPr>
              <a:t>Tasks</a:t>
            </a:r>
          </a:p>
        </p:txBody>
      </p:sp>
      <p:sp>
        <p:nvSpPr>
          <p:cNvPr id="6" name="">
            <a:extLst xmlns:a="http://schemas.openxmlformats.org/drawingml/2006/main">
              <a:ext uri="{FF2B5EF4-FFF2-40B4-BE49-F238E27FC236}">
                <a16:creationId xmlns:a16="http://schemas.microsoft.com/office/drawing/2014/main" id="{030658C6-99DC-4E55-A6A8-81106F56D58D}"/>
              </a:ext>
            </a:extLst>
          </p:cNvPr>
          <p:cNvSpPr>
            <a:spLocks xmlns:a="http://schemas.openxmlformats.org/drawingml/2006/main" noGrp="1"/>
          </p:cNvSpPr>
          <p:nvPr/>
        </p:nvSpPr>
        <p:spPr>
          <a:xfrm xmlns:a="http://schemas.openxmlformats.org/drawingml/2006/main">
            <a:off x="857250" y="4714875"/>
            <a:ext cx="4286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5F6B7A"/>
                </a:solidFill>
                <a:latin typeface="Roboto"/>
                <a:ea typeface="Roboto"/>
                <a:cs typeface="Roboto"/>
              </a:defRPr>
            </a:pPr>
            <a:r>
              <a:rPr sz="1500" b="0">
                <a:solidFill>
                  <a:srgbClr val="5F6B7A"/>
                </a:solidFill>
                <a:latin typeface="Roboto"/>
                <a:ea typeface="Roboto"/>
                <a:cs typeface="Roboto"/>
              </a:rPr>
              <a:t>Mỗi artifact ghi evidence, rủi ro, quyết định còn thiếu và Human Final Review.</a:t>
            </a:r>
          </a:p>
        </p:txBody>
      </p:sp>
      <p:sp>
        <p:nvSpPr>
          <p:cNvPr id="7" name="">
            <a:extLst xmlns:a="http://schemas.openxmlformats.org/drawingml/2006/main">
              <a:ext uri="{FF2B5EF4-FFF2-40B4-BE49-F238E27FC236}">
                <a16:creationId xmlns:a16="http://schemas.microsoft.com/office/drawing/2014/main" id="{A0F53786-92FF-4E65-8DEC-8368A8DD12BE}"/>
              </a:ext>
            </a:extLst>
          </p:cNvPr>
          <p:cNvSpPr>
            <a:spLocks xmlns:a="http://schemas.openxmlformats.org/drawingml/2006/main" noGrp="1"/>
          </p:cNvSpPr>
          <p:nvPr/>
        </p:nvSpPr>
        <p:spPr>
          <a:xfrm xmlns:a="http://schemas.openxmlformats.org/drawingml/2006/main">
            <a:off x="5810250" y="1809750"/>
            <a:ext cx="19050" cy="3762375"/>
          </a:xfrm>
          <a:prstGeom xmlns:a="http://schemas.openxmlformats.org/drawingml/2006/main" prst="rect">
            <a:avLst/>
          </a:prstGeom>
          <a:solidFill xmlns:a="http://schemas.openxmlformats.org/drawingml/2006/main">
            <a:srgbClr val="DDE4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F6266C0-9CE8-44EB-A58C-7684D60DD51F}"/>
              </a:ext>
            </a:extLst>
          </p:cNvPr>
          <p:cNvSpPr>
            <a:spLocks xmlns:a="http://schemas.openxmlformats.org/drawingml/2006/main" noGrp="1"/>
          </p:cNvSpPr>
          <p:nvPr/>
        </p:nvSpPr>
        <p:spPr>
          <a:xfrm xmlns:a="http://schemas.openxmlformats.org/drawingml/2006/main">
            <a:off x="6477000" y="184785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1">
                <a:solidFill>
                  <a:srgbClr val="0C8D96"/>
                </a:solidFill>
                <a:latin typeface="Roboto"/>
                <a:ea typeface="Roboto"/>
                <a:cs typeface="Roboto"/>
              </a:defRPr>
            </a:pPr>
            <a:r>
              <a:rPr sz="975" b="1">
                <a:solidFill>
                  <a:srgbClr val="0C8D96"/>
                </a:solidFill>
                <a:latin typeface="Roboto"/>
                <a:ea typeface="Roboto"/>
                <a:cs typeface="Roboto"/>
              </a:rPr>
              <a:t>KIỂM CHỨNG</a:t>
            </a:r>
          </a:p>
        </p:txBody>
      </p:sp>
      <p:sp>
        <p:nvSpPr>
          <p:cNvPr id="9" name="">
            <a:extLst xmlns:a="http://schemas.openxmlformats.org/drawingml/2006/main">
              <a:ext uri="{FF2B5EF4-FFF2-40B4-BE49-F238E27FC236}">
                <a16:creationId xmlns:a16="http://schemas.microsoft.com/office/drawing/2014/main" id="{35B4E83D-5ABB-43DE-9AB6-B48BDE948DAC}"/>
              </a:ext>
            </a:extLst>
          </p:cNvPr>
          <p:cNvSpPr>
            <a:spLocks xmlns:a="http://schemas.openxmlformats.org/drawingml/2006/main" noGrp="1"/>
          </p:cNvSpPr>
          <p:nvPr/>
        </p:nvSpPr>
        <p:spPr>
          <a:xfrm xmlns:a="http://schemas.openxmlformats.org/drawingml/2006/main">
            <a:off x="6477000" y="2238375"/>
            <a:ext cx="4572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8656C"/>
                </a:solidFill>
                <a:latin typeface="Consolas"/>
                <a:ea typeface="Consolas"/>
                <a:cs typeface="Consolas"/>
              </a:defRPr>
            </a:pPr>
            <a:r>
              <a:rPr sz="2025" b="1">
                <a:solidFill>
                  <a:srgbClr val="08656C"/>
                </a:solidFill>
                <a:latin typeface="Consolas"/>
                <a:ea typeface="Consolas"/>
                <a:cs typeface="Consolas"/>
              </a:rPr>
              <a:t>npm.cmd run lint</a:t>
            </a:r>
          </a:p>
          <a:p xmlns:a="http://schemas.openxmlformats.org/drawingml/2006/main">
            <a:pPr>
              <a:defRPr sz="2025" b="1">
                <a:solidFill>
                  <a:srgbClr val="08656C"/>
                </a:solidFill>
                <a:latin typeface="Consolas"/>
                <a:ea typeface="Consolas"/>
                <a:cs typeface="Consolas"/>
              </a:defRPr>
            </a:pPr>
            <a:r>
              <a:rPr sz="2025" b="1">
                <a:solidFill>
                  <a:srgbClr val="08656C"/>
                </a:solidFill>
                <a:latin typeface="Consolas"/>
                <a:ea typeface="Consolas"/>
                <a:cs typeface="Consolas"/>
              </a:rPr>
              <a:t>npm.cmd run build</a:t>
            </a:r>
          </a:p>
        </p:txBody>
      </p:sp>
      <p:sp>
        <p:nvSpPr>
          <p:cNvPr id="10" name="">
            <a:extLst xmlns:a="http://schemas.openxmlformats.org/drawingml/2006/main">
              <a:ext uri="{FF2B5EF4-FFF2-40B4-BE49-F238E27FC236}">
                <a16:creationId xmlns:a16="http://schemas.microsoft.com/office/drawing/2014/main" id="{2A388A0C-FB48-41AC-9B51-317F49135946}"/>
              </a:ext>
            </a:extLst>
          </p:cNvPr>
          <p:cNvSpPr>
            <a:spLocks xmlns:a="http://schemas.openxmlformats.org/drawingml/2006/main" noGrp="1"/>
          </p:cNvSpPr>
          <p:nvPr/>
        </p:nvSpPr>
        <p:spPr>
          <a:xfrm xmlns:a="http://schemas.openxmlformats.org/drawingml/2006/main">
            <a:off x="6477000" y="3619500"/>
            <a:ext cx="45720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01600">
              <a:spcAft>
                <a:spcPts val="900"/>
              </a:spcAft>
              <a:buChar char="•"/>
              <a:defRPr sz="1425" b="0">
                <a:solidFill>
                  <a:srgbClr val="17233B"/>
                </a:solidFill>
                <a:latin typeface="Roboto"/>
                <a:ea typeface="Roboto"/>
                <a:cs typeface="Roboto"/>
              </a:defRPr>
            </a:pPr>
            <a:r>
              <a:rPr sz="1425" b="0">
                <a:solidFill>
                  <a:srgbClr val="17233B"/>
                </a:solidFill>
                <a:latin typeface="Roboto"/>
                <a:ea typeface="Roboto"/>
                <a:cs typeface="Roboto"/>
              </a:rPr>
              <a:t>Project chưa có automated test command</a:t>
            </a:r>
          </a:p>
          <a:p xmlns:a="http://schemas.openxmlformats.org/drawingml/2006/main">
            <a:pPr marL="228600" indent="-101600">
              <a:spcAft>
                <a:spcPts val="900"/>
              </a:spcAft>
              <a:buChar char="•"/>
              <a:defRPr sz="1425" b="0">
                <a:solidFill>
                  <a:srgbClr val="17233B"/>
                </a:solidFill>
                <a:latin typeface="Roboto"/>
                <a:ea typeface="Roboto"/>
                <a:cs typeface="Roboto"/>
              </a:defRPr>
            </a:pPr>
            <a:r>
              <a:rPr sz="1425" b="0">
                <a:solidFill>
                  <a:srgbClr val="17233B"/>
                </a:solidFill>
                <a:latin typeface="Roboto"/>
                <a:ea typeface="Roboto"/>
                <a:cs typeface="Roboto"/>
              </a:rPr>
              <a:t>Thay đổi .fg cần fixture desktop và web</a:t>
            </a:r>
          </a:p>
          <a:p xmlns:a="http://schemas.openxmlformats.org/drawingml/2006/main">
            <a:pPr marL="228600" indent="-101600">
              <a:spcAft>
                <a:spcPts val="900"/>
              </a:spcAft>
              <a:buChar char="•"/>
              <a:defRPr sz="1425" b="0">
                <a:solidFill>
                  <a:srgbClr val="17233B"/>
                </a:solidFill>
                <a:latin typeface="Roboto"/>
                <a:ea typeface="Roboto"/>
                <a:cs typeface="Roboto"/>
              </a:defRPr>
            </a:pPr>
            <a:r>
              <a:rPr sz="1425" b="0">
                <a:solidFill>
                  <a:srgbClr val="17233B"/>
                </a:solidFill>
                <a:latin typeface="Roboto"/>
                <a:ea typeface="Roboto"/>
                <a:cs typeface="Roboto"/>
              </a:rPr>
              <a:t>Thay đổi auth cần kiểm tra unauthorized và ownership</a:t>
            </a:r>
          </a:p>
          <a:p xmlns:a="http://schemas.openxmlformats.org/drawingml/2006/main">
            <a:pPr marL="228600" indent="-101600">
              <a:spcAft>
                <a:spcPts val="900"/>
              </a:spcAft>
              <a:buChar char="•"/>
              <a:defRPr sz="1425" b="0">
                <a:solidFill>
                  <a:srgbClr val="17233B"/>
                </a:solidFill>
                <a:latin typeface="Roboto"/>
                <a:ea typeface="Roboto"/>
                <a:cs typeface="Roboto"/>
              </a:defRPr>
            </a:pPr>
            <a:r>
              <a:rPr sz="1425" b="0">
                <a:solidFill>
                  <a:srgbClr val="17233B"/>
                </a:solidFill>
                <a:latin typeface="Roboto"/>
                <a:ea typeface="Roboto"/>
                <a:cs typeface="Roboto"/>
              </a:rPr>
              <a:t>Build pass không thay thế acceptance review</a:t>
            </a:r>
          </a:p>
        </p:txBody>
      </p:sp>
      <p:sp>
        <p:nvSpPr>
          <p:cNvPr id="11" name="">
            <a:extLst xmlns:a="http://schemas.openxmlformats.org/drawingml/2006/main">
              <a:ext uri="{FF2B5EF4-FFF2-40B4-BE49-F238E27FC236}">
                <a16:creationId xmlns:a16="http://schemas.microsoft.com/office/drawing/2014/main" id="{4B8DF9EA-5181-4651-B150-A1BD7D170F65}"/>
              </a:ext>
            </a:extLst>
          </p:cNvPr>
          <p:cNvSpPr>
            <a:spLocks xmlns:a="http://schemas.openxmlformats.org/drawingml/2006/main" noGrp="1"/>
          </p:cNvSpPr>
          <p:nvPr/>
        </p:nvSpPr>
        <p:spPr>
          <a:xfrm xmlns:a="http://schemas.openxmlformats.org/drawingml/2006/main">
            <a:off x="9715500" y="6496050"/>
            <a:ext cx="1809750" cy="171450"/>
          </a:xfrm>
          <a:prstGeom xmlns:a="http://schemas.openxmlformats.org/drawingml/2006/main" prst="rect">
            <a:avLst/>
          </a:prstGeom>
          <a:solidFill xmlns:a="http://schemas.openxmlformats.org/drawingml/2006/main">
            <a:srgbClr val="08656C"/>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750" b="1">
                <a:solidFill>
                  <a:srgbClr val="FFFFFF"/>
                </a:solidFill>
                <a:latin typeface="Roboto"/>
                <a:ea typeface="Roboto"/>
                <a:cs typeface="Roboto"/>
              </a:defRPr>
            </a:pPr>
            <a:r>
              <a:rPr sz="750" b="1">
                <a:solidFill>
                  <a:srgbClr val="FFFFFF"/>
                </a:solidFill>
                <a:latin typeface="Roboto"/>
                <a:ea typeface="Roboto"/>
                <a:cs typeface="Roboto"/>
              </a:rPr>
              <a:t>FUGRADE  /  SDD  /  15</a:t>
            </a:r>
          </a:p>
        </p:txBody>
      </p:sp>
    </p:spTree>
    <p:extLst>
      <p:ext uri="{BB962C8B-B14F-4D97-AF65-F5344CB8AC3E}">
        <p14:creationId xmlns:p14="http://schemas.microsoft.com/office/powerpoint/2010/main" val="1721595336"/>
      </p:ext>
    </p:extLst>
  </p:cSld>
</p:sld>
</file>

<file path=ppt/slides/slide16.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2F2E8A5-8D2A-4D5E-8E71-5A1E510490F0}"/>
              </a:ext>
            </a:extLst>
          </p:cNvPr>
          <p:cNvSpPr>
            <a:spLocks xmlns:a="http://schemas.openxmlformats.org/drawingml/2006/main" noGrp="1"/>
          </p:cNvSpPr>
          <p:nvPr/>
        </p:nvSpPr>
        <p:spPr>
          <a:xfrm xmlns:a="http://schemas.openxmlformats.org/drawingml/2006/main">
            <a:off x="666750" y="457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17233B"/>
                </a:solidFill>
                <a:latin typeface="Raleway"/>
                <a:ea typeface="Raleway"/>
                <a:cs typeface="Raleway"/>
              </a:defRPr>
            </a:pPr>
            <a:r>
              <a:rPr sz="2850" b="1">
                <a:solidFill>
                  <a:srgbClr val="17233B"/>
                </a:solidFill>
                <a:latin typeface="Raleway"/>
                <a:ea typeface="Raleway"/>
                <a:cs typeface="Raleway"/>
              </a:rPr>
              <a:t>Rủi ro kỹ thuật còn lại</a:t>
            </a:r>
          </a:p>
        </p:txBody>
      </p:sp>
      <p:sp>
        <p:nvSpPr>
          <p:cNvPr id="2" name="">
            <a:extLst xmlns:a="http://schemas.openxmlformats.org/drawingml/2006/main">
              <a:ext uri="{FF2B5EF4-FFF2-40B4-BE49-F238E27FC236}">
                <a16:creationId xmlns:a16="http://schemas.microsoft.com/office/drawing/2014/main" id="{93C3B22D-CC61-4793-A6D0-37929384EE2E}"/>
              </a:ext>
            </a:extLst>
          </p:cNvPr>
          <p:cNvSpPr>
            <a:spLocks xmlns:a="http://schemas.openxmlformats.org/drawingml/2006/main" noGrp="1"/>
          </p:cNvSpPr>
          <p:nvPr/>
        </p:nvSpPr>
        <p:spPr>
          <a:xfrm xmlns:a="http://schemas.openxmlformats.org/drawingml/2006/main">
            <a:off x="666750" y="1028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F6B7A"/>
                </a:solidFill>
                <a:latin typeface="Roboto"/>
                <a:ea typeface="Roboto"/>
                <a:cs typeface="Roboto"/>
              </a:defRPr>
            </a:pPr>
            <a:r>
              <a:rPr sz="1350" b="0">
                <a:solidFill>
                  <a:srgbClr val="5F6B7A"/>
                </a:solidFill>
                <a:latin typeface="Roboto"/>
                <a:ea typeface="Roboto"/>
                <a:cs typeface="Roboto"/>
              </a:rPr>
              <a:t>Các giới hạn này ảnh hưởng trực tiếp tới kế hoạch production</a:t>
            </a:r>
          </a:p>
        </p:txBody>
      </p:sp>
      <p:sp>
        <p:nvSpPr>
          <p:cNvPr id="3" name="">
            <a:extLst xmlns:a="http://schemas.openxmlformats.org/drawingml/2006/main">
              <a:ext uri="{FF2B5EF4-FFF2-40B4-BE49-F238E27FC236}">
                <a16:creationId xmlns:a16="http://schemas.microsoft.com/office/drawing/2014/main" id="{20023DBA-EA5A-4063-B341-B235F7000CE0}"/>
              </a:ext>
            </a:extLst>
          </p:cNvPr>
          <p:cNvSpPr>
            <a:spLocks xmlns:a="http://schemas.openxmlformats.org/drawingml/2006/main" noGrp="1"/>
          </p:cNvSpPr>
          <p:nvPr/>
        </p:nvSpPr>
        <p:spPr>
          <a:xfrm xmlns:a="http://schemas.openxmlformats.org/drawingml/2006/main">
            <a:off x="666750" y="1400175"/>
            <a:ext cx="685800" cy="38100"/>
          </a:xfrm>
          <a:prstGeom xmlns:a="http://schemas.openxmlformats.org/drawingml/2006/main" prst="rect">
            <a:avLst/>
          </a:prstGeom>
          <a:solidFill xmlns:a="http://schemas.openxmlformats.org/drawingml/2006/main">
            <a:srgbClr val="0C8D9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DBEFB9A-58BC-4B56-BE8A-59E7FE0DEB73}"/>
              </a:ext>
            </a:extLst>
          </p:cNvPr>
          <p:cNvSpPr>
            <a:spLocks xmlns:a="http://schemas.openxmlformats.org/drawingml/2006/main" noGrp="1"/>
          </p:cNvSpPr>
          <p:nvPr/>
        </p:nvSpPr>
        <p:spPr>
          <a:xfrm xmlns:a="http://schemas.openxmlformats.org/drawingml/2006/main">
            <a:off x="809625" y="1809750"/>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a:solidFill>
                  <a:srgbClr val="0C8D96"/>
                </a:solidFill>
                <a:latin typeface="Roboto"/>
                <a:ea typeface="Roboto"/>
                <a:cs typeface="Roboto"/>
              </a:defRPr>
            </a:pPr>
            <a:r>
              <a:rPr sz="1350" b="1">
                <a:solidFill>
                  <a:srgbClr val="0C8D96"/>
                </a:solidFill>
                <a:latin typeface="Roboto"/>
                <a:ea typeface="Roboto"/>
                <a:cs typeface="Roboto"/>
              </a:rPr>
              <a:t>01</a:t>
            </a:r>
          </a:p>
        </p:txBody>
      </p:sp>
      <p:sp>
        <p:nvSpPr>
          <p:cNvPr id="5" name="">
            <a:extLst xmlns:a="http://schemas.openxmlformats.org/drawingml/2006/main">
              <a:ext uri="{FF2B5EF4-FFF2-40B4-BE49-F238E27FC236}">
                <a16:creationId xmlns:a16="http://schemas.microsoft.com/office/drawing/2014/main" id="{DA0DF0B7-BE16-42BF-BCF4-50843A325219}"/>
              </a:ext>
            </a:extLst>
          </p:cNvPr>
          <p:cNvSpPr>
            <a:spLocks xmlns:a="http://schemas.openxmlformats.org/drawingml/2006/main" noGrp="1"/>
          </p:cNvSpPr>
          <p:nvPr/>
        </p:nvSpPr>
        <p:spPr>
          <a:xfrm xmlns:a="http://schemas.openxmlformats.org/drawingml/2006/main">
            <a:off x="1476375" y="177165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7233B"/>
                </a:solidFill>
                <a:latin typeface="Raleway"/>
                <a:ea typeface="Raleway"/>
                <a:cs typeface="Raleway"/>
              </a:defRPr>
            </a:pPr>
            <a:r>
              <a:rPr sz="1800" b="1">
                <a:solidFill>
                  <a:srgbClr val="17233B"/>
                </a:solidFill>
                <a:latin typeface="Raleway"/>
                <a:ea typeface="Raleway"/>
                <a:cs typeface="Raleway"/>
              </a:rPr>
              <a:t>Ownership API snapshot</a:t>
            </a:r>
          </a:p>
        </p:txBody>
      </p:sp>
      <p:sp>
        <p:nvSpPr>
          <p:cNvPr id="6" name="">
            <a:extLst xmlns:a="http://schemas.openxmlformats.org/drawingml/2006/main">
              <a:ext uri="{FF2B5EF4-FFF2-40B4-BE49-F238E27FC236}">
                <a16:creationId xmlns:a16="http://schemas.microsoft.com/office/drawing/2014/main" id="{749F9E2D-1B53-4F19-9973-490E9581C4D6}"/>
              </a:ext>
            </a:extLst>
          </p:cNvPr>
          <p:cNvSpPr>
            <a:spLocks xmlns:a="http://schemas.openxmlformats.org/drawingml/2006/main" noGrp="1"/>
          </p:cNvSpPr>
          <p:nvPr/>
        </p:nvSpPr>
        <p:spPr>
          <a:xfrm xmlns:a="http://schemas.openxmlformats.org/drawingml/2006/main">
            <a:off x="4810125" y="1790700"/>
            <a:ext cx="647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F6B7A"/>
                </a:solidFill>
                <a:latin typeface="Roboto"/>
                <a:ea typeface="Roboto"/>
                <a:cs typeface="Roboto"/>
              </a:defRPr>
            </a:pPr>
            <a:r>
              <a:rPr sz="1425" b="0">
                <a:solidFill>
                  <a:srgbClr val="5F6B7A"/>
                </a:solidFill>
                <a:latin typeface="Roboto"/>
                <a:ea typeface="Roboto"/>
                <a:cs typeface="Roboto"/>
              </a:rPr>
              <a:t>GET, DELETE và một số mutation mới kiểm tra session, chưa lọc dữ liệu theo userId.</a:t>
            </a:r>
          </a:p>
        </p:txBody>
      </p:sp>
      <p:sp>
        <p:nvSpPr>
          <p:cNvPr id="7" name="">
            <a:extLst xmlns:a="http://schemas.openxmlformats.org/drawingml/2006/main">
              <a:ext uri="{FF2B5EF4-FFF2-40B4-BE49-F238E27FC236}">
                <a16:creationId xmlns:a16="http://schemas.microsoft.com/office/drawing/2014/main" id="{81DE047B-433B-4FBB-86C7-96076A5114E4}"/>
              </a:ext>
            </a:extLst>
          </p:cNvPr>
          <p:cNvSpPr>
            <a:spLocks xmlns:a="http://schemas.openxmlformats.org/drawingml/2006/main" noGrp="1"/>
          </p:cNvSpPr>
          <p:nvPr/>
        </p:nvSpPr>
        <p:spPr>
          <a:xfrm xmlns:a="http://schemas.openxmlformats.org/drawingml/2006/main">
            <a:off x="809625" y="2524125"/>
            <a:ext cx="10477500" cy="9525"/>
          </a:xfrm>
          <a:prstGeom xmlns:a="http://schemas.openxmlformats.org/drawingml/2006/main" prst="rect">
            <a:avLst/>
          </a:prstGeom>
          <a:solidFill xmlns:a="http://schemas.openxmlformats.org/drawingml/2006/main">
            <a:srgbClr val="DDE4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0D0DAC9-21CE-4FE7-8434-3C42C067E0B6}"/>
              </a:ext>
            </a:extLst>
          </p:cNvPr>
          <p:cNvSpPr>
            <a:spLocks xmlns:a="http://schemas.openxmlformats.org/drawingml/2006/main" noGrp="1"/>
          </p:cNvSpPr>
          <p:nvPr/>
        </p:nvSpPr>
        <p:spPr>
          <a:xfrm xmlns:a="http://schemas.openxmlformats.org/drawingml/2006/main">
            <a:off x="809625" y="2809875"/>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a:solidFill>
                  <a:srgbClr val="0C8D96"/>
                </a:solidFill>
                <a:latin typeface="Roboto"/>
                <a:ea typeface="Roboto"/>
                <a:cs typeface="Roboto"/>
              </a:defRPr>
            </a:pPr>
            <a:r>
              <a:rPr sz="1350" b="1">
                <a:solidFill>
                  <a:srgbClr val="0C8D96"/>
                </a:solidFill>
                <a:latin typeface="Roboto"/>
                <a:ea typeface="Roboto"/>
                <a:cs typeface="Roboto"/>
              </a:rPr>
              <a:t>02</a:t>
            </a:r>
          </a:p>
        </p:txBody>
      </p:sp>
      <p:sp>
        <p:nvSpPr>
          <p:cNvPr id="9" name="">
            <a:extLst xmlns:a="http://schemas.openxmlformats.org/drawingml/2006/main">
              <a:ext uri="{FF2B5EF4-FFF2-40B4-BE49-F238E27FC236}">
                <a16:creationId xmlns:a16="http://schemas.microsoft.com/office/drawing/2014/main" id="{EB38C1B1-FDAA-407A-AAFA-B4A68FFC3F0C}"/>
              </a:ext>
            </a:extLst>
          </p:cNvPr>
          <p:cNvSpPr>
            <a:spLocks xmlns:a="http://schemas.openxmlformats.org/drawingml/2006/main" noGrp="1"/>
          </p:cNvSpPr>
          <p:nvPr/>
        </p:nvSpPr>
        <p:spPr>
          <a:xfrm xmlns:a="http://schemas.openxmlformats.org/drawingml/2006/main">
            <a:off x="1476375" y="277177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7233B"/>
                </a:solidFill>
                <a:latin typeface="Raleway"/>
                <a:ea typeface="Raleway"/>
                <a:cs typeface="Raleway"/>
              </a:defRPr>
            </a:pPr>
            <a:r>
              <a:rPr sz="1800" b="1">
                <a:solidFill>
                  <a:srgbClr val="17233B"/>
                </a:solidFill>
                <a:latin typeface="Raleway"/>
                <a:ea typeface="Raleway"/>
                <a:cs typeface="Raleway"/>
              </a:rPr>
              <a:t>Persistence production</a:t>
            </a:r>
          </a:p>
        </p:txBody>
      </p:sp>
      <p:sp>
        <p:nvSpPr>
          <p:cNvPr id="10" name="">
            <a:extLst xmlns:a="http://schemas.openxmlformats.org/drawingml/2006/main">
              <a:ext uri="{FF2B5EF4-FFF2-40B4-BE49-F238E27FC236}">
                <a16:creationId xmlns:a16="http://schemas.microsoft.com/office/drawing/2014/main" id="{B35DF37E-16DC-432A-8AD1-8451A1C77600}"/>
              </a:ext>
            </a:extLst>
          </p:cNvPr>
          <p:cNvSpPr>
            <a:spLocks xmlns:a="http://schemas.openxmlformats.org/drawingml/2006/main" noGrp="1"/>
          </p:cNvSpPr>
          <p:nvPr/>
        </p:nvSpPr>
        <p:spPr>
          <a:xfrm xmlns:a="http://schemas.openxmlformats.org/drawingml/2006/main">
            <a:off x="4810125" y="2790825"/>
            <a:ext cx="647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F6B7A"/>
                </a:solidFill>
                <a:latin typeface="Roboto"/>
                <a:ea typeface="Roboto"/>
                <a:cs typeface="Roboto"/>
              </a:defRPr>
            </a:pPr>
            <a:r>
              <a:rPr sz="1425" b="0">
                <a:solidFill>
                  <a:srgbClr val="5F6B7A"/>
                </a:solidFill>
                <a:latin typeface="Roboto"/>
                <a:ea typeface="Roboto"/>
                <a:cs typeface="Roboto"/>
              </a:rPr>
              <a:t>SQLite cục bộ chưa phù hợp với deployment serverless hoặc nhiều instance.</a:t>
            </a:r>
          </a:p>
        </p:txBody>
      </p:sp>
      <p:sp>
        <p:nvSpPr>
          <p:cNvPr id="11" name="">
            <a:extLst xmlns:a="http://schemas.openxmlformats.org/drawingml/2006/main">
              <a:ext uri="{FF2B5EF4-FFF2-40B4-BE49-F238E27FC236}">
                <a16:creationId xmlns:a16="http://schemas.microsoft.com/office/drawing/2014/main" id="{D3F2FD37-F098-48A1-8DF6-226731EAD565}"/>
              </a:ext>
            </a:extLst>
          </p:cNvPr>
          <p:cNvSpPr>
            <a:spLocks xmlns:a="http://schemas.openxmlformats.org/drawingml/2006/main" noGrp="1"/>
          </p:cNvSpPr>
          <p:nvPr/>
        </p:nvSpPr>
        <p:spPr>
          <a:xfrm xmlns:a="http://schemas.openxmlformats.org/drawingml/2006/main">
            <a:off x="809625" y="3524250"/>
            <a:ext cx="10477500" cy="9525"/>
          </a:xfrm>
          <a:prstGeom xmlns:a="http://schemas.openxmlformats.org/drawingml/2006/main" prst="rect">
            <a:avLst/>
          </a:prstGeom>
          <a:solidFill xmlns:a="http://schemas.openxmlformats.org/drawingml/2006/main">
            <a:srgbClr val="DDE4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9B0985A-6B0C-42EC-836F-DA97AA0F8CC9}"/>
              </a:ext>
            </a:extLst>
          </p:cNvPr>
          <p:cNvSpPr>
            <a:spLocks xmlns:a="http://schemas.openxmlformats.org/drawingml/2006/main" noGrp="1"/>
          </p:cNvSpPr>
          <p:nvPr/>
        </p:nvSpPr>
        <p:spPr>
          <a:xfrm xmlns:a="http://schemas.openxmlformats.org/drawingml/2006/main">
            <a:off x="809625" y="3810000"/>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a:solidFill>
                  <a:srgbClr val="0C8D96"/>
                </a:solidFill>
                <a:latin typeface="Roboto"/>
                <a:ea typeface="Roboto"/>
                <a:cs typeface="Roboto"/>
              </a:defRPr>
            </a:pPr>
            <a:r>
              <a:rPr sz="1350" b="1">
                <a:solidFill>
                  <a:srgbClr val="0C8D96"/>
                </a:solidFill>
                <a:latin typeface="Roboto"/>
                <a:ea typeface="Roboto"/>
                <a:cs typeface="Roboto"/>
              </a:rPr>
              <a:t>03</a:t>
            </a:r>
          </a:p>
        </p:txBody>
      </p:sp>
      <p:sp>
        <p:nvSpPr>
          <p:cNvPr id="13" name="">
            <a:extLst xmlns:a="http://schemas.openxmlformats.org/drawingml/2006/main">
              <a:ext uri="{FF2B5EF4-FFF2-40B4-BE49-F238E27FC236}">
                <a16:creationId xmlns:a16="http://schemas.microsoft.com/office/drawing/2014/main" id="{124039E8-CBB4-413B-9BDB-AC0B56CE0041}"/>
              </a:ext>
            </a:extLst>
          </p:cNvPr>
          <p:cNvSpPr>
            <a:spLocks xmlns:a="http://schemas.openxmlformats.org/drawingml/2006/main" noGrp="1"/>
          </p:cNvSpPr>
          <p:nvPr/>
        </p:nvSpPr>
        <p:spPr>
          <a:xfrm xmlns:a="http://schemas.openxmlformats.org/drawingml/2006/main">
            <a:off x="1476375" y="37719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7233B"/>
                </a:solidFill>
                <a:latin typeface="Raleway"/>
                <a:ea typeface="Raleway"/>
                <a:cs typeface="Raleway"/>
              </a:defRPr>
            </a:pPr>
            <a:r>
              <a:rPr sz="1800" b="1">
                <a:solidFill>
                  <a:srgbClr val="17233B"/>
                </a:solidFill>
                <a:latin typeface="Raleway"/>
                <a:ea typeface="Raleway"/>
                <a:cs typeface="Raleway"/>
              </a:rPr>
              <a:t>Automated tests</a:t>
            </a:r>
          </a:p>
        </p:txBody>
      </p:sp>
      <p:sp>
        <p:nvSpPr>
          <p:cNvPr id="14" name="">
            <a:extLst xmlns:a="http://schemas.openxmlformats.org/drawingml/2006/main">
              <a:ext uri="{FF2B5EF4-FFF2-40B4-BE49-F238E27FC236}">
                <a16:creationId xmlns:a16="http://schemas.microsoft.com/office/drawing/2014/main" id="{8BB4ABB2-0403-4E76-8D8F-6B112FF624A2}"/>
              </a:ext>
            </a:extLst>
          </p:cNvPr>
          <p:cNvSpPr>
            <a:spLocks xmlns:a="http://schemas.openxmlformats.org/drawingml/2006/main" noGrp="1"/>
          </p:cNvSpPr>
          <p:nvPr/>
        </p:nvSpPr>
        <p:spPr>
          <a:xfrm xmlns:a="http://schemas.openxmlformats.org/drawingml/2006/main">
            <a:off x="4810125" y="3790950"/>
            <a:ext cx="647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F6B7A"/>
                </a:solidFill>
                <a:latin typeface="Roboto"/>
                <a:ea typeface="Roboto"/>
                <a:cs typeface="Roboto"/>
              </a:defRPr>
            </a:pPr>
            <a:r>
              <a:rPr sz="1425" b="0">
                <a:solidFill>
                  <a:srgbClr val="5F6B7A"/>
                </a:solidFill>
                <a:latin typeface="Roboto"/>
                <a:ea typeface="Roboto"/>
                <a:cs typeface="Roboto"/>
              </a:rPr>
              <a:t>package.json chưa có test script nên chưa thể tuyên bố coverage hoặc regression suite.</a:t>
            </a:r>
          </a:p>
        </p:txBody>
      </p:sp>
      <p:sp>
        <p:nvSpPr>
          <p:cNvPr id="15" name="">
            <a:extLst xmlns:a="http://schemas.openxmlformats.org/drawingml/2006/main">
              <a:ext uri="{FF2B5EF4-FFF2-40B4-BE49-F238E27FC236}">
                <a16:creationId xmlns:a16="http://schemas.microsoft.com/office/drawing/2014/main" id="{CA7E382C-0A38-4B2B-AA11-2986C767147F}"/>
              </a:ext>
            </a:extLst>
          </p:cNvPr>
          <p:cNvSpPr>
            <a:spLocks xmlns:a="http://schemas.openxmlformats.org/drawingml/2006/main" noGrp="1"/>
          </p:cNvSpPr>
          <p:nvPr/>
        </p:nvSpPr>
        <p:spPr>
          <a:xfrm xmlns:a="http://schemas.openxmlformats.org/drawingml/2006/main">
            <a:off x="809625" y="4524375"/>
            <a:ext cx="10477500" cy="9525"/>
          </a:xfrm>
          <a:prstGeom xmlns:a="http://schemas.openxmlformats.org/drawingml/2006/main" prst="rect">
            <a:avLst/>
          </a:prstGeom>
          <a:solidFill xmlns:a="http://schemas.openxmlformats.org/drawingml/2006/main">
            <a:srgbClr val="DDE4E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D97BF18-994C-46E5-93C8-CD0521196E3F}"/>
              </a:ext>
            </a:extLst>
          </p:cNvPr>
          <p:cNvSpPr>
            <a:spLocks xmlns:a="http://schemas.openxmlformats.org/drawingml/2006/main" noGrp="1"/>
          </p:cNvSpPr>
          <p:nvPr/>
        </p:nvSpPr>
        <p:spPr>
          <a:xfrm xmlns:a="http://schemas.openxmlformats.org/drawingml/2006/main">
            <a:off x="809625" y="4810125"/>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a:solidFill>
                  <a:srgbClr val="0C8D96"/>
                </a:solidFill>
                <a:latin typeface="Roboto"/>
                <a:ea typeface="Roboto"/>
                <a:cs typeface="Roboto"/>
              </a:defRPr>
            </a:pPr>
            <a:r>
              <a:rPr sz="1350" b="1">
                <a:solidFill>
                  <a:srgbClr val="0C8D96"/>
                </a:solidFill>
                <a:latin typeface="Roboto"/>
                <a:ea typeface="Roboto"/>
                <a:cs typeface="Roboto"/>
              </a:rPr>
              <a:t>04</a:t>
            </a:r>
          </a:p>
        </p:txBody>
      </p:sp>
      <p:sp>
        <p:nvSpPr>
          <p:cNvPr id="17" name="">
            <a:extLst xmlns:a="http://schemas.openxmlformats.org/drawingml/2006/main">
              <a:ext uri="{FF2B5EF4-FFF2-40B4-BE49-F238E27FC236}">
                <a16:creationId xmlns:a16="http://schemas.microsoft.com/office/drawing/2014/main" id="{27BD3BE3-1532-42ED-8B3E-EDFA95DE6889}"/>
              </a:ext>
            </a:extLst>
          </p:cNvPr>
          <p:cNvSpPr>
            <a:spLocks xmlns:a="http://schemas.openxmlformats.org/drawingml/2006/main" noGrp="1"/>
          </p:cNvSpPr>
          <p:nvPr/>
        </p:nvSpPr>
        <p:spPr>
          <a:xfrm xmlns:a="http://schemas.openxmlformats.org/drawingml/2006/main">
            <a:off x="1476375" y="477202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7233B"/>
                </a:solidFill>
                <a:latin typeface="Raleway"/>
                <a:ea typeface="Raleway"/>
                <a:cs typeface="Raleway"/>
              </a:defRPr>
            </a:pPr>
            <a:r>
              <a:rPr sz="1800" b="1">
                <a:solidFill>
                  <a:srgbClr val="17233B"/>
                </a:solidFill>
                <a:latin typeface="Raleway"/>
                <a:ea typeface="Raleway"/>
                <a:cs typeface="Raleway"/>
              </a:rPr>
              <a:t>Bonus grade conversion</a:t>
            </a:r>
          </a:p>
        </p:txBody>
      </p:sp>
      <p:sp>
        <p:nvSpPr>
          <p:cNvPr id="18" name="">
            <a:extLst xmlns:a="http://schemas.openxmlformats.org/drawingml/2006/main">
              <a:ext uri="{FF2B5EF4-FFF2-40B4-BE49-F238E27FC236}">
                <a16:creationId xmlns:a16="http://schemas.microsoft.com/office/drawing/2014/main" id="{BEE9291A-174A-47BD-AC12-F7D715D6A540}"/>
              </a:ext>
            </a:extLst>
          </p:cNvPr>
          <p:cNvSpPr>
            <a:spLocks xmlns:a="http://schemas.openxmlformats.org/drawingml/2006/main" noGrp="1"/>
          </p:cNvSpPr>
          <p:nvPr/>
        </p:nvSpPr>
        <p:spPr>
          <a:xfrm xmlns:a="http://schemas.openxmlformats.org/drawingml/2006/main">
            <a:off x="4810125" y="4791075"/>
            <a:ext cx="647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F6B7A"/>
                </a:solidFill>
                <a:latin typeface="Roboto"/>
                <a:ea typeface="Roboto"/>
                <a:cs typeface="Roboto"/>
              </a:defRPr>
            </a:pPr>
            <a:r>
              <a:rPr sz="1425" b="0">
                <a:solidFill>
                  <a:srgbClr val="5F6B7A"/>
                </a:solidFill>
                <a:latin typeface="Roboto"/>
                <a:ea typeface="Roboto"/>
                <a:cs typeface="Roboto"/>
              </a:rPr>
              <a:t>Context đã APPROVED nhưng Spec và Architecture Profile vẫn chờ Human Final Review.</a:t>
            </a:r>
          </a:p>
        </p:txBody>
      </p:sp>
      <p:sp>
        <p:nvSpPr>
          <p:cNvPr id="19" name="">
            <a:extLst xmlns:a="http://schemas.openxmlformats.org/drawingml/2006/main">
              <a:ext uri="{FF2B5EF4-FFF2-40B4-BE49-F238E27FC236}">
                <a16:creationId xmlns:a16="http://schemas.microsoft.com/office/drawing/2014/main" id="{3F4AB800-3A1C-4A00-B56D-9996E4971599}"/>
              </a:ext>
            </a:extLst>
          </p:cNvPr>
          <p:cNvSpPr>
            <a:spLocks xmlns:a="http://schemas.openxmlformats.org/drawingml/2006/main" noGrp="1"/>
          </p:cNvSpPr>
          <p:nvPr/>
        </p:nvSpPr>
        <p:spPr>
          <a:xfrm xmlns:a="http://schemas.openxmlformats.org/drawingml/2006/main">
            <a:off x="9715500" y="6496050"/>
            <a:ext cx="1809750" cy="171450"/>
          </a:xfrm>
          <a:prstGeom xmlns:a="http://schemas.openxmlformats.org/drawingml/2006/main" prst="rect">
            <a:avLst/>
          </a:prstGeom>
          <a:solidFill xmlns:a="http://schemas.openxmlformats.org/drawingml/2006/main">
            <a:srgbClr val="08656C"/>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750" b="1">
                <a:solidFill>
                  <a:srgbClr val="FFFFFF"/>
                </a:solidFill>
                <a:latin typeface="Roboto"/>
                <a:ea typeface="Roboto"/>
                <a:cs typeface="Roboto"/>
              </a:defRPr>
            </a:pPr>
            <a:r>
              <a:rPr sz="750" b="1">
                <a:solidFill>
                  <a:srgbClr val="FFFFFF"/>
                </a:solidFill>
                <a:latin typeface="Roboto"/>
                <a:ea typeface="Roboto"/>
                <a:cs typeface="Roboto"/>
              </a:rPr>
              <a:t>FUGRADE  /  SDD  /  16</a:t>
            </a:r>
          </a:p>
        </p:txBody>
      </p:sp>
    </p:spTree>
    <p:extLst>
      <p:ext uri="{BB962C8B-B14F-4D97-AF65-F5344CB8AC3E}">
        <p14:creationId xmlns:p14="http://schemas.microsoft.com/office/powerpoint/2010/main" val="1786214920"/>
      </p:ext>
    </p:extLst>
  </p:cSld>
</p:sld>
</file>

<file path=ppt/slides/slide17.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889BE30-BAFC-4292-8856-E977C0AECF81}"/>
              </a:ext>
            </a:extLst>
          </p:cNvPr>
          <p:cNvSpPr>
            <a:spLocks xmlns:a="http://schemas.openxmlformats.org/drawingml/2006/main" noGrp="1"/>
          </p:cNvSpPr>
          <p:nvPr/>
        </p:nvSpPr>
        <p:spPr>
          <a:xfrm xmlns:a="http://schemas.openxmlformats.org/drawingml/2006/main">
            <a:off x="666750" y="457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17233B"/>
                </a:solidFill>
                <a:latin typeface="Raleway"/>
                <a:ea typeface="Raleway"/>
                <a:cs typeface="Raleway"/>
              </a:defRPr>
            </a:pPr>
            <a:r>
              <a:rPr sz="2850" b="1">
                <a:solidFill>
                  <a:srgbClr val="17233B"/>
                </a:solidFill>
                <a:latin typeface="Raleway"/>
                <a:ea typeface="Raleway"/>
                <a:cs typeface="Raleway"/>
              </a:rPr>
              <a:t>Kịch bản demo 5 phút</a:t>
            </a:r>
          </a:p>
        </p:txBody>
      </p:sp>
      <p:sp>
        <p:nvSpPr>
          <p:cNvPr id="2" name="">
            <a:extLst xmlns:a="http://schemas.openxmlformats.org/drawingml/2006/main">
              <a:ext uri="{FF2B5EF4-FFF2-40B4-BE49-F238E27FC236}">
                <a16:creationId xmlns:a16="http://schemas.microsoft.com/office/drawing/2014/main" id="{EE63356A-CE0D-4B0C-972A-FF71E3AB5763}"/>
              </a:ext>
            </a:extLst>
          </p:cNvPr>
          <p:cNvSpPr>
            <a:spLocks xmlns:a="http://schemas.openxmlformats.org/drawingml/2006/main" noGrp="1"/>
          </p:cNvSpPr>
          <p:nvPr/>
        </p:nvSpPr>
        <p:spPr>
          <a:xfrm xmlns:a="http://schemas.openxmlformats.org/drawingml/2006/main">
            <a:off x="666750" y="1028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F6B7A"/>
                </a:solidFill>
                <a:latin typeface="Roboto"/>
                <a:ea typeface="Roboto"/>
                <a:cs typeface="Roboto"/>
              </a:defRPr>
            </a:pPr>
            <a:r>
              <a:rPr sz="1350" b="0">
                <a:solidFill>
                  <a:srgbClr val="5F6B7A"/>
                </a:solidFill>
                <a:latin typeface="Roboto"/>
                <a:ea typeface="Roboto"/>
                <a:cs typeface="Roboto"/>
              </a:rPr>
              <a:t>Một luồng ngắn đủ cho người xem hiểu giá trị sản phẩm và cách SDD giữ claim chính xác</a:t>
            </a:r>
          </a:p>
        </p:txBody>
      </p:sp>
      <p:sp>
        <p:nvSpPr>
          <p:cNvPr id="3" name="">
            <a:extLst xmlns:a="http://schemas.openxmlformats.org/drawingml/2006/main">
              <a:ext uri="{FF2B5EF4-FFF2-40B4-BE49-F238E27FC236}">
                <a16:creationId xmlns:a16="http://schemas.microsoft.com/office/drawing/2014/main" id="{731DBB6C-FA76-4E87-82EE-828540FDF178}"/>
              </a:ext>
            </a:extLst>
          </p:cNvPr>
          <p:cNvSpPr>
            <a:spLocks xmlns:a="http://schemas.openxmlformats.org/drawingml/2006/main" noGrp="1"/>
          </p:cNvSpPr>
          <p:nvPr/>
        </p:nvSpPr>
        <p:spPr>
          <a:xfrm xmlns:a="http://schemas.openxmlformats.org/drawingml/2006/main">
            <a:off x="666750" y="1400175"/>
            <a:ext cx="685800" cy="38100"/>
          </a:xfrm>
          <a:prstGeom xmlns:a="http://schemas.openxmlformats.org/drawingml/2006/main" prst="rect">
            <a:avLst/>
          </a:prstGeom>
          <a:solidFill xmlns:a="http://schemas.openxmlformats.org/drawingml/2006/main">
            <a:srgbClr val="0C8D9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2DBE003-1104-4B7B-AD9D-5478994B3E8B}"/>
              </a:ext>
            </a:extLst>
          </p:cNvPr>
          <p:cNvSpPr>
            <a:spLocks xmlns:a="http://schemas.openxmlformats.org/drawingml/2006/main" noGrp="1"/>
          </p:cNvSpPr>
          <p:nvPr/>
        </p:nvSpPr>
        <p:spPr>
          <a:xfrm xmlns:a="http://schemas.openxmlformats.org/drawingml/2006/main">
            <a:off x="904875" y="1695450"/>
            <a:ext cx="609600" cy="361950"/>
          </a:xfrm>
          <a:prstGeom xmlns:a="http://schemas.openxmlformats.org/drawingml/2006/main" prst="rect">
            <a:avLst/>
          </a:prstGeom>
          <a:solidFill xmlns:a="http://schemas.openxmlformats.org/drawingml/2006/main">
            <a:srgbClr val="0C8D96"/>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FFFFFF"/>
                </a:solidFill>
                <a:latin typeface="Roboto"/>
                <a:ea typeface="Roboto"/>
                <a:cs typeface="Roboto"/>
              </a:defRPr>
            </a:pPr>
            <a:r>
              <a:rPr sz="1500" b="1">
                <a:solidFill>
                  <a:srgbClr val="FFFFFF"/>
                </a:solidFill>
                <a:latin typeface="Roboto"/>
                <a:ea typeface="Roboto"/>
                <a:cs typeface="Roboto"/>
              </a:rPr>
              <a:t>01</a:t>
            </a:r>
          </a:p>
        </p:txBody>
      </p:sp>
      <p:sp>
        <p:nvSpPr>
          <p:cNvPr id="5" name="">
            <a:extLst xmlns:a="http://schemas.openxmlformats.org/drawingml/2006/main">
              <a:ext uri="{FF2B5EF4-FFF2-40B4-BE49-F238E27FC236}">
                <a16:creationId xmlns:a16="http://schemas.microsoft.com/office/drawing/2014/main" id="{987D13A6-1ED1-4513-8D26-6F575DDB2D3C}"/>
              </a:ext>
            </a:extLst>
          </p:cNvPr>
          <p:cNvSpPr>
            <a:spLocks xmlns:a="http://schemas.openxmlformats.org/drawingml/2006/main" noGrp="1"/>
          </p:cNvSpPr>
          <p:nvPr/>
        </p:nvSpPr>
        <p:spPr>
          <a:xfrm xmlns:a="http://schemas.openxmlformats.org/drawingml/2006/main">
            <a:off x="1809750" y="167640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17233B"/>
                </a:solidFill>
                <a:latin typeface="Raleway"/>
                <a:ea typeface="Raleway"/>
                <a:cs typeface="Raleway"/>
              </a:defRPr>
            </a:pPr>
            <a:r>
              <a:rPr sz="1725" b="1">
                <a:solidFill>
                  <a:srgbClr val="17233B"/>
                </a:solidFill>
                <a:latin typeface="Raleway"/>
                <a:ea typeface="Raleway"/>
                <a:cs typeface="Raleway"/>
              </a:rPr>
              <a:t>Bắt đầu ở guest workspace</a:t>
            </a:r>
          </a:p>
        </p:txBody>
      </p:sp>
      <p:sp>
        <p:nvSpPr>
          <p:cNvPr id="6" name="">
            <a:extLst xmlns:a="http://schemas.openxmlformats.org/drawingml/2006/main">
              <a:ext uri="{FF2B5EF4-FFF2-40B4-BE49-F238E27FC236}">
                <a16:creationId xmlns:a16="http://schemas.microsoft.com/office/drawing/2014/main" id="{C343C79C-6957-4376-858C-051ABC77C75C}"/>
              </a:ext>
            </a:extLst>
          </p:cNvPr>
          <p:cNvSpPr>
            <a:spLocks xmlns:a="http://schemas.openxmlformats.org/drawingml/2006/main" noGrp="1"/>
          </p:cNvSpPr>
          <p:nvPr/>
        </p:nvSpPr>
        <p:spPr>
          <a:xfrm xmlns:a="http://schemas.openxmlformats.org/drawingml/2006/main">
            <a:off x="5334000" y="1685925"/>
            <a:ext cx="590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F6B7A"/>
                </a:solidFill>
                <a:latin typeface="Roboto"/>
                <a:ea typeface="Roboto"/>
                <a:cs typeface="Roboto"/>
              </a:defRPr>
            </a:pPr>
            <a:r>
              <a:rPr sz="1425" b="0">
                <a:solidFill>
                  <a:srgbClr val="5F6B7A"/>
                </a:solidFill>
                <a:latin typeface="Roboto"/>
                <a:ea typeface="Roboto"/>
                <a:cs typeface="Roboto"/>
              </a:rPr>
              <a:t>Giới thiệu mục tiêu và mở file demo có mật khẩu.</a:t>
            </a:r>
          </a:p>
        </p:txBody>
      </p:sp>
      <p:sp>
        <p:nvSpPr>
          <p:cNvPr id="7" name="">
            <a:extLst xmlns:a="http://schemas.openxmlformats.org/drawingml/2006/main">
              <a:ext uri="{FF2B5EF4-FFF2-40B4-BE49-F238E27FC236}">
                <a16:creationId xmlns:a16="http://schemas.microsoft.com/office/drawing/2014/main" id="{4EB313C4-4701-4170-9581-144BCA507FEB}"/>
              </a:ext>
            </a:extLst>
          </p:cNvPr>
          <p:cNvSpPr>
            <a:spLocks xmlns:a="http://schemas.openxmlformats.org/drawingml/2006/main" noGrp="1"/>
          </p:cNvSpPr>
          <p:nvPr/>
        </p:nvSpPr>
        <p:spPr>
          <a:xfrm xmlns:a="http://schemas.openxmlformats.org/drawingml/2006/main">
            <a:off x="904875" y="2514600"/>
            <a:ext cx="609600" cy="361950"/>
          </a:xfrm>
          <a:prstGeom xmlns:a="http://schemas.openxmlformats.org/drawingml/2006/main" prst="rect">
            <a:avLst/>
          </a:prstGeom>
          <a:solidFill xmlns:a="http://schemas.openxmlformats.org/drawingml/2006/main">
            <a:srgbClr val="0C8D96"/>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FFFFFF"/>
                </a:solidFill>
                <a:latin typeface="Roboto"/>
                <a:ea typeface="Roboto"/>
                <a:cs typeface="Roboto"/>
              </a:defRPr>
            </a:pPr>
            <a:r>
              <a:rPr sz="1500" b="1">
                <a:solidFill>
                  <a:srgbClr val="FFFFFF"/>
                </a:solidFill>
                <a:latin typeface="Roboto"/>
                <a:ea typeface="Roboto"/>
                <a:cs typeface="Roboto"/>
              </a:rPr>
              <a:t>02</a:t>
            </a:r>
          </a:p>
        </p:txBody>
      </p:sp>
      <p:sp>
        <p:nvSpPr>
          <p:cNvPr id="8" name="">
            <a:extLst xmlns:a="http://schemas.openxmlformats.org/drawingml/2006/main">
              <a:ext uri="{FF2B5EF4-FFF2-40B4-BE49-F238E27FC236}">
                <a16:creationId xmlns:a16="http://schemas.microsoft.com/office/drawing/2014/main" id="{6E332666-0C5B-4FF9-A990-FDC8DA353714}"/>
              </a:ext>
            </a:extLst>
          </p:cNvPr>
          <p:cNvSpPr>
            <a:spLocks xmlns:a="http://schemas.openxmlformats.org/drawingml/2006/main" noGrp="1"/>
          </p:cNvSpPr>
          <p:nvPr/>
        </p:nvSpPr>
        <p:spPr>
          <a:xfrm xmlns:a="http://schemas.openxmlformats.org/drawingml/2006/main">
            <a:off x="1809750" y="24955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17233B"/>
                </a:solidFill>
                <a:latin typeface="Raleway"/>
                <a:ea typeface="Raleway"/>
                <a:cs typeface="Raleway"/>
              </a:defRPr>
            </a:pPr>
            <a:r>
              <a:rPr sz="1725" b="1">
                <a:solidFill>
                  <a:srgbClr val="17233B"/>
                </a:solidFill>
                <a:latin typeface="Raleway"/>
                <a:ea typeface="Raleway"/>
                <a:cs typeface="Raleway"/>
              </a:rPr>
              <a:t>Chỉnh bảng điểm</a:t>
            </a:r>
          </a:p>
        </p:txBody>
      </p:sp>
      <p:sp>
        <p:nvSpPr>
          <p:cNvPr id="9" name="">
            <a:extLst xmlns:a="http://schemas.openxmlformats.org/drawingml/2006/main">
              <a:ext uri="{FF2B5EF4-FFF2-40B4-BE49-F238E27FC236}">
                <a16:creationId xmlns:a16="http://schemas.microsoft.com/office/drawing/2014/main" id="{8AC3300B-266B-4E6E-A705-376A2B5D8DF6}"/>
              </a:ext>
            </a:extLst>
          </p:cNvPr>
          <p:cNvSpPr>
            <a:spLocks xmlns:a="http://schemas.openxmlformats.org/drawingml/2006/main" noGrp="1"/>
          </p:cNvSpPr>
          <p:nvPr/>
        </p:nvSpPr>
        <p:spPr>
          <a:xfrm xmlns:a="http://schemas.openxmlformats.org/drawingml/2006/main">
            <a:off x="5334000" y="2505075"/>
            <a:ext cx="590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F6B7A"/>
                </a:solidFill>
                <a:latin typeface="Roboto"/>
                <a:ea typeface="Roboto"/>
                <a:cs typeface="Roboto"/>
              </a:defRPr>
            </a:pPr>
            <a:r>
              <a:rPr sz="1425" b="0">
                <a:solidFill>
                  <a:srgbClr val="5F6B7A"/>
                </a:solidFill>
                <a:latin typeface="Roboto"/>
                <a:ea typeface="Roboto"/>
                <a:cs typeface="Roboto"/>
              </a:rPr>
              <a:t>Tìm sinh viên, chọn cột và sửa một ô bằng nhấp đúp.</a:t>
            </a:r>
          </a:p>
        </p:txBody>
      </p:sp>
      <p:sp>
        <p:nvSpPr>
          <p:cNvPr id="10" name="">
            <a:extLst xmlns:a="http://schemas.openxmlformats.org/drawingml/2006/main">
              <a:ext uri="{FF2B5EF4-FFF2-40B4-BE49-F238E27FC236}">
                <a16:creationId xmlns:a16="http://schemas.microsoft.com/office/drawing/2014/main" id="{0E4551A8-A64F-459F-9CDB-111ED3AB3FDF}"/>
              </a:ext>
            </a:extLst>
          </p:cNvPr>
          <p:cNvSpPr>
            <a:spLocks xmlns:a="http://schemas.openxmlformats.org/drawingml/2006/main" noGrp="1"/>
          </p:cNvSpPr>
          <p:nvPr/>
        </p:nvSpPr>
        <p:spPr>
          <a:xfrm xmlns:a="http://schemas.openxmlformats.org/drawingml/2006/main">
            <a:off x="904875" y="3333750"/>
            <a:ext cx="609600" cy="361950"/>
          </a:xfrm>
          <a:prstGeom xmlns:a="http://schemas.openxmlformats.org/drawingml/2006/main" prst="rect">
            <a:avLst/>
          </a:prstGeom>
          <a:solidFill xmlns:a="http://schemas.openxmlformats.org/drawingml/2006/main">
            <a:srgbClr val="0C8D96"/>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FFFFFF"/>
                </a:solidFill>
                <a:latin typeface="Roboto"/>
                <a:ea typeface="Roboto"/>
                <a:cs typeface="Roboto"/>
              </a:defRPr>
            </a:pPr>
            <a:r>
              <a:rPr sz="1500" b="1">
                <a:solidFill>
                  <a:srgbClr val="FFFFFF"/>
                </a:solidFill>
                <a:latin typeface="Roboto"/>
                <a:ea typeface="Roboto"/>
                <a:cs typeface="Roboto"/>
              </a:rPr>
              <a:t>03</a:t>
            </a:r>
          </a:p>
        </p:txBody>
      </p:sp>
      <p:sp>
        <p:nvSpPr>
          <p:cNvPr id="11" name="">
            <a:extLst xmlns:a="http://schemas.openxmlformats.org/drawingml/2006/main">
              <a:ext uri="{FF2B5EF4-FFF2-40B4-BE49-F238E27FC236}">
                <a16:creationId xmlns:a16="http://schemas.microsoft.com/office/drawing/2014/main" id="{57589AE6-E9E9-49E7-8D97-668F7FD1F756}"/>
              </a:ext>
            </a:extLst>
          </p:cNvPr>
          <p:cNvSpPr>
            <a:spLocks xmlns:a="http://schemas.openxmlformats.org/drawingml/2006/main" noGrp="1"/>
          </p:cNvSpPr>
          <p:nvPr/>
        </p:nvSpPr>
        <p:spPr>
          <a:xfrm xmlns:a="http://schemas.openxmlformats.org/drawingml/2006/main">
            <a:off x="1809750" y="331470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17233B"/>
                </a:solidFill>
                <a:latin typeface="Raleway"/>
                <a:ea typeface="Raleway"/>
                <a:cs typeface="Raleway"/>
              </a:defRPr>
            </a:pPr>
            <a:r>
              <a:rPr sz="1725" b="1">
                <a:solidFill>
                  <a:srgbClr val="17233B"/>
                </a:solidFill>
                <a:latin typeface="Raleway"/>
                <a:ea typeface="Raleway"/>
                <a:cs typeface="Raleway"/>
              </a:rPr>
              <a:t>Preview import</a:t>
            </a:r>
          </a:p>
        </p:txBody>
      </p:sp>
      <p:sp>
        <p:nvSpPr>
          <p:cNvPr id="12" name="">
            <a:extLst xmlns:a="http://schemas.openxmlformats.org/drawingml/2006/main">
              <a:ext uri="{FF2B5EF4-FFF2-40B4-BE49-F238E27FC236}">
                <a16:creationId xmlns:a16="http://schemas.microsoft.com/office/drawing/2014/main" id="{ABCD9DDF-EE0A-437C-A558-CCAA23CBCB96}"/>
              </a:ext>
            </a:extLst>
          </p:cNvPr>
          <p:cNvSpPr>
            <a:spLocks xmlns:a="http://schemas.openxmlformats.org/drawingml/2006/main" noGrp="1"/>
          </p:cNvSpPr>
          <p:nvPr/>
        </p:nvSpPr>
        <p:spPr>
          <a:xfrm xmlns:a="http://schemas.openxmlformats.org/drawingml/2006/main">
            <a:off x="5334000" y="3324225"/>
            <a:ext cx="590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F6B7A"/>
                </a:solidFill>
                <a:latin typeface="Roboto"/>
                <a:ea typeface="Roboto"/>
                <a:cs typeface="Roboto"/>
              </a:defRPr>
            </a:pPr>
            <a:r>
              <a:rPr sz="1425" b="0">
                <a:solidFill>
                  <a:srgbClr val="5F6B7A"/>
                </a:solidFill>
                <a:latin typeface="Roboto"/>
                <a:ea typeface="Roboto"/>
                <a:cs typeface="Roboto"/>
              </a:rPr>
              <a:t>Dán dữ liệu có cả dòng hợp lệ và lỗi, chưa cần áp dụng.</a:t>
            </a:r>
          </a:p>
        </p:txBody>
      </p:sp>
      <p:sp>
        <p:nvSpPr>
          <p:cNvPr id="13" name="">
            <a:extLst xmlns:a="http://schemas.openxmlformats.org/drawingml/2006/main">
              <a:ext uri="{FF2B5EF4-FFF2-40B4-BE49-F238E27FC236}">
                <a16:creationId xmlns:a16="http://schemas.microsoft.com/office/drawing/2014/main" id="{3015ED46-0A7C-42B7-992E-6028876AEF2F}"/>
              </a:ext>
            </a:extLst>
          </p:cNvPr>
          <p:cNvSpPr>
            <a:spLocks xmlns:a="http://schemas.openxmlformats.org/drawingml/2006/main" noGrp="1"/>
          </p:cNvSpPr>
          <p:nvPr/>
        </p:nvSpPr>
        <p:spPr>
          <a:xfrm xmlns:a="http://schemas.openxmlformats.org/drawingml/2006/main">
            <a:off x="904875" y="4152900"/>
            <a:ext cx="609600" cy="361950"/>
          </a:xfrm>
          <a:prstGeom xmlns:a="http://schemas.openxmlformats.org/drawingml/2006/main" prst="rect">
            <a:avLst/>
          </a:prstGeom>
          <a:solidFill xmlns:a="http://schemas.openxmlformats.org/drawingml/2006/main">
            <a:srgbClr val="0C8D96"/>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FFFFFF"/>
                </a:solidFill>
                <a:latin typeface="Roboto"/>
                <a:ea typeface="Roboto"/>
                <a:cs typeface="Roboto"/>
              </a:defRPr>
            </a:pPr>
            <a:r>
              <a:rPr sz="1500" b="1">
                <a:solidFill>
                  <a:srgbClr val="FFFFFF"/>
                </a:solidFill>
                <a:latin typeface="Roboto"/>
                <a:ea typeface="Roboto"/>
                <a:cs typeface="Roboto"/>
              </a:rPr>
              <a:t>04</a:t>
            </a:r>
          </a:p>
        </p:txBody>
      </p:sp>
      <p:sp>
        <p:nvSpPr>
          <p:cNvPr id="14" name="">
            <a:extLst xmlns:a="http://schemas.openxmlformats.org/drawingml/2006/main">
              <a:ext uri="{FF2B5EF4-FFF2-40B4-BE49-F238E27FC236}">
                <a16:creationId xmlns:a16="http://schemas.microsoft.com/office/drawing/2014/main" id="{3E28C220-93A4-4831-9172-037682120226}"/>
              </a:ext>
            </a:extLst>
          </p:cNvPr>
          <p:cNvSpPr>
            <a:spLocks xmlns:a="http://schemas.openxmlformats.org/drawingml/2006/main" noGrp="1"/>
          </p:cNvSpPr>
          <p:nvPr/>
        </p:nvSpPr>
        <p:spPr>
          <a:xfrm xmlns:a="http://schemas.openxmlformats.org/drawingml/2006/main">
            <a:off x="1809750" y="41338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17233B"/>
                </a:solidFill>
                <a:latin typeface="Raleway"/>
                <a:ea typeface="Raleway"/>
                <a:cs typeface="Raleway"/>
              </a:defRPr>
            </a:pPr>
            <a:r>
              <a:rPr sz="1725" b="1">
                <a:solidFill>
                  <a:srgbClr val="17233B"/>
                </a:solidFill>
                <a:latin typeface="Raleway"/>
                <a:ea typeface="Raleway"/>
                <a:cs typeface="Raleway"/>
              </a:rPr>
              <a:t>Xuất .fg</a:t>
            </a:r>
          </a:p>
        </p:txBody>
      </p:sp>
      <p:sp>
        <p:nvSpPr>
          <p:cNvPr id="15" name="">
            <a:extLst xmlns:a="http://schemas.openxmlformats.org/drawingml/2006/main">
              <a:ext uri="{FF2B5EF4-FFF2-40B4-BE49-F238E27FC236}">
                <a16:creationId xmlns:a16="http://schemas.microsoft.com/office/drawing/2014/main" id="{039CF6B6-FB12-42AD-B8EF-12DE3E976FCE}"/>
              </a:ext>
            </a:extLst>
          </p:cNvPr>
          <p:cNvSpPr>
            <a:spLocks xmlns:a="http://schemas.openxmlformats.org/drawingml/2006/main" noGrp="1"/>
          </p:cNvSpPr>
          <p:nvPr/>
        </p:nvSpPr>
        <p:spPr>
          <a:xfrm xmlns:a="http://schemas.openxmlformats.org/drawingml/2006/main">
            <a:off x="5334000" y="4143375"/>
            <a:ext cx="590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F6B7A"/>
                </a:solidFill>
                <a:latin typeface="Roboto"/>
                <a:ea typeface="Roboto"/>
                <a:cs typeface="Roboto"/>
              </a:defRPr>
            </a:pPr>
            <a:r>
              <a:rPr sz="1425" b="0">
                <a:solidFill>
                  <a:srgbClr val="5F6B7A"/>
                </a:solidFill>
                <a:latin typeface="Roboto"/>
                <a:ea typeface="Roboto"/>
                <a:cs typeface="Roboto"/>
              </a:rPr>
              <a:t>Mở hộp thoại mật khẩu và nêu compatibility với desktop.</a:t>
            </a:r>
          </a:p>
        </p:txBody>
      </p:sp>
      <p:sp>
        <p:nvSpPr>
          <p:cNvPr id="16" name="">
            <a:extLst xmlns:a="http://schemas.openxmlformats.org/drawingml/2006/main">
              <a:ext uri="{FF2B5EF4-FFF2-40B4-BE49-F238E27FC236}">
                <a16:creationId xmlns:a16="http://schemas.microsoft.com/office/drawing/2014/main" id="{E371E96E-4B1E-401E-92AF-A7B5ADDC4285}"/>
              </a:ext>
            </a:extLst>
          </p:cNvPr>
          <p:cNvSpPr>
            <a:spLocks xmlns:a="http://schemas.openxmlformats.org/drawingml/2006/main" noGrp="1"/>
          </p:cNvSpPr>
          <p:nvPr/>
        </p:nvSpPr>
        <p:spPr>
          <a:xfrm xmlns:a="http://schemas.openxmlformats.org/drawingml/2006/main">
            <a:off x="904875" y="4972050"/>
            <a:ext cx="609600" cy="361950"/>
          </a:xfrm>
          <a:prstGeom xmlns:a="http://schemas.openxmlformats.org/drawingml/2006/main" prst="rect">
            <a:avLst/>
          </a:prstGeom>
          <a:solidFill xmlns:a="http://schemas.openxmlformats.org/drawingml/2006/main">
            <a:srgbClr val="0C8D96"/>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FFFFFF"/>
                </a:solidFill>
                <a:latin typeface="Roboto"/>
                <a:ea typeface="Roboto"/>
                <a:cs typeface="Roboto"/>
              </a:defRPr>
            </a:pPr>
            <a:r>
              <a:rPr sz="1500" b="1">
                <a:solidFill>
                  <a:srgbClr val="FFFFFF"/>
                </a:solidFill>
                <a:latin typeface="Roboto"/>
                <a:ea typeface="Roboto"/>
                <a:cs typeface="Roboto"/>
              </a:rPr>
              <a:t>05</a:t>
            </a:r>
          </a:p>
        </p:txBody>
      </p:sp>
      <p:sp>
        <p:nvSpPr>
          <p:cNvPr id="17" name="">
            <a:extLst xmlns:a="http://schemas.openxmlformats.org/drawingml/2006/main">
              <a:ext uri="{FF2B5EF4-FFF2-40B4-BE49-F238E27FC236}">
                <a16:creationId xmlns:a16="http://schemas.microsoft.com/office/drawing/2014/main" id="{53FBBE20-AF32-42D1-95D1-31F42282E20B}"/>
              </a:ext>
            </a:extLst>
          </p:cNvPr>
          <p:cNvSpPr>
            <a:spLocks xmlns:a="http://schemas.openxmlformats.org/drawingml/2006/main" noGrp="1"/>
          </p:cNvSpPr>
          <p:nvPr/>
        </p:nvSpPr>
        <p:spPr>
          <a:xfrm xmlns:a="http://schemas.openxmlformats.org/drawingml/2006/main">
            <a:off x="1809750" y="495300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17233B"/>
                </a:solidFill>
                <a:latin typeface="Raleway"/>
                <a:ea typeface="Raleway"/>
                <a:cs typeface="Raleway"/>
              </a:defRPr>
            </a:pPr>
            <a:r>
              <a:rPr sz="1725" b="1">
                <a:solidFill>
                  <a:srgbClr val="17233B"/>
                </a:solidFill>
                <a:latin typeface="Raleway"/>
                <a:ea typeface="Raleway"/>
                <a:cs typeface="Raleway"/>
              </a:rPr>
              <a:t>Lưu snapshot</a:t>
            </a:r>
          </a:p>
        </p:txBody>
      </p:sp>
      <p:sp>
        <p:nvSpPr>
          <p:cNvPr id="18" name="">
            <a:extLst xmlns:a="http://schemas.openxmlformats.org/drawingml/2006/main">
              <a:ext uri="{FF2B5EF4-FFF2-40B4-BE49-F238E27FC236}">
                <a16:creationId xmlns:a16="http://schemas.microsoft.com/office/drawing/2014/main" id="{CD0D9F86-2403-495C-B0BB-670220F34EE8}"/>
              </a:ext>
            </a:extLst>
          </p:cNvPr>
          <p:cNvSpPr>
            <a:spLocks xmlns:a="http://schemas.openxmlformats.org/drawingml/2006/main" noGrp="1"/>
          </p:cNvSpPr>
          <p:nvPr/>
        </p:nvSpPr>
        <p:spPr>
          <a:xfrm xmlns:a="http://schemas.openxmlformats.org/drawingml/2006/main">
            <a:off x="5334000" y="4962525"/>
            <a:ext cx="590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F6B7A"/>
                </a:solidFill>
                <a:latin typeface="Roboto"/>
                <a:ea typeface="Roboto"/>
                <a:cs typeface="Roboto"/>
              </a:defRPr>
            </a:pPr>
            <a:r>
              <a:rPr sz="1425" b="0">
                <a:solidFill>
                  <a:srgbClr val="5F6B7A"/>
                </a:solidFill>
                <a:latin typeface="Roboto"/>
                <a:ea typeface="Roboto"/>
                <a:cs typeface="Roboto"/>
              </a:rPr>
              <a:t>Bấm Lưu để chỉ ra gate đăng nhập và CAPTCHA.</a:t>
            </a:r>
          </a:p>
        </p:txBody>
      </p:sp>
      <p:sp>
        <p:nvSpPr>
          <p:cNvPr id="19" name="">
            <a:extLst xmlns:a="http://schemas.openxmlformats.org/drawingml/2006/main">
              <a:ext uri="{FF2B5EF4-FFF2-40B4-BE49-F238E27FC236}">
                <a16:creationId xmlns:a16="http://schemas.microsoft.com/office/drawing/2014/main" id="{1D126F1B-13D7-4EE0-867D-D97E2274AC2E}"/>
              </a:ext>
            </a:extLst>
          </p:cNvPr>
          <p:cNvSpPr>
            <a:spLocks xmlns:a="http://schemas.openxmlformats.org/drawingml/2006/main" noGrp="1"/>
          </p:cNvSpPr>
          <p:nvPr/>
        </p:nvSpPr>
        <p:spPr>
          <a:xfrm xmlns:a="http://schemas.openxmlformats.org/drawingml/2006/main">
            <a:off x="904875" y="5953125"/>
            <a:ext cx="990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B67714"/>
                </a:solidFill>
                <a:latin typeface="Roboto"/>
                <a:ea typeface="Roboto"/>
                <a:cs typeface="Roboto"/>
              </a:defRPr>
            </a:pPr>
            <a:r>
              <a:rPr sz="1500" b="1">
                <a:solidFill>
                  <a:srgbClr val="B67714"/>
                </a:solidFill>
                <a:latin typeface="Roboto"/>
                <a:ea typeface="Roboto"/>
                <a:cs typeface="Roboto"/>
              </a:rPr>
              <a:t>Kết thúc bằng ranh giới: bonus là feature đã đặc tả, chưa phải demo sản phẩm.</a:t>
            </a:r>
          </a:p>
        </p:txBody>
      </p:sp>
      <p:sp>
        <p:nvSpPr>
          <p:cNvPr id="20" name="">
            <a:extLst xmlns:a="http://schemas.openxmlformats.org/drawingml/2006/main">
              <a:ext uri="{FF2B5EF4-FFF2-40B4-BE49-F238E27FC236}">
                <a16:creationId xmlns:a16="http://schemas.microsoft.com/office/drawing/2014/main" id="{812E5799-DECF-4436-A6ED-B302B05F097D}"/>
              </a:ext>
            </a:extLst>
          </p:cNvPr>
          <p:cNvSpPr>
            <a:spLocks xmlns:a="http://schemas.openxmlformats.org/drawingml/2006/main" noGrp="1"/>
          </p:cNvSpPr>
          <p:nvPr/>
        </p:nvSpPr>
        <p:spPr>
          <a:xfrm xmlns:a="http://schemas.openxmlformats.org/drawingml/2006/main">
            <a:off x="9715500" y="6496050"/>
            <a:ext cx="1809750" cy="171450"/>
          </a:xfrm>
          <a:prstGeom xmlns:a="http://schemas.openxmlformats.org/drawingml/2006/main" prst="rect">
            <a:avLst/>
          </a:prstGeom>
          <a:solidFill xmlns:a="http://schemas.openxmlformats.org/drawingml/2006/main">
            <a:srgbClr val="08656C"/>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750" b="1">
                <a:solidFill>
                  <a:srgbClr val="FFFFFF"/>
                </a:solidFill>
                <a:latin typeface="Roboto"/>
                <a:ea typeface="Roboto"/>
                <a:cs typeface="Roboto"/>
              </a:defRPr>
            </a:pPr>
            <a:r>
              <a:rPr sz="750" b="1">
                <a:solidFill>
                  <a:srgbClr val="FFFFFF"/>
                </a:solidFill>
                <a:latin typeface="Roboto"/>
                <a:ea typeface="Roboto"/>
                <a:cs typeface="Roboto"/>
              </a:rPr>
              <a:t>FUGRADE  /  SDD  /  17</a:t>
            </a:r>
          </a:p>
        </p:txBody>
      </p:sp>
    </p:spTree>
    <p:extLst>
      <p:ext uri="{BB962C8B-B14F-4D97-AF65-F5344CB8AC3E}">
        <p14:creationId xmlns:p14="http://schemas.microsoft.com/office/powerpoint/2010/main" val="200978489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2026-09-11T10:58:00.0040000Z</dcterms:created>
  <dcterms:modified xsi:type="dcterms:W3CDTF">2026-09-11T10:58:00.0040000Z</dcterms:modified>
</coreProperties>
</file>