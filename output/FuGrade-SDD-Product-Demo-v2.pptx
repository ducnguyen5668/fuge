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Má»Ÿ Ä‘áº§u: FuGrade lÃ  case study SDD trong sáº£n pháº©m tháº­t.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nguá»“n sá»± tháº­t: source hiá»‡n táº¡i, hÃ nh vi cháº¡y Ä‘Æ°á»£c, artifact Ä‘Ã£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Lifecycle 5 pha. Má»—i pha tráº£ lá»i 1 cÃ¢u há»i.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thÃ nh pháº§n. LiÃªn há»‡ FuGrade: actors = guest vs authenticated.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EARS example tá»« app/page.tsx: saveSnapshot â†’ sessionStorage â†’ /login.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Pháº§n 2: case study FuGrade Web.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Lint vÃ  build lÃ  baseline ká»¹ thuáº­t, khÃ´ng thay tháº¿ acceptance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quan trá»ng nháº¥t. Bonus: Context APPROVED, Spec váº«n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Guest mode lÃ  quyáº¿t Ä‘á»‹nh sáº£n pháº©m. NÃºt LÆ°u = ranh giá»›i auth.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Compatibility vá»›i FuGrade desktop. CÆ¡ cháº¿ legacy chá»‰ trao Ä‘á»•i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lá»c sinh viÃªn, chá»n cá»™t, nháº¥p Ä‘Ãºp Ã´ Ä‘iá»ƒm.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double-click Ã´ Ä‘iá»ƒm báº¥t ká»³, gÃµ giÃ¡ trá»‹ má»›i, 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gÃµ tÃªn vÃ o search bar, báº£ng thu háº¹p ngay láº­p tá»©c.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dÃ¡n 4 dÃ²ng, 2 há»£p lá»‡, 1 MSSV khÃ´ng tá»“n táº¡i, 1 Ä‘iá»ƒm &gt;10.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KhÃ´ng nháº­p máº­t kháº©u tháº­t khi demo. AES-256-CBC phá»¥c vá»¥ compatibility, khÃ´ng pháº£i báº£o máº­t hiá»‡n Ä‘áº¡i.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KhÃ´ng giáº£i CAPTCHA khi thuyáº¿t trÃ¬nh. Guest = local ops, auth = snapshot persistence.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Rá»§i ro = backlog cáº§n Spec riÃªng. Æ¯u tiÃªn ownership trÆ°á»›c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Náº¿u thá»i gian Ã­t, bá» bÆ°á»›c chá»‰nh Ã´. KhÃ´ng lÆ°u dá»¯ liá»‡u tháº­t trong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FuGrade Web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02920" y="23774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0C8D9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Spec-Driven Development trong sáº£n pháº©m tháº­t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310896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Tá»« á»©ng dá»¥ng desktop legacy Ä‘áº¿n workspace báº£ng Ä‘iá»ƒm trÃªn web,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cÃ³ báº±ng chá»©ng vÃ  ranh giá»›i triá»ƒn khai rÃµ rÃ 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EBF5F6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0" y="1371600"/>
            <a:ext cx="4114800" cy="2926080"/>
          </a:xfrm>
          <a:prstGeom prst="rect">
            <a:avLst/>
          </a:prstGeom>
          <a:solidFill>
            <a:srgbClr val="0C8D96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0" y="137160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Workspace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báº£ng Ä‘iá»ƒm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Node.js 22 Â· Next.js 16 Â· SQLite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Váº¥n Ä‘á» cá»‘t lÃµi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07008"/>
            <a:ext cx="594360" cy="45720"/>
          </a:xfrm>
          <a:prstGeom prst="rect">
            <a:avLst/>
          </a:prstGeom>
          <a:solidFill>
            <a:srgbClr val="0C8D96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417320"/>
            <a:ext cx="11183112" cy="1325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08760"/>
            <a:ext cx="64008" cy="1143000"/>
          </a:xfrm>
          <a:prstGeom prst="rect">
            <a:avLst/>
          </a:prstGeom>
          <a:solidFill>
            <a:srgbClr val="0C8D9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527048"/>
            <a:ext cx="1086307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YÃªu cáº§u nghiá»‡p vá»¥ náº±m ráº£i rÃ¡c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13232" y="1920240"/>
            <a:ext cx="108630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Quy táº¯c .fg, chá»‰nh Ä‘iá»ƒm, import vÃ  lÆ°u snapshot xuáº¥t hiá»‡n á»Ÿ cáº£ desktop legacy láº«n web.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926080"/>
            <a:ext cx="11183112" cy="1325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3017520"/>
            <a:ext cx="64008" cy="1143000"/>
          </a:xfrm>
          <a:prstGeom prst="rect">
            <a:avLst/>
          </a:prstGeom>
          <a:solidFill>
            <a:srgbClr val="0C8D96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3035808"/>
            <a:ext cx="1086307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thiáº¿u ranh giá»›i triá»ƒn khai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" y="3429000"/>
            <a:ext cx="108630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Náº¿u khÃ´ng Ä‘á»c source vÃ  artifact, AI dá»… coi hÃ nh vi dá»± kiáº¿n lÃ  tÃ­nh nÄƒng Ä‘Ã£ hoÃ n thÃ nh.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4434840"/>
            <a:ext cx="11183112" cy="1325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4526280"/>
            <a:ext cx="64008" cy="1143000"/>
          </a:xfrm>
          <a:prstGeom prst="rect">
            <a:avLst/>
          </a:prstGeom>
          <a:solidFill>
            <a:srgbClr val="0C8D96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4544568"/>
            <a:ext cx="1086307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Demo dá»… nÃ³i quÃ¡ hiá»‡n tráº¡ng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13232" y="4937760"/>
            <a:ext cx="108630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áº¢nh sáº£n pháº©m vÃ  evidence pháº£i tÃ¡ch pháº§n Ä‘Ã£ cháº¡y khá»i pháº§n Ä‘ang chá» review.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Spec-Driven Development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07008"/>
            <a:ext cx="594360" cy="45720"/>
          </a:xfrm>
          <a:prstGeom prst="rect">
            <a:avLst/>
          </a:prstGeom>
          <a:solidFill>
            <a:srgbClr val="0C8D9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896112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 lÃ  há»£p Ä‘á»“ng giá»¯a Ã½ Ä‘á»‹nh cá»§a con ngÆ°á»i vÃ  pháº§n triá»ƒn khai cÃ³ thá»ƒ kiá»ƒm chá»©ng.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11183112" cy="566928"/>
          </a:xfrm>
          <a:prstGeom prst="rect">
            <a:avLst/>
          </a:prstGeom>
          <a:solidFill>
            <a:srgbClr val="E8F6F7"/>
          </a:solidFill>
          <a:ln w="12700">
            <a:solidFill>
              <a:srgbClr val="0C8D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89888"/>
            <a:ext cx="1081735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8656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âœ“  Má»™t spec tá»‘t Ä‘á»§ rÃµ Ä‘á»ƒ AI khÃ´ng pháº£i Ä‘oÃ¡n vÃ  Ä‘á»§ ngáº¯n Ä‘á»ƒ con ngÆ°á»i review.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0299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Chu trÃ¬nh 5 pha: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377440"/>
            <a:ext cx="2084832" cy="1417320"/>
          </a:xfrm>
          <a:prstGeom prst="rect">
            <a:avLst/>
          </a:prstGeom>
          <a:solidFill>
            <a:srgbClr val="0C8D9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423160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724912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Context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02920" y="3163824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EEE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XÃ¡c Ä‘á»‹nh váº¥n Ä‘á»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97480" y="2377440"/>
            <a:ext cx="2084832" cy="1417320"/>
          </a:xfrm>
          <a:prstGeom prst="rect">
            <a:avLst/>
          </a:prstGeom>
          <a:solidFill>
            <a:srgbClr val="2BAAB2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2423160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2724912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Spec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697480" y="3163824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EEE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KhÃ³a hÃ nh vi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92040" y="2377440"/>
            <a:ext cx="2084832" cy="1417320"/>
          </a:xfrm>
          <a:prstGeom prst="rect">
            <a:avLst/>
          </a:prstGeom>
          <a:solidFill>
            <a:srgbClr val="2BAAB2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423160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724912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892040" y="3163824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EEE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Giá»›i háº¡n cÃ¡ch sá»­a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86600" y="2377440"/>
            <a:ext cx="2084832" cy="1417320"/>
          </a:xfrm>
          <a:prstGeom prst="rect">
            <a:avLst/>
          </a:prstGeom>
          <a:solidFill>
            <a:srgbClr val="4DC0C8"/>
          </a:solidFill>
          <a:ln/>
        </p:spPr>
      </p:sp>
      <p:sp>
        <p:nvSpPr>
          <p:cNvPr id="21" name="Text 19"/>
          <p:cNvSpPr/>
          <p:nvPr/>
        </p:nvSpPr>
        <p:spPr>
          <a:xfrm>
            <a:off x="7086600" y="2423160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86600" y="2724912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Tasks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086600" y="3163824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EEE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Chi tiáº¿t hÃ³a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281160" y="2377440"/>
            <a:ext cx="2084832" cy="1417320"/>
          </a:xfrm>
          <a:prstGeom prst="rect">
            <a:avLst/>
          </a:prstGeom>
          <a:solidFill>
            <a:srgbClr val="4DC0C8"/>
          </a:solidFill>
          <a:ln/>
        </p:spPr>
      </p:sp>
      <p:sp>
        <p:nvSpPr>
          <p:cNvPr id="25" name="Text 23"/>
          <p:cNvSpPr/>
          <p:nvPr/>
        </p:nvSpPr>
        <p:spPr>
          <a:xfrm>
            <a:off x="9281160" y="2423160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81160" y="2724912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Implement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281160" y="3163824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EEE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Chá»‰ sau review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3977640"/>
            <a:ext cx="11183112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Má»—i pha tráº£ lá»i má»™t cÃ¢u há»i khÃ¡c nhau. Context xÃ¡c Ä‘á»‹nh váº¥n Ä‘á». Spec khÃ³a hÃ nh vi. Plan vÃ  Tasks giá»›i háº¡n cÃ¡ch sá»­a. Implement chá»‰ báº¯t Ä‘áº§u sau review phÃ¹ há»£p.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 thÃ nh pháº§n cá»§a má»™t Spec cÃ³ thá»ƒ kiá»ƒm chá»©ng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07008"/>
            <a:ext cx="594360" cy="45720"/>
          </a:xfrm>
          <a:prstGeom prst="rect">
            <a:avLst/>
          </a:prstGeom>
          <a:solidFill>
            <a:srgbClr val="0C8D9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681478" cy="1325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2681478" cy="54864"/>
          </a:xfrm>
          <a:prstGeom prst="rect">
            <a:avLst/>
          </a:prstGeom>
          <a:solidFill>
            <a:srgbClr val="0C8D96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48132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8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1783080"/>
            <a:ext cx="246202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Bá»‘i cáº£nh &amp; má»¥c tiÃªu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2212848"/>
            <a:ext cx="246202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TÃ­nh nÄƒng giáº£i quyáº¿t váº¥n Ä‘á» nÃ o?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9846" y="1371600"/>
            <a:ext cx="2681478" cy="1325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9846" y="1371600"/>
            <a:ext cx="2681478" cy="54864"/>
          </a:xfrm>
          <a:prstGeom prst="rect">
            <a:avLst/>
          </a:prstGeom>
          <a:solidFill>
            <a:srgbClr val="0C8D96"/>
          </a:solidFill>
          <a:ln/>
        </p:spPr>
      </p:sp>
      <p:sp>
        <p:nvSpPr>
          <p:cNvPr id="11" name="Text 9"/>
          <p:cNvSpPr/>
          <p:nvPr/>
        </p:nvSpPr>
        <p:spPr>
          <a:xfrm>
            <a:off x="3449574" y="148132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8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49574" y="1783080"/>
            <a:ext cx="246202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TÃ¡c nhÃ¢n &amp; quyá»n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49574" y="2212848"/>
            <a:ext cx="246202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thao tÃ¡c vÃ  Ä‘Æ°á»£c phÃ©p lÃ m gÃ¬?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31052" y="1371600"/>
            <a:ext cx="2681478" cy="1325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31052" y="1371600"/>
            <a:ext cx="2681478" cy="54864"/>
          </a:xfrm>
          <a:prstGeom prst="rect">
            <a:avLst/>
          </a:prstGeom>
          <a:solidFill>
            <a:srgbClr val="0C8D96"/>
          </a:solidFill>
          <a:ln/>
        </p:spPr>
      </p:sp>
      <p:sp>
        <p:nvSpPr>
          <p:cNvPr id="16" name="Text 14"/>
          <p:cNvSpPr/>
          <p:nvPr/>
        </p:nvSpPr>
        <p:spPr>
          <a:xfrm>
            <a:off x="6240780" y="148132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8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0780" y="1783080"/>
            <a:ext cx="246202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YÃªu cáº§u chá»©c nÄƒng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40780" y="2212848"/>
            <a:ext cx="246202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Há»‡ thá»‘ng pháº£i lÃ m gÃ¬?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22258" y="1371600"/>
            <a:ext cx="2681478" cy="1325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22258" y="1371600"/>
            <a:ext cx="2681478" cy="54864"/>
          </a:xfrm>
          <a:prstGeom prst="rect">
            <a:avLst/>
          </a:prstGeom>
          <a:solidFill>
            <a:srgbClr val="0C8D96"/>
          </a:solidFill>
          <a:ln/>
        </p:spPr>
      </p:sp>
      <p:sp>
        <p:nvSpPr>
          <p:cNvPr id="21" name="Text 19"/>
          <p:cNvSpPr/>
          <p:nvPr/>
        </p:nvSpPr>
        <p:spPr>
          <a:xfrm>
            <a:off x="9031986" y="148132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8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31986" y="1783080"/>
            <a:ext cx="246202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YÃªu cáº§u phi chá»©c nÄƒng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31986" y="2212848"/>
            <a:ext cx="246202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Má»©c cháº¥t lÆ°á»£ng cáº§n Ä‘áº¡t?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2825496"/>
            <a:ext cx="2681478" cy="1325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2825496"/>
            <a:ext cx="2681478" cy="54864"/>
          </a:xfrm>
          <a:prstGeom prst="rect">
            <a:avLst/>
          </a:prstGeom>
          <a:solidFill>
            <a:srgbClr val="0C8D96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2935224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8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" y="3236976"/>
            <a:ext cx="246202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Dá»¯ liá»‡u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8368" y="3666744"/>
            <a:ext cx="246202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Cáº¥u trÃºc vÃ  vÃ²ng Ä‘á»i dá»¯ liá»‡u?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39846" y="2825496"/>
            <a:ext cx="2681478" cy="1325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39846" y="2825496"/>
            <a:ext cx="2681478" cy="54864"/>
          </a:xfrm>
          <a:prstGeom prst="rect">
            <a:avLst/>
          </a:prstGeom>
          <a:solidFill>
            <a:srgbClr val="0C8D96"/>
          </a:solidFill>
          <a:ln/>
        </p:spPr>
      </p:sp>
      <p:sp>
        <p:nvSpPr>
          <p:cNvPr id="31" name="Text 29"/>
          <p:cNvSpPr/>
          <p:nvPr/>
        </p:nvSpPr>
        <p:spPr>
          <a:xfrm>
            <a:off x="3449574" y="2935224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8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49574" y="3236976"/>
            <a:ext cx="246202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Xá»­ lÃ½ lá»—i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49574" y="3666744"/>
            <a:ext cx="246202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Lá»—i nÃ o xáº£y ra vÃ  pháº£n há»“i tháº¿ nÃ o?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31052" y="2825496"/>
            <a:ext cx="2681478" cy="1325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31052" y="2825496"/>
            <a:ext cx="2681478" cy="54864"/>
          </a:xfrm>
          <a:prstGeom prst="rect">
            <a:avLst/>
          </a:prstGeom>
          <a:solidFill>
            <a:srgbClr val="0C8D96"/>
          </a:solidFill>
          <a:ln/>
        </p:spPr>
      </p:sp>
      <p:sp>
        <p:nvSpPr>
          <p:cNvPr id="36" name="Text 34"/>
          <p:cNvSpPr/>
          <p:nvPr/>
        </p:nvSpPr>
        <p:spPr>
          <a:xfrm>
            <a:off x="6240780" y="2935224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8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40780" y="3236976"/>
            <a:ext cx="246202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TiÃªu chÃ­ cháº¥p nháº­n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240780" y="3666744"/>
            <a:ext cx="246202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Báº±ng chá»©ng nÃ o chá»©ng minh hoÃ n thÃ nh?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922258" y="2825496"/>
            <a:ext cx="2681478" cy="1325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22258" y="2825496"/>
            <a:ext cx="2681478" cy="54864"/>
          </a:xfrm>
          <a:prstGeom prst="rect">
            <a:avLst/>
          </a:prstGeom>
          <a:solidFill>
            <a:srgbClr val="0C8D96"/>
          </a:solidFill>
          <a:ln/>
        </p:spPr>
      </p:sp>
      <p:sp>
        <p:nvSpPr>
          <p:cNvPr id="41" name="Text 39"/>
          <p:cNvSpPr/>
          <p:nvPr/>
        </p:nvSpPr>
        <p:spPr>
          <a:xfrm>
            <a:off x="9031986" y="2935224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C8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031986" y="3236976"/>
            <a:ext cx="246202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NgoÃ i pháº¡m vi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031986" y="3666744"/>
            <a:ext cx="246202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Äiá»u gÃ¬ chÆ°a lÃ m trong phiÃªn báº£n nÃ y?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EARS cho ranh giá»›i lÆ°u snapshot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07008"/>
            <a:ext cx="594360" cy="45720"/>
          </a:xfrm>
          <a:prstGeom prst="rect">
            <a:avLst/>
          </a:prstGeom>
          <a:solidFill>
            <a:srgbClr val="0C8D9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896112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Requirement mÃ´ táº£ Ä‘Ãºng thá»i Ä‘iá»ƒm há»‡ thá»‘ng yÃªu cáº§u Ä‘Äƒng nháº­p.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11183112" cy="2011680"/>
          </a:xfrm>
          <a:prstGeom prst="rect">
            <a:avLst/>
          </a:prstGeom>
          <a:solidFill>
            <a:srgbClr val="1A2B3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1063447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GIVEN  ngÆ°á»i dÃ¹ng Ä‘ang chá»‰nh sá»­a file .fg á»Ÿ cháº¿ Ä‘á»™ khÃ¡ch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  ngÆ°á»i dÃ¹ng báº¥m LÆ°u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  há»‡ thá»‘ng giá»¯ workspace trong sessionStorage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vÃ  chuyá»ƒn Ä‘áº¿n /login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3931920"/>
            <a:ext cx="11183112" cy="594360"/>
          </a:xfrm>
          <a:prstGeom prst="rect">
            <a:avLst/>
          </a:prstGeom>
          <a:solidFill>
            <a:srgbClr val="E8F6F7"/>
          </a:solidFill>
          <a:ln w="12700">
            <a:solidFill>
              <a:srgbClr val="0C8D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4005072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8656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âœ“  ÄÄƒng nháº­p chá»‰ cáº§n khi lÆ°u snapshot. Má»Ÿ, chá»‰nh vÃ  xuáº¥t .fg khÃ´ng yÃªu cáº§u Ä‘Äƒng nháº­p.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EBF5F6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1828800"/>
            <a:ext cx="3657600" cy="2286000"/>
          </a:xfrm>
          <a:prstGeom prst="rect">
            <a:avLst/>
          </a:prstGeom>
          <a:solidFill>
            <a:srgbClr val="0C8D9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8288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FuGrade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Web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120640" y="2194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8D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PHáº¦N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120640" y="260604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FuGrade Web: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hiá»‡n tráº¡ng sáº£n pháº©m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120640" y="40233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Káº¿t luáº­n dá»±a trÃªn source, runtime vÃ  áº£nh chá»¥p giao diá»‡n cháº¡y trÃªn localhost.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Hiá»‡n tráº¡ng Ä‘Æ°á»£c xÃ¡c minh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07008"/>
            <a:ext cx="594360" cy="45720"/>
          </a:xfrm>
          <a:prstGeom prst="rect">
            <a:avLst/>
          </a:prstGeom>
          <a:solidFill>
            <a:srgbClr val="0C8D96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417320"/>
            <a:ext cx="11183112" cy="1115568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09928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C8D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â–¶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15568" y="1618488"/>
            <a:ext cx="1049731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3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Runtime phÃ¹ há»£p: Node.js 22.22.3, Next.js 16.3.2.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2697480"/>
            <a:ext cx="11183112" cy="1115568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90088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C8D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â–¶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15568" y="2898648"/>
            <a:ext cx="1049731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3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Luá»“ng guest hoáº¡t Ä‘á»™ng: má»Ÿ, chá»‰nh, import vÃ  xuáº¥t .fg khÃ´ng cáº§n Ä‘Äƒng nháº­p.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3977640"/>
            <a:ext cx="11183112" cy="1115568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270248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C8D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â–¶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15568" y="4178808"/>
            <a:ext cx="1049731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3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LÆ°u cÃ³ gate Ä‘Äƒng nháº­p: workspace giá»¯ trong sessionStorage trÆ°á»›c khi chuyá»ƒn /login.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6080760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865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npm.cmd run lint  âœ“    npm.cmd run build  âœ“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Pháº¡m vi sáº£n pháº©m Ä‘Ã£ xÃ¡c minh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07008"/>
            <a:ext cx="594360" cy="45720"/>
          </a:xfrm>
          <a:prstGeom prst="rect">
            <a:avLst/>
          </a:prstGeom>
          <a:solidFill>
            <a:srgbClr val="0C8D9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896112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Deck chá»‰ demo hÃ nh vi cÃ³ trong source vÃ  giao diá»‡n Ä‘ang cháº¡y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4475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C8D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ÄÃƒ TRIá»‚N KHAI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Workspace báº£ng Ä‘iá»ƒm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723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â€¢ Má»Ÿ file .fg cÃ³ hoáº·c khÃ´ng cÃ³ máº­t kháº©u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3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â€¢ Chá»‰nh Ä‘iá»ƒm, nháº­n xÃ©t, sinh viÃªn vÃ  thÃ nh pháº§n trong phiÃªn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3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â€¢ Import Ä‘iá»ƒm/nháº­n xÃ©t theo MSSV vá»›i preview validation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3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â€¢ Xuáº¥t .fg cÃ³ máº­t kháº©u vÃ  lÆ°u snapshot sau khi Ä‘Äƒng nháº­p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60720" y="1417320"/>
            <a:ext cx="18288" cy="3840480"/>
          </a:xfrm>
          <a:prstGeom prst="rect">
            <a:avLst/>
          </a:prstGeom>
          <a:solidFill>
            <a:srgbClr val="DDE4EC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0" y="1444752"/>
            <a:ext cx="57607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6771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CHÆ¯A TRIá»‚N KHAI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16916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CÃ¡c háº¡ng má»¥c Ä‘ang chá» quyáº¿t Ä‘á»‹nh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43600" y="2212848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723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â€¢ Quy Ä‘á»•i Ä‘iá»ƒm bonus: Spec váº«n PENDING HUMAN REVIEW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3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â€¢ Database production vÃ  chiáº¿n lÆ°á»£c multi-instance chÆ°a Ä‘Æ°á»£c chá»n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3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â€¢ Project chÆ°a cÃ³ automated test command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3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â€¢ Ownership cho API snapshot cáº§n Ä‘Æ°á»£c Ä‘áº·c táº£ trÆ°á»›c production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5623560"/>
            <a:ext cx="11183112" cy="475488"/>
          </a:xfrm>
          <a:prstGeom prst="rect">
            <a:avLst/>
          </a:prstGeom>
          <a:solidFill>
            <a:srgbClr val="FFF8E8"/>
          </a:solidFill>
          <a:ln w="12700">
            <a:solidFill>
              <a:srgbClr val="B677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687568"/>
            <a:ext cx="1081735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6771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âš   Khi thuyáº¿t trÃ¬nh, bonus lÃ  hÆ°á»›ng phÃ¡t triá»ƒn Ä‘Ã£ Ä‘áº·c táº£, khÃ´ng pháº£i tÃ­nh nÄƒng hiá»‡n cÃ³.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314432" y="6583680"/>
            <a:ext cx="1737360" cy="201168"/>
          </a:xfrm>
          <a:prstGeom prst="rect">
            <a:avLst/>
          </a:prstGeom>
          <a:solidFill>
            <a:srgbClr val="08656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FUGRADE  /  SDD  /  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Äiá»ƒm vÃ o cá»§a guest workspace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07008"/>
            <a:ext cx="594360" cy="45720"/>
          </a:xfrm>
          <a:prstGeom prst="rect">
            <a:avLst/>
          </a:prstGeom>
          <a:solidFill>
            <a:srgbClr val="0C8D9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896112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NgÆ°á»i dÃ¹ng cÃ³ thá»ƒ báº¯t Ä‘áº§u mÃ  chÆ°a cáº§n táº¡o tÃ i khoáº£n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353312"/>
            <a:ext cx="6858000" cy="493776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44752"/>
            <a:ext cx="6675120" cy="4754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0" y="150876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C8D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GIÃ TRá»Š Sáº¢N PHáº¨M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58952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Báº¯t Ä‘áº§u nhanh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589520" y="233172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Má»Ÿ vÃ  chá»‰nh sá»­a báº£ng Ä‘iá»ƒm ngay trong trÃ¬nh duyá»‡t. ÄÄƒng nháº­p chá»‰ xuáº¥t hiá»‡n khi ngÆ°á»i dÃ¹ng muá»‘n lÆ°u snapshot vÃ o SQLite.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589520" y="4279392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723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â€¢ Chá»‰nh Ä‘iá»ƒm nhanh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723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â€¢ Import hÃ ng loáº¡t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723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â€¢ Xuáº¥t cÃ³ máº­t kháº©u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589520" y="60533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áº¢nh chá»¥p tá»« localhost, dá»¯ liá»‡u demo tá»•ng há»£p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314432" y="6583680"/>
            <a:ext cx="1737360" cy="201168"/>
          </a:xfrm>
          <a:prstGeom prst="rect">
            <a:avLst/>
          </a:prstGeom>
          <a:solidFill>
            <a:srgbClr val="08656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FUGRADE  /  SDD  /  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Má»Ÿ file .fg cÃ³ máº­t kháº©u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07008"/>
            <a:ext cx="594360" cy="45720"/>
          </a:xfrm>
          <a:prstGeom prst="rect">
            <a:avLst/>
          </a:prstGeom>
          <a:solidFill>
            <a:srgbClr val="0C8D9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896112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á»¨ng dá»¥ng chá»‰ yÃªu cáº§u máº­t kháº©u sau khi phÃ¡t hiá»‡n payload Ä‘Æ°á»£c báº£o vá»‡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353312"/>
            <a:ext cx="7132320" cy="493776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44752"/>
            <a:ext cx="6949440" cy="4754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18120" y="162763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C8D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HÃ€NH VI ÄÃƒ CHáº 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818120" y="1938528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723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â€¢ Giá»›i háº¡n kÃ­ch thÆ°á»›c file á»Ÿ 10 MB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3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â€¢ PhÃ¢n biá»‡t thiáº¿u máº­t kháº©u vÃ  máº­t kháº©u khÃ´ng Ä‘Ãºng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3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â€¢ Tráº£ dá»¯ liá»‡u Ä‘Ã£ parse vá» guest workspace sau khi xÃ¡c minh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818120" y="48920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Compatibility giá»¯ AES-256-CBC vÃ  MD5 theo Ä‘á»‹nh dáº¡ng legacy.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314432" y="6583680"/>
            <a:ext cx="1737360" cy="201168"/>
          </a:xfrm>
          <a:prstGeom prst="rect">
            <a:avLst/>
          </a:prstGeom>
          <a:solidFill>
            <a:srgbClr val="08656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FUGRADE  /  SDD  / 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Workspace chá»‰nh sá»­a báº£ng Ä‘iá»ƒm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07008"/>
            <a:ext cx="594360" cy="45720"/>
          </a:xfrm>
          <a:prstGeom prst="rect">
            <a:avLst/>
          </a:prstGeom>
          <a:solidFill>
            <a:srgbClr val="0C8D9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896112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Má»™t mÃ n hÃ¬nh táº­p trung cho metadata, cá»™t Ä‘iá»ƒm, tÃ¬m kiáº¿m vÃ  thao tÃ¡c nhanh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7955280" cy="493776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44752"/>
            <a:ext cx="7772400" cy="4754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49640" y="1554480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C8D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WORKSPACE TRONG PHIÃŠN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549640" y="182880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Chá»‰nh trá»±c tiáº¿p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549640" y="22860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Nháº¥p Ä‘Ãºp Ã´ Ä‘iá»ƒm hoáº·c nháº­n xÃ©t Ä‘á»ƒ sá»­a. Enter lÆ°u, Esc há»§y.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549640" y="347472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Giá»¯ tráº¡ng thÃ¡i cá»¥c bá»™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549640" y="393192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Workspace náº±m trong sessionStorage cá»§a tab cho tá»›i khi ngÆ°á»i dÃ¹ng chá»n LÆ°u.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314432" y="6583680"/>
            <a:ext cx="1737360" cy="201168"/>
          </a:xfrm>
          <a:prstGeom prst="rect">
            <a:avLst/>
          </a:prstGeom>
          <a:solidFill>
            <a:srgbClr val="08656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FUGRADE  /  SDD  / 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Chá»‰nh Ä‘iá»ƒm inline â€” nháº¥p Ä‘Ãºp vÃ o Ã´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07008"/>
            <a:ext cx="594360" cy="45720"/>
          </a:xfrm>
          <a:prstGeom prst="rect">
            <a:avLst/>
          </a:prstGeom>
          <a:solidFill>
            <a:srgbClr val="0C8D9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896112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Ã” Ä‘iá»ƒm chuyá»ƒn sang input mode mÃ  khÃ´ng cáº§n rá»i khá»i báº£ng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7955280" cy="493776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44752"/>
            <a:ext cx="7772400" cy="4754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49640" y="1554480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C8D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UX ÄIá»‚M Ná»”I Báº¬T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549640" y="1920240"/>
            <a:ext cx="3154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723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â€¢ Nháº¥p Ä‘Ãºp Ä‘á»ƒ sá»­a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3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â€¢ Enter Ä‘á»ƒ lÆ°u giÃ¡ trá»‹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3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â€¢ Esc Ä‘á»ƒ há»§y thao tÃ¡c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3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â€¢ Tab Ä‘á»ƒ qua Ã´ káº¿ tiáº¿p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49640" y="457200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Tráº¡ng thÃ¡i chá»‰nh sá»­a Ä‘Æ°á»£c giá»¯ trong sessionStorage.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314432" y="6583680"/>
            <a:ext cx="1737360" cy="201168"/>
          </a:xfrm>
          <a:prstGeom prst="rect">
            <a:avLst/>
          </a:prstGeom>
          <a:solidFill>
            <a:srgbClr val="08656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FUGRADE  /  SDD  / 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TÃ¬m kiáº¿m sinh viÃªn theo MSSV hoáº·c tÃªn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07008"/>
            <a:ext cx="594360" cy="45720"/>
          </a:xfrm>
          <a:prstGeom prst="rect">
            <a:avLst/>
          </a:prstGeom>
          <a:solidFill>
            <a:srgbClr val="0C8D9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896112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Lá»c danh sÃ¡ch realtime â€” khÃ´ng cáº§n táº£i láº¡i trang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7955280" cy="493776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44752"/>
            <a:ext cx="7772400" cy="4754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49640" y="1554480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C8D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TÃNH NÄ‚NG Lá»ŒC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549640" y="1920240"/>
            <a:ext cx="3154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723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â€¢ Nháº­p MSSV hoáº·c há» tÃªn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3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â€¢ Káº¿t quáº£ cáº­p nháº­t realtime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3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â€¢ LÃ m ná»•i báº­t sinh viÃªn cáº§n tÃ¬m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3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â€¢ Hoáº¡t Ä‘á»™ng song song vá»›i inline edit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49640" y="589788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áº¢nh: tÃ¬m "Phong" â†’ lá»c cÃ²n 1 sinh viÃªn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314432" y="6583680"/>
            <a:ext cx="1737360" cy="201168"/>
          </a:xfrm>
          <a:prstGeom prst="rect">
            <a:avLst/>
          </a:prstGeom>
          <a:solidFill>
            <a:srgbClr val="08656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FUGRADE  /  SDD  / 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Import hÃ ng loáº¡t cÃ³ preview validation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07008"/>
            <a:ext cx="594360" cy="45720"/>
          </a:xfrm>
          <a:prstGeom prst="rect">
            <a:avLst/>
          </a:prstGeom>
          <a:solidFill>
            <a:srgbClr val="0C8D9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896112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DÃ²ng há»£p lá»‡ vÃ  dÃ²ng lá»—i Ä‘Æ°á»£c tÃ¡ch trÆ°á»›c khi Ã¡p dá»¥ng vÃ o workspace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353312"/>
            <a:ext cx="7223760" cy="493776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44752"/>
            <a:ext cx="7040880" cy="4754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55280" y="16002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C8D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ÄIá»‚M Ná»”I Báº¬T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955280" y="1938528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723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â€¢ DÃ¡n dá»¯ liá»‡u trá»±c tiáº¿p tá»« Excel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3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â€¢ Khá»›p sinh viÃªn theo MSSV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3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â€¢ Tá»« chá»‘i Ä‘iá»ƒm ngoÃ i khoáº£ng 0â€“10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3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â€¢ Chá»‰ Ã¡p dá»¥ng cÃ¡c dÃ²ng há»£p lá»‡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955280" y="48920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Preview giÃºp tháº¥y validation trÆ°á»›c mutation.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314432" y="6583680"/>
            <a:ext cx="1737360" cy="201168"/>
          </a:xfrm>
          <a:prstGeom prst="rect">
            <a:avLst/>
          </a:prstGeom>
          <a:solidFill>
            <a:srgbClr val="08656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FUGRADE  /  SDD  /  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Xuáº¥t .fg tÆ°Æ¡ng thÃ­ch FuGrade desktop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07008"/>
            <a:ext cx="594360" cy="45720"/>
          </a:xfrm>
          <a:prstGeom prst="rect">
            <a:avLst/>
          </a:prstGeom>
          <a:solidFill>
            <a:srgbClr val="0C8D9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896112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NgÆ°á»i dÃ¹ng Ä‘áº·t máº­t kháº©u má»›i trÆ°á»›c khi táº£i file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353312"/>
            <a:ext cx="7223760" cy="493776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44752"/>
            <a:ext cx="7040880" cy="4754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55280" y="16002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C8D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RANH GIá»šI Ká»¸ THUáº¬T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955280" y="19385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TÃªn file Ä‘Æ°á»£c chuáº©n hÃ³a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955280" y="2395728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Server táº¡o payload mÃ£ hÃ³a vÃ  tráº£ vá» file táº£i xuá»‘ng vá»›i Cache-Control no-store.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955280" y="34930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Máº­t kháº©u vÃ  xÃ¡c nháº­n pháº£i khá»›p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955280" y="3950208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UI khÃ´ng cho xuáº¥t khi trÆ°á»ng máº­t kháº©u trá»‘ng hoáº·c hai giÃ¡ trá»‹ khÃ¡c nhau.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314432" y="6583680"/>
            <a:ext cx="1737360" cy="201168"/>
          </a:xfrm>
          <a:prstGeom prst="rect">
            <a:avLst/>
          </a:prstGeom>
          <a:solidFill>
            <a:srgbClr val="08656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FUGRADE  /  SDD  /  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ÄÄƒng nháº­p táº¡i thá»i Ä‘iá»ƒm lÆ°u snapshot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07008"/>
            <a:ext cx="594360" cy="45720"/>
          </a:xfrm>
          <a:prstGeom prst="rect">
            <a:avLst/>
          </a:prstGeom>
          <a:solidFill>
            <a:srgbClr val="0C8D9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896112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Credentials, Google vÃ  CAPTCHA cÃ¹ng tá»“n táº¡i trong Auth.js flow hiá»‡n táº¡i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353312"/>
            <a:ext cx="7223760" cy="4937760"/>
          </a:xfrm>
          <a:prstGeom prst="rect">
            <a:avLst/>
          </a:prstGeom>
          <a:solidFill>
            <a:srgbClr val="F4F7FB"/>
          </a:solidFill>
          <a:ln w="12700">
            <a:solidFill>
              <a:srgbClr val="DDE4E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44752"/>
            <a:ext cx="7040880" cy="4754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55280" y="16002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C8D9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LUá»’NG LÆ¯U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955280" y="1938528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723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â€¢ CAPTCHA gá»“m 5 kÃ½ tá»± Ä‘Æ°á»£c xÃ¡c minh á»Ÿ server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3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â€¢ Credentials dÃ¹ng bcrypt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3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â€¢ Google OAuth chá»‰ báº­t khi cÃ³ cáº¥u hÃ¬nh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3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â€¢ Workspace guest Ä‘Æ°á»£c giá»¯ trÆ°á»›c khi chuyá»ƒn trang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955280" y="4956048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8656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KhÃ´ng cáº§n Ä‘Äƒng nháº­p Ä‘á»ƒ má»Ÿ, chá»‰nh hoáº·c xuáº¥t .fg.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314432" y="6583680"/>
            <a:ext cx="1737360" cy="201168"/>
          </a:xfrm>
          <a:prstGeom prst="rect">
            <a:avLst/>
          </a:prstGeom>
          <a:solidFill>
            <a:srgbClr val="08656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FUGRADE  /  SDD  /  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Rá»§i ro ká»¹ thuáº­t cÃ²n láº¡i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07008"/>
            <a:ext cx="594360" cy="45720"/>
          </a:xfrm>
          <a:prstGeom prst="rect">
            <a:avLst/>
          </a:prstGeom>
          <a:solidFill>
            <a:srgbClr val="0C8D9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896112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CÃ¡c giá»›i háº¡n nÃ y áº£nh hÆ°á»Ÿng trá»±c tiáº¿p tá»›i káº¿ hoáº¡ch production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C8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143000" y="1527048"/>
            <a:ext cx="18288" cy="347472"/>
          </a:xfrm>
          <a:prstGeom prst="rect">
            <a:avLst/>
          </a:prstGeom>
          <a:solidFill>
            <a:srgbClr val="DDE4EC"/>
          </a:solidFill>
          <a:ln/>
        </p:spPr>
      </p:sp>
      <p:sp>
        <p:nvSpPr>
          <p:cNvPr id="7" name="Text 5"/>
          <p:cNvSpPr/>
          <p:nvPr/>
        </p:nvSpPr>
        <p:spPr>
          <a:xfrm>
            <a:off x="1298448" y="14173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Ownership API snapshot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663440" y="1453896"/>
            <a:ext cx="702259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GET, DELETE vÃ  má»™t sá»‘ mutation má»›i kiá»ƒm tra session, chÆ°a lá»c dá»¯ liá»‡u theo userId.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221992"/>
            <a:ext cx="11183112" cy="9144"/>
          </a:xfrm>
          <a:prstGeom prst="rect">
            <a:avLst/>
          </a:prstGeom>
          <a:solidFill>
            <a:srgbClr val="DDE4EC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46888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C8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143000" y="2578608"/>
            <a:ext cx="18288" cy="347472"/>
          </a:xfrm>
          <a:prstGeom prst="rect">
            <a:avLst/>
          </a:prstGeom>
          <a:solidFill>
            <a:srgbClr val="DDE4EC"/>
          </a:solidFill>
          <a:ln/>
        </p:spPr>
      </p:sp>
      <p:sp>
        <p:nvSpPr>
          <p:cNvPr id="12" name="Text 10"/>
          <p:cNvSpPr/>
          <p:nvPr/>
        </p:nvSpPr>
        <p:spPr>
          <a:xfrm>
            <a:off x="1298448" y="24688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Persistence production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63440" y="2505456"/>
            <a:ext cx="702259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SQLite cá»¥c bá»™ chÆ°a phÃ¹ há»£p vá»›i deployment serverless hoáº·c nhiá»u instance.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273552"/>
            <a:ext cx="11183112" cy="9144"/>
          </a:xfrm>
          <a:prstGeom prst="rect">
            <a:avLst/>
          </a:prstGeom>
          <a:solidFill>
            <a:srgbClr val="DDE4EC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52044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C8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143000" y="3630168"/>
            <a:ext cx="18288" cy="347472"/>
          </a:xfrm>
          <a:prstGeom prst="rect">
            <a:avLst/>
          </a:prstGeom>
          <a:solidFill>
            <a:srgbClr val="DDE4EC"/>
          </a:solidFill>
          <a:ln/>
        </p:spPr>
      </p:sp>
      <p:sp>
        <p:nvSpPr>
          <p:cNvPr id="17" name="Text 15"/>
          <p:cNvSpPr/>
          <p:nvPr/>
        </p:nvSpPr>
        <p:spPr>
          <a:xfrm>
            <a:off x="1298448" y="35204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Automated tests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663440" y="3557016"/>
            <a:ext cx="702259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package.json chÆ°a cÃ³ test script nÃªn chÆ°a thá»ƒ tuyÃªn bá»‘ coverage hoáº·c regression suite.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4325112"/>
            <a:ext cx="11183112" cy="9144"/>
          </a:xfrm>
          <a:prstGeom prst="rect">
            <a:avLst/>
          </a:prstGeom>
          <a:solidFill>
            <a:srgbClr val="DDE4EC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572000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C8D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143000" y="4681728"/>
            <a:ext cx="18288" cy="347472"/>
          </a:xfrm>
          <a:prstGeom prst="rect">
            <a:avLst/>
          </a:prstGeom>
          <a:solidFill>
            <a:srgbClr val="DDE4EC"/>
          </a:solidFill>
          <a:ln/>
        </p:spPr>
      </p:sp>
      <p:sp>
        <p:nvSpPr>
          <p:cNvPr id="22" name="Text 20"/>
          <p:cNvSpPr/>
          <p:nvPr/>
        </p:nvSpPr>
        <p:spPr>
          <a:xfrm>
            <a:off x="1298448" y="45720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Bonus grade conversion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4663440" y="4608576"/>
            <a:ext cx="702259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Context Ä‘Ã£ APPROVED nhÆ°ng Spec vÃ  Architecture Profile váº«n chá» Human Final Review.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314432" y="6583680"/>
            <a:ext cx="1737360" cy="201168"/>
          </a:xfrm>
          <a:prstGeom prst="rect">
            <a:avLst/>
          </a:prstGeom>
          <a:solidFill>
            <a:srgbClr val="08656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FUGRADE  /  SDD  /  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Ká»‹ch báº£n demo 5 phÃºt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07008"/>
            <a:ext cx="594360" cy="45720"/>
          </a:xfrm>
          <a:prstGeom prst="rect">
            <a:avLst/>
          </a:prstGeom>
          <a:solidFill>
            <a:srgbClr val="0C8D9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896112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Má»™t luá»“ng ngáº¯n Ä‘á»§ cho ngÆ°á»i xem hiá»ƒu giÃ¡ trá»‹ sáº£n pháº©m vÃ  cÃ¡ch SDD giá»¯ claim chÃ­nh xÃ¡c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426464"/>
            <a:ext cx="594360" cy="594360"/>
          </a:xfrm>
          <a:prstGeom prst="rect">
            <a:avLst/>
          </a:prstGeom>
          <a:solidFill>
            <a:srgbClr val="0C8D9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2646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98448" y="137160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Báº¯t Ä‘áº§u á»Ÿ guest workspace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349240" y="1417320"/>
            <a:ext cx="63367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Giá»›i thiá»‡u má»¥c tiÃªu vÃ  má»Ÿ file demo cÃ³ máº­t kháº©u.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121408"/>
            <a:ext cx="11183112" cy="9144"/>
          </a:xfrm>
          <a:prstGeom prst="rect">
            <a:avLst/>
          </a:prstGeom>
          <a:solidFill>
            <a:srgbClr val="DDE4EC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295144"/>
            <a:ext cx="594360" cy="594360"/>
          </a:xfrm>
          <a:prstGeom prst="rect">
            <a:avLst/>
          </a:prstGeom>
          <a:solidFill>
            <a:srgbClr val="0C8D9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9514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98448" y="224028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Chá»‰nh báº£ng Ä‘iá»ƒm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49240" y="2286000"/>
            <a:ext cx="63367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TÃ¬m sinh viÃªn, chá»n cá»™t vÃ  sá»­a má»™t Ã´ báº±ng nháº¥p Ä‘Ãºp.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2990088"/>
            <a:ext cx="11183112" cy="9144"/>
          </a:xfrm>
          <a:prstGeom prst="rect">
            <a:avLst/>
          </a:prstGeom>
          <a:solidFill>
            <a:srgbClr val="DDE4EC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3163824"/>
            <a:ext cx="594360" cy="594360"/>
          </a:xfrm>
          <a:prstGeom prst="rect">
            <a:avLst/>
          </a:prstGeom>
          <a:solidFill>
            <a:srgbClr val="0C8D96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16382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98448" y="310896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Preview import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49240" y="3154680"/>
            <a:ext cx="63367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DÃ¡n dá»¯ liá»‡u cÃ³ cáº£ dÃ²ng há»£p lá»‡ vÃ  lá»—i, chÆ°a cáº§n Ã¡p dá»¥ng.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3858768"/>
            <a:ext cx="11183112" cy="9144"/>
          </a:xfrm>
          <a:prstGeom prst="rect">
            <a:avLst/>
          </a:prstGeom>
          <a:solidFill>
            <a:srgbClr val="DDE4EC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4032504"/>
            <a:ext cx="594360" cy="594360"/>
          </a:xfrm>
          <a:prstGeom prst="rect">
            <a:avLst/>
          </a:prstGeom>
          <a:solidFill>
            <a:srgbClr val="0C8D96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03250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98448" y="397764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Xuáº¥t .fg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49240" y="4023360"/>
            <a:ext cx="63367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Má»Ÿ há»™p thoáº¡i máº­t kháº©u vÃ  nÃªu compatibility vá»›i desktop.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02920" y="4727448"/>
            <a:ext cx="11183112" cy="9144"/>
          </a:xfrm>
          <a:prstGeom prst="rect">
            <a:avLst/>
          </a:prstGeom>
          <a:solidFill>
            <a:srgbClr val="DDE4EC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" y="4901184"/>
            <a:ext cx="594360" cy="594360"/>
          </a:xfrm>
          <a:prstGeom prst="rect">
            <a:avLst/>
          </a:prstGeom>
          <a:solidFill>
            <a:srgbClr val="0C8D96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90118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98448" y="484632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23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LÆ°u snapshot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49240" y="4892040"/>
            <a:ext cx="633679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F6B7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Báº¥m LÆ°u Ä‘á»ƒ chá»‰ ra gate Ä‘Äƒng nháº­p vÃ  CAPTCHA.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02920" y="5870448"/>
            <a:ext cx="11183112" cy="438912"/>
          </a:xfrm>
          <a:prstGeom prst="rect">
            <a:avLst/>
          </a:prstGeom>
          <a:solidFill>
            <a:srgbClr val="FFF8E8"/>
          </a:solidFill>
          <a:ln w="12700">
            <a:solidFill>
              <a:srgbClr val="B6771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934456"/>
            <a:ext cx="1081735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6771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âš   Káº¿t thÃºc báº±ng ranh giá»›i: bonus lÃ  feature Ä‘Ã£ Ä‘áº·c táº£, chÆ°a pháº£i demo sáº£n pháº©m.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314432" y="6583680"/>
            <a:ext cx="1737360" cy="201168"/>
          </a:xfrm>
          <a:prstGeom prst="rect">
            <a:avLst/>
          </a:prstGeom>
          <a:solidFill>
            <a:srgbClr val="08656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FUGRADE  /  SDD  /  18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FuGrade Web: SDD Product Demo</dc:title>
  <dc:subject>PptxGenJS Presentation</dc:subject>
  <dc:creator>PptxGenJS</dc:creator>
  <cp:lastModifiedBy>PptxGenJS</cp:lastModifiedBy>
  <cp:revision>1</cp:revision>
  <dcterms:created xsi:type="dcterms:W3CDTF">2026-09-11T06:00:43Z</dcterms:created>
  <dcterms:modified xsi:type="dcterms:W3CDTF">2026-09-11T06:00:43Z</dcterms:modified>
</cp:coreProperties>
</file>